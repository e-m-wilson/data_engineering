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2" r:id="rId29"/>
    <p:sldId id="290" r:id="rId30"/>
    <p:sldId id="289" r:id="rId31"/>
    <p:sldId id="291" r:id="rId32"/>
    <p:sldId id="293" r:id="rId33"/>
    <p:sldId id="294" r:id="rId34"/>
    <p:sldId id="295" r:id="rId35"/>
    <p:sldId id="296" r:id="rId36"/>
    <p:sldId id="297" r:id="rId37"/>
    <p:sldId id="299" r:id="rId38"/>
    <p:sldId id="300" r:id="rId39"/>
    <p:sldId id="298" r:id="rId40"/>
    <p:sldId id="26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0456" autoAdjust="0"/>
  </p:normalViewPr>
  <p:slideViewPr>
    <p:cSldViewPr snapToGrid="0">
      <p:cViewPr varScale="1">
        <p:scale>
          <a:sx n="96" d="100"/>
          <a:sy n="96" d="100"/>
        </p:scale>
        <p:origin x="7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F28D-D7E5-94FB-9CC2-B7249703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power BI?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482A-0F3D-F840-F60A-066E1011F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220" y="1856520"/>
            <a:ext cx="9229560" cy="46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7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F34A-1DEA-C6BC-EF49-BFB51D34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vs power bi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9A9D14-5E68-174F-5E52-4F3B010DA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346" y="1901933"/>
            <a:ext cx="9615307" cy="476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8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BB92-EACC-2D8E-9271-4D2C3C94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desktop vs power bi service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13AC8C-B05D-08D1-7A79-D2A287D94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2569141"/>
              </p:ext>
            </p:extLst>
          </p:nvPr>
        </p:nvGraphicFramePr>
        <p:xfrm>
          <a:off x="2481275" y="1825917"/>
          <a:ext cx="9453426" cy="5032083"/>
        </p:xfrm>
        <a:graphic>
          <a:graphicData uri="http://schemas.openxmlformats.org/drawingml/2006/table">
            <a:tbl>
              <a:tblPr/>
              <a:tblGrid>
                <a:gridCol w="3151142">
                  <a:extLst>
                    <a:ext uri="{9D8B030D-6E8A-4147-A177-3AD203B41FA5}">
                      <a16:colId xmlns:a16="http://schemas.microsoft.com/office/drawing/2014/main" val="3825827838"/>
                    </a:ext>
                  </a:extLst>
                </a:gridCol>
                <a:gridCol w="3151142">
                  <a:extLst>
                    <a:ext uri="{9D8B030D-6E8A-4147-A177-3AD203B41FA5}">
                      <a16:colId xmlns:a16="http://schemas.microsoft.com/office/drawing/2014/main" val="767760379"/>
                    </a:ext>
                  </a:extLst>
                </a:gridCol>
                <a:gridCol w="3151142">
                  <a:extLst>
                    <a:ext uri="{9D8B030D-6E8A-4147-A177-3AD203B41FA5}">
                      <a16:colId xmlns:a16="http://schemas.microsoft.com/office/drawing/2014/main" val="3835551519"/>
                    </a:ext>
                  </a:extLst>
                </a:gridCol>
              </a:tblGrid>
              <a:tr h="24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Feature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Power BI Desktop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Power BI Service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099565"/>
                  </a:ext>
                </a:extLst>
              </a:tr>
              <a:tr h="24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Platform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Windows desktop application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Cloud-based web application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447993"/>
                  </a:ext>
                </a:extLst>
              </a:tr>
              <a:tr h="37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Primary Purpose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Build and design reports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Share, view, and collaborate on reports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33537"/>
                  </a:ext>
                </a:extLst>
              </a:tr>
              <a:tr h="44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Data Connection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Connect to multiple data sources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Uses published datasets or connects to cloud data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096383"/>
                  </a:ext>
                </a:extLst>
              </a:tr>
              <a:tr h="24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Data Transformation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Full support using Power Query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Limited transformation capabilities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010570"/>
                  </a:ext>
                </a:extLst>
              </a:tr>
              <a:tr h="44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Data Modeling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 relationships, measures (DAX), and calculated columns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Limited modeling capabilities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180549"/>
                  </a:ext>
                </a:extLst>
              </a:tr>
              <a:tr h="24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Report Creation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Basic editing only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21306"/>
                  </a:ext>
                </a:extLst>
              </a:tr>
              <a:tr h="24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Dashboard Creation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06671"/>
                  </a:ext>
                </a:extLst>
              </a:tr>
              <a:tr h="24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Publishing Reports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Publish to Power BI Service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Manage published reports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563276"/>
                  </a:ext>
                </a:extLst>
              </a:tr>
              <a:tr h="37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Sharing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Cannot directly share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Share dashboards and reports with users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28608"/>
                  </a:ext>
                </a:extLst>
              </a:tr>
              <a:tr h="44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Collaboration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 available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Workspaces, comments, apps, and collaboration features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742733"/>
                  </a:ext>
                </a:extLst>
              </a:tr>
              <a:tr h="44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Scheduled Refresh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Manual refresh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Automatic scheduled refresh (with gateway if needed)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562569"/>
                  </a:ext>
                </a:extLst>
              </a:tr>
              <a:tr h="44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AI Features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Basic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Advanced AI features (depending on license)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580300"/>
                  </a:ext>
                </a:extLst>
              </a:tr>
              <a:tr h="37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License</a:t>
                      </a:r>
                      <a:endParaRPr lang="en-US" sz="1400"/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Free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Free, Pro, and Premium licenses available</a:t>
                      </a:r>
                    </a:p>
                  </a:txBody>
                  <a:tcPr marL="45978" marR="45978" marT="22989" marB="229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7329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26280E-8E7B-DDBD-416B-C32318E083F2}"/>
              </a:ext>
            </a:extLst>
          </p:cNvPr>
          <p:cNvSpPr txBox="1"/>
          <p:nvPr/>
        </p:nvSpPr>
        <p:spPr>
          <a:xfrm>
            <a:off x="257299" y="2205773"/>
            <a:ext cx="18143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most organizations, developers use </a:t>
            </a:r>
            <a:r>
              <a:rPr lang="en-US" b="1" dirty="0"/>
              <a:t>Power BI Desktop</a:t>
            </a:r>
            <a:r>
              <a:rPr lang="en-US" dirty="0"/>
              <a:t> to build reports and then publish them to </a:t>
            </a:r>
            <a:r>
              <a:rPr lang="en-US" b="1" dirty="0"/>
              <a:t>Power BI Service</a:t>
            </a:r>
            <a:r>
              <a:rPr lang="en-US" dirty="0"/>
              <a:t>, where end users access and interact with the reports.</a:t>
            </a:r>
          </a:p>
        </p:txBody>
      </p:sp>
    </p:spTree>
    <p:extLst>
      <p:ext uri="{BB962C8B-B14F-4D97-AF65-F5344CB8AC3E}">
        <p14:creationId xmlns:p14="http://schemas.microsoft.com/office/powerpoint/2010/main" val="143086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6624-2522-B463-3348-70C35B8F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power bi desktop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325A4F-A57A-F619-65E5-E9D6D0629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615" y="1889646"/>
            <a:ext cx="10404770" cy="481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6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2B31-D173-30DC-948A-6188D94D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vs back-end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A9F18-275F-ADBE-D84B-196DFD94C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967" y="1977981"/>
            <a:ext cx="10138065" cy="472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7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3B3B-A0C1-2382-FC3E-65D24ED9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connectors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D65844-09DC-3517-7846-003F56819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523" y="1901366"/>
            <a:ext cx="10762953" cy="445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4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B3F2-BB6A-798A-FBCD-B9588598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editor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E1734-9C97-ABD8-958D-CFE48477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358" y="1901527"/>
            <a:ext cx="9807284" cy="495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6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0287-3380-2E4C-1046-41992A96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Editing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F1506-F12C-55D1-4AA7-0A731C8F3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0230" y="1923635"/>
            <a:ext cx="9571539" cy="46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2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6D91-D452-AF36-7C8B-E78F5258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table transformations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CE2B2F-D188-B791-B17E-DB789D39C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059" y="1923803"/>
            <a:ext cx="10135882" cy="475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31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60AC-FD16-D5EC-7562-6CBC10A6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8E1A-F1AB-5569-4653-186A699D0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load 2 csv files: Territory Lookup &amp; Product Lookup</a:t>
            </a:r>
          </a:p>
          <a:p>
            <a:r>
              <a:rPr lang="en-US" dirty="0"/>
              <a:t>In product lookup let’s:</a:t>
            </a:r>
          </a:p>
          <a:p>
            <a:pPr lvl="1"/>
            <a:r>
              <a:rPr lang="en-US" dirty="0"/>
              <a:t>Note the column data types</a:t>
            </a:r>
          </a:p>
          <a:p>
            <a:pPr lvl="1"/>
            <a:r>
              <a:rPr lang="en-US" dirty="0"/>
              <a:t>Remove the product size column</a:t>
            </a:r>
          </a:p>
          <a:p>
            <a:pPr lvl="1"/>
            <a:r>
              <a:rPr lang="en-US" dirty="0"/>
              <a:t>Change the data type of </a:t>
            </a:r>
            <a:r>
              <a:rPr lang="en-US" dirty="0" err="1"/>
              <a:t>ProductCost</a:t>
            </a:r>
            <a:r>
              <a:rPr lang="en-US" dirty="0"/>
              <a:t> and </a:t>
            </a:r>
            <a:r>
              <a:rPr lang="en-US" dirty="0" err="1"/>
              <a:t>ProductPrice</a:t>
            </a:r>
            <a:r>
              <a:rPr lang="en-US" dirty="0"/>
              <a:t> to Fixed Decimal Number (currency)</a:t>
            </a:r>
          </a:p>
          <a:p>
            <a:pPr lvl="1"/>
            <a:r>
              <a:rPr lang="en-US" dirty="0"/>
              <a:t>View our tables in our data model UI </a:t>
            </a:r>
          </a:p>
        </p:txBody>
      </p:sp>
    </p:spTree>
    <p:extLst>
      <p:ext uri="{BB962C8B-B14F-4D97-AF65-F5344CB8AC3E}">
        <p14:creationId xmlns:p14="http://schemas.microsoft.com/office/powerpoint/2010/main" val="76865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D9A93-B0C7-5159-BA31-7B1B2E04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BD463E-123E-B135-9E18-12A6631E4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5620" y="2101387"/>
            <a:ext cx="5920759" cy="467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8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AE23-F25F-28BE-3EE4-9D9345CF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&amp; connection modes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C4773-41B5-DBCB-CB50-0713AE16D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57" y="1995054"/>
            <a:ext cx="10864885" cy="445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37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11B9-7AC6-1BEC-BC1C-C6754A5B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power bi data model?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DB5E12-C0CF-CD5D-9802-5AF028B64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791" y="2032762"/>
            <a:ext cx="9714417" cy="463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7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926E-A694-7130-B6E4-D52B2E72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power bi data model?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07483-45DF-48EE-BB75-8884BA49F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004" y="1929854"/>
            <a:ext cx="10087991" cy="479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AE17-E7D8-85A0-FF5A-0AD73961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vs merged 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402FDC-6466-E9B2-648D-1BBCDBFA6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904" y="1998888"/>
            <a:ext cx="9864746" cy="450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0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A4D2-FA91-BC65-E88C-33B0F4AC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7C810-8D68-C158-9649-DFDF827F8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410" y="1854482"/>
            <a:ext cx="10047179" cy="481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40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AAB1-A01A-0B99-ED8D-E37BF8AF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table relationships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EA0E5-4039-828A-EBA8-41A509E42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549" y="1959428"/>
            <a:ext cx="9530901" cy="461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78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E7B2-16F7-4D3A-5653-FAC4816E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vs snowflake schemas in power bi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B64987-59CD-0B47-DC92-A38785962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360" y="2012817"/>
            <a:ext cx="9123280" cy="461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81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E7B6-00FE-6405-04DD-6077F75D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8954B-2B6D-C9A9-BB56-B4186E03D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241" y="1900645"/>
            <a:ext cx="6382630" cy="4646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54128-CBBD-CB77-5FE4-F576D5866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195" y="2248796"/>
            <a:ext cx="4212481" cy="2893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AC852-F7AB-CBA4-BEEC-95D7FBC22453}"/>
              </a:ext>
            </a:extLst>
          </p:cNvPr>
          <p:cNvSpPr txBox="1"/>
          <p:nvPr/>
        </p:nvSpPr>
        <p:spPr>
          <a:xfrm>
            <a:off x="6752070" y="5490219"/>
            <a:ext cx="4958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create a matrix table from the report view</a:t>
            </a:r>
          </a:p>
        </p:txBody>
      </p:sp>
    </p:spTree>
    <p:extLst>
      <p:ext uri="{BB962C8B-B14F-4D97-AF65-F5344CB8AC3E}">
        <p14:creationId xmlns:p14="http://schemas.microsoft.com/office/powerpoint/2010/main" val="228723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DB8A-BC92-1A37-55F8-492EAAC1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A6E7F-CD6F-A001-5659-47A49F8BC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789" y="1983180"/>
            <a:ext cx="9994421" cy="471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19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3BF7-4EFE-AF6D-84C4-95054F93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 code vs </a:t>
            </a:r>
            <a:r>
              <a:rPr lang="en-US" dirty="0" err="1"/>
              <a:t>dax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30303F-5CC6-CFEF-7F47-24503DE7B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707" y="2012301"/>
            <a:ext cx="10054585" cy="484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518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CCC6-347D-A786-776C-BA98BFE6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Calculated columns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D24DCB-DEDC-C4F3-9573-FA9209E4F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286" y="2012839"/>
            <a:ext cx="9819427" cy="460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11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F916-D395-23E9-A1AF-3C04C8D3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calculated Columns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909A5E-6BCF-2989-CA57-C14BF2D8A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510" y="1918398"/>
            <a:ext cx="10884979" cy="493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67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57E6-8073-9B24-C7A7-3D05FC1A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967FE-E779-D7B8-B00A-15BC9BDB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Sales Data table, create a new Calculated Column with DAX</a:t>
            </a:r>
          </a:p>
          <a:p>
            <a:r>
              <a:rPr lang="en-US" dirty="0"/>
              <a:t>The column should display ‘Multiple Items’ if </a:t>
            </a:r>
            <a:r>
              <a:rPr lang="en-US" dirty="0" err="1"/>
              <a:t>OrderQuantity</a:t>
            </a:r>
            <a:r>
              <a:rPr lang="en-US" dirty="0"/>
              <a:t> is over 1, else ‘Single Item’ </a:t>
            </a:r>
          </a:p>
        </p:txBody>
      </p:sp>
    </p:spTree>
    <p:extLst>
      <p:ext uri="{BB962C8B-B14F-4D97-AF65-F5344CB8AC3E}">
        <p14:creationId xmlns:p14="http://schemas.microsoft.com/office/powerpoint/2010/main" val="2618481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50DA-B59E-9472-6B36-57CF419B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Measures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14CE66-CD7C-0FEB-3903-8AC59D200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031" y="1862131"/>
            <a:ext cx="10553937" cy="487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8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F67B-7635-902D-BB7A-94C033D7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0066B-9863-95DC-9B0C-E37B066E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report view, use measures to show the Sum of </a:t>
            </a:r>
            <a:r>
              <a:rPr lang="en-US" dirty="0" err="1"/>
              <a:t>OrderQuantity</a:t>
            </a:r>
            <a:r>
              <a:rPr lang="en-US" dirty="0"/>
              <a:t> and sum of </a:t>
            </a:r>
            <a:r>
              <a:rPr lang="en-US" dirty="0" err="1"/>
              <a:t>ReturnQuantity</a:t>
            </a:r>
            <a:r>
              <a:rPr lang="en-US" dirty="0"/>
              <a:t> by product name</a:t>
            </a:r>
          </a:p>
          <a:p>
            <a:r>
              <a:rPr lang="en-US" dirty="0"/>
              <a:t>You may need to ‘Get Data’ for the ‘returns’ table and map its relationships </a:t>
            </a:r>
          </a:p>
        </p:txBody>
      </p:sp>
    </p:spTree>
    <p:extLst>
      <p:ext uri="{BB962C8B-B14F-4D97-AF65-F5344CB8AC3E}">
        <p14:creationId xmlns:p14="http://schemas.microsoft.com/office/powerpoint/2010/main" val="2619862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67E9-F7E7-8A41-0543-FA2A2826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Dax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4CCD-BB15-A4ED-DC37-7E57BC04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  <a:p>
            <a:pPr lvl="1"/>
            <a:r>
              <a:rPr lang="en-US" dirty="0"/>
              <a:t>SUM(), AVERAGE(), COUNT()</a:t>
            </a:r>
          </a:p>
          <a:p>
            <a:r>
              <a:rPr lang="en-US" dirty="0"/>
              <a:t>Filter/Context </a:t>
            </a:r>
          </a:p>
          <a:p>
            <a:pPr lvl="1"/>
            <a:r>
              <a:rPr lang="en-US" dirty="0"/>
              <a:t>CALCULATE(), FILTER(), ALL()</a:t>
            </a:r>
          </a:p>
          <a:p>
            <a:r>
              <a:rPr lang="en-US" dirty="0"/>
              <a:t>Statistics </a:t>
            </a:r>
          </a:p>
          <a:p>
            <a:pPr lvl="1"/>
            <a:r>
              <a:rPr lang="en-US" dirty="0"/>
              <a:t>MEDIAN(), AVERAGE(), STDEV.P(), VAR.P(), PERCENTILEX.INC() </a:t>
            </a:r>
          </a:p>
        </p:txBody>
      </p:sp>
    </p:spTree>
    <p:extLst>
      <p:ext uri="{BB962C8B-B14F-4D97-AF65-F5344CB8AC3E}">
        <p14:creationId xmlns:p14="http://schemas.microsoft.com/office/powerpoint/2010/main" val="1337963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6346-07C8-31B3-88BA-D026DCE8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2F1A09-9205-C532-F9C4-C253CACAF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739" y="1957352"/>
            <a:ext cx="10322522" cy="48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86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6A1CF-A97C-FE1C-6CF1-9EDC44B7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calculate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087246-DE4C-01BF-B619-487C48801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858341"/>
            <a:ext cx="11029616" cy="499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31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7CFF-A48F-DBCD-0B12-69D59373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0EC8-9C28-099E-F219-CDBB915CB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matrix report view with: </a:t>
            </a:r>
            <a:r>
              <a:rPr lang="en-US" dirty="0" err="1"/>
              <a:t>CategoryName</a:t>
            </a:r>
            <a:r>
              <a:rPr lang="en-US" dirty="0"/>
              <a:t> selected for ‘rows’ </a:t>
            </a:r>
          </a:p>
          <a:p>
            <a:r>
              <a:rPr lang="en-US" dirty="0"/>
              <a:t>Create a couple measures: </a:t>
            </a:r>
            <a:r>
              <a:rPr lang="en-US" dirty="0" err="1"/>
              <a:t>TotalOrders</a:t>
            </a:r>
            <a:r>
              <a:rPr lang="en-US" dirty="0"/>
              <a:t> &amp; Sum of </a:t>
            </a:r>
            <a:r>
              <a:rPr lang="en-US" dirty="0" err="1"/>
              <a:t>OrderQuantity</a:t>
            </a:r>
            <a:endParaRPr lang="en-US" dirty="0"/>
          </a:p>
          <a:p>
            <a:r>
              <a:rPr lang="en-US" dirty="0"/>
              <a:t>Create a new measure called ‘Bulk Orders’ that uses CALCULATE() </a:t>
            </a:r>
          </a:p>
          <a:p>
            <a:pPr lvl="1"/>
            <a:r>
              <a:rPr lang="en-US" dirty="0"/>
              <a:t>We just want the total number of orders in this column where </a:t>
            </a:r>
            <a:r>
              <a:rPr lang="en-US" dirty="0" err="1"/>
              <a:t>OrderQuantity</a:t>
            </a:r>
            <a:r>
              <a:rPr lang="en-US" dirty="0"/>
              <a:t> &gt; 1</a:t>
            </a:r>
          </a:p>
        </p:txBody>
      </p:sp>
    </p:spTree>
    <p:extLst>
      <p:ext uri="{BB962C8B-B14F-4D97-AF65-F5344CB8AC3E}">
        <p14:creationId xmlns:p14="http://schemas.microsoft.com/office/powerpoint/2010/main" val="3851266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E0C0-0489-4193-8F7B-F686A7B2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dashboards &amp; Conditional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AAB1-83AF-0C1E-C4FA-130C38EE5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62703" cy="3678303"/>
          </a:xfrm>
        </p:spPr>
        <p:txBody>
          <a:bodyPr/>
          <a:lstStyle/>
          <a:p>
            <a:r>
              <a:rPr lang="en-US" dirty="0"/>
              <a:t>Under ‘format visuals’, ‘callout’ properties allow us to conditionally add styles to dashboard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FD517-EAB4-6F94-FD02-F01E05D0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275" y="2180496"/>
            <a:ext cx="4847057" cy="400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87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6FB0-202D-BD5A-778A-D5AFF782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Slicers &amp; filtering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C984C-28C7-B4B6-95B1-CA420524C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241" y="2038535"/>
            <a:ext cx="10301517" cy="455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72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804B-512C-3A34-EA35-F47633F3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8DE98-E111-442B-9A74-EF5D8F6D6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Prerequisites:</a:t>
            </a:r>
          </a:p>
          <a:p>
            <a:pPr lvl="1"/>
            <a:r>
              <a:rPr lang="en-US" dirty="0"/>
              <a:t>Report must be published in Power BI Service</a:t>
            </a:r>
          </a:p>
          <a:p>
            <a:pPr lvl="1"/>
            <a:r>
              <a:rPr lang="en-US" dirty="0"/>
              <a:t>The visual must be pinned to the dashboard</a:t>
            </a:r>
          </a:p>
          <a:p>
            <a:pPr lvl="1"/>
            <a:r>
              <a:rPr lang="en-US" dirty="0"/>
              <a:t>The dataset must be configured to refresh (or use </a:t>
            </a:r>
            <a:r>
              <a:rPr lang="en-US" dirty="0" err="1"/>
              <a:t>DirectQuery</a:t>
            </a:r>
            <a:r>
              <a:rPr lang="en-US" dirty="0"/>
              <a:t>/Live Connection so values can change)</a:t>
            </a:r>
          </a:p>
          <a:p>
            <a:r>
              <a:rPr lang="en-US" dirty="0"/>
              <a:t>Select the card, KPI, or gauge tile</a:t>
            </a:r>
          </a:p>
          <a:p>
            <a:r>
              <a:rPr lang="en-US" dirty="0"/>
              <a:t>Click ‘More Options’, ‘Manage Alerts’, and then ‘Add alert rule’</a:t>
            </a:r>
          </a:p>
          <a:p>
            <a:r>
              <a:rPr lang="en-US" dirty="0"/>
              <a:t>Notifications can be configured to run on the Power BI Service or Email notifications </a:t>
            </a:r>
          </a:p>
        </p:txBody>
      </p:sp>
    </p:spTree>
    <p:extLst>
      <p:ext uri="{BB962C8B-B14F-4D97-AF65-F5344CB8AC3E}">
        <p14:creationId xmlns:p14="http://schemas.microsoft.com/office/powerpoint/2010/main" val="3664763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D78E-DE5C-D5B4-CDF3-35809242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30BEF-8B9E-9969-7E50-48C0EBD2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013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DAX Studio is a 3</a:t>
            </a:r>
            <a:r>
              <a:rPr lang="en-US" baseline="30000" dirty="0"/>
              <a:t>rd</a:t>
            </a:r>
            <a:r>
              <a:rPr lang="en-US" dirty="0"/>
              <a:t> party application to run DAX queries against our data</a:t>
            </a:r>
          </a:p>
          <a:p>
            <a:r>
              <a:rPr lang="en-US" dirty="0"/>
              <a:t>We can get detailed performance statistics </a:t>
            </a:r>
          </a:p>
          <a:p>
            <a:r>
              <a:rPr lang="en-US" dirty="0"/>
              <a:t>Easy installation from: daxstudio.org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B209C-0074-1845-33E3-09305D703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904" y="3406614"/>
            <a:ext cx="8983513" cy="291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1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40FC-8982-3D92-2EE9-3ADEF489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AAD2-012D-44DD-95F7-DC84459B2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‘dax_studio_sample_queries.txt’ in your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1257776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71F112-8AD7-4A1F-AA37-46A9FA4AE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FDEACF-2AAE-46E8-BC30-7EAA0A995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614407"/>
            <a:ext cx="750779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CF76B-5A4A-9896-1DAE-9E1950BD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850" y="702156"/>
            <a:ext cx="7208958" cy="1013800"/>
          </a:xfrm>
        </p:spPr>
        <p:txBody>
          <a:bodyPr>
            <a:normAutofit/>
          </a:bodyPr>
          <a:lstStyle/>
          <a:p>
            <a:r>
              <a:rPr lang="en-US" sz="2400" dirty="0"/>
              <a:t>Refreshing your data – </a:t>
            </a:r>
            <a:r>
              <a:rPr lang="en-US" sz="2400" dirty="0" err="1"/>
              <a:t>DirectQuery</a:t>
            </a:r>
            <a:r>
              <a:rPr lang="en-US" sz="2400" dirty="0"/>
              <a:t>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412B9-EE85-E436-F3F1-09DC9390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38" y="831029"/>
            <a:ext cx="1701066" cy="57663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2D47-89B6-F258-634F-C3AEBD18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849" y="2180496"/>
            <a:ext cx="7208957" cy="4045683"/>
          </a:xfrm>
        </p:spPr>
        <p:txBody>
          <a:bodyPr>
            <a:normAutofit/>
          </a:bodyPr>
          <a:lstStyle/>
          <a:p>
            <a:r>
              <a:rPr lang="en-US" dirty="0"/>
              <a:t>Click the canvas (not an object)</a:t>
            </a:r>
          </a:p>
          <a:p>
            <a:r>
              <a:rPr lang="en-US" dirty="0"/>
              <a:t>Under visualization click ‘Format page’</a:t>
            </a:r>
          </a:p>
          <a:p>
            <a:r>
              <a:rPr lang="en-US" dirty="0"/>
              <a:t>Here we can enable ‘Page refresh’ to update the dashboard periodically (will query for updated records with the </a:t>
            </a:r>
            <a:r>
              <a:rPr lang="en-US" dirty="0" err="1"/>
              <a:t>DirectQuery</a:t>
            </a:r>
            <a:r>
              <a:rPr lang="en-US" dirty="0"/>
              <a:t> connection mode)</a:t>
            </a:r>
          </a:p>
        </p:txBody>
      </p:sp>
    </p:spTree>
    <p:extLst>
      <p:ext uri="{BB962C8B-B14F-4D97-AF65-F5344CB8AC3E}">
        <p14:creationId xmlns:p14="http://schemas.microsoft.com/office/powerpoint/2010/main" val="1293879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B2EB-C304-5C24-0F31-E87EEB5A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Refreshing your data – import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1E89-1861-6042-23A3-63DB51C6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133312" cy="3678303"/>
          </a:xfrm>
        </p:spPr>
        <p:txBody>
          <a:bodyPr/>
          <a:lstStyle/>
          <a:p>
            <a:r>
              <a:rPr lang="en-US" dirty="0"/>
              <a:t>On the home ribbon we can refresh manually with the button</a:t>
            </a:r>
          </a:p>
          <a:p>
            <a:r>
              <a:rPr lang="en-US" dirty="0"/>
              <a:t>In the Power Query Editor we can right-click the table and Enable load &amp; Include in report refresh so data is re-cached when we refresh the report </a:t>
            </a:r>
          </a:p>
          <a:p>
            <a:r>
              <a:rPr lang="en-US" dirty="0"/>
              <a:t>We can setup scheduled refreshes in Power BI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DB5DD-8F94-70B3-D3C4-C64DA64F5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446" y="2262120"/>
            <a:ext cx="1352739" cy="1829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8B720F-47B1-8E30-3631-15436A351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076" y="4403754"/>
            <a:ext cx="2705478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04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49F8-362C-4EB4-D85B-6FDF3480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to power BI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E19D4-9B04-BC6E-A809-BB53EA9C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28314" cy="3678303"/>
          </a:xfrm>
        </p:spPr>
        <p:txBody>
          <a:bodyPr/>
          <a:lstStyle/>
          <a:p>
            <a:r>
              <a:rPr lang="en-US" dirty="0"/>
              <a:t>Click the ‘Publish’ button on the ‘Home’ ribbon </a:t>
            </a:r>
          </a:p>
          <a:p>
            <a:r>
              <a:rPr lang="en-US" dirty="0"/>
              <a:t>Log in if not already</a:t>
            </a:r>
          </a:p>
          <a:p>
            <a:r>
              <a:rPr lang="en-US" dirty="0"/>
              <a:t>Choose the destination in Power BI service to populate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AD2EE-9DED-EEFA-B5A6-34491B06D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07" y="2010664"/>
            <a:ext cx="836013" cy="1337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41D6DC-AF4F-6EB8-DEA1-FA05B0FA8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787" y="2519327"/>
            <a:ext cx="5573683" cy="333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27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16536</TotalTime>
  <Words>817</Words>
  <Application>Microsoft Office PowerPoint</Application>
  <PresentationFormat>Widescreen</PresentationFormat>
  <Paragraphs>128</Paragraphs>
  <Slides>40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Gill Sans MT</vt:lpstr>
      <vt:lpstr>Wingdings 2</vt:lpstr>
      <vt:lpstr>Dividend</vt:lpstr>
      <vt:lpstr>Power BI</vt:lpstr>
      <vt:lpstr>Why power BI?</vt:lpstr>
      <vt:lpstr>Excel vs power bi</vt:lpstr>
      <vt:lpstr>Power bi desktop vs power bi service</vt:lpstr>
      <vt:lpstr>Installing power bi desktop</vt:lpstr>
      <vt:lpstr>Front-end vs back-end</vt:lpstr>
      <vt:lpstr>Data connectors</vt:lpstr>
      <vt:lpstr>Power query editor</vt:lpstr>
      <vt:lpstr>Query Editing Tools</vt:lpstr>
      <vt:lpstr>Basic table transformations</vt:lpstr>
      <vt:lpstr>Walkthrough</vt:lpstr>
      <vt:lpstr>Challenge</vt:lpstr>
      <vt:lpstr>Storage &amp; connection modes</vt:lpstr>
      <vt:lpstr>What is a power bi data model?</vt:lpstr>
      <vt:lpstr>What is a power bi data model?</vt:lpstr>
      <vt:lpstr>Relationships vs merged tables</vt:lpstr>
      <vt:lpstr>The model view</vt:lpstr>
      <vt:lpstr>Creating table relationships</vt:lpstr>
      <vt:lpstr>Star vs snowflake schemas in power bi</vt:lpstr>
      <vt:lpstr>Challenge</vt:lpstr>
      <vt:lpstr>DAX</vt:lpstr>
      <vt:lpstr>M code vs dax</vt:lpstr>
      <vt:lpstr>Calculated columns</vt:lpstr>
      <vt:lpstr>Example: calculated Columns</vt:lpstr>
      <vt:lpstr>Challenge</vt:lpstr>
      <vt:lpstr>Dax Measures</vt:lpstr>
      <vt:lpstr>Challenge</vt:lpstr>
      <vt:lpstr>Types of Dax functions</vt:lpstr>
      <vt:lpstr>Calculate()</vt:lpstr>
      <vt:lpstr>Example: calculate</vt:lpstr>
      <vt:lpstr>Challenge</vt:lpstr>
      <vt:lpstr>Designing dashboards &amp; Conditional rendering</vt:lpstr>
      <vt:lpstr>Slicers &amp; filtering</vt:lpstr>
      <vt:lpstr>Data alerts</vt:lpstr>
      <vt:lpstr>DAX Studio</vt:lpstr>
      <vt:lpstr>Walkthrough</vt:lpstr>
      <vt:lpstr>Refreshing your data – DirectQuery mode</vt:lpstr>
      <vt:lpstr>Refreshing your data – import mode</vt:lpstr>
      <vt:lpstr>Publishing to power BI service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634</cp:revision>
  <dcterms:created xsi:type="dcterms:W3CDTF">2025-02-12T19:53:45Z</dcterms:created>
  <dcterms:modified xsi:type="dcterms:W3CDTF">2026-08-05T16:06:07Z</dcterms:modified>
</cp:coreProperties>
</file>