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2" autoAdjust="0"/>
    <p:restoredTop sz="90456" autoAdjust="0"/>
  </p:normalViewPr>
  <p:slideViewPr>
    <p:cSldViewPr snapToGrid="0">
      <p:cViewPr varScale="1">
        <p:scale>
          <a:sx n="54" d="100"/>
          <a:sy n="54" d="100"/>
        </p:scale>
        <p:origin x="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FF28D-D7E5-94FB-9CC2-B7249703E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power BI?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FB482A-0F3D-F840-F60A-066E1011FA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81220" y="1856520"/>
            <a:ext cx="9229560" cy="4671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776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FF34A-1DEA-C6BC-EF49-BFB51D348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Excel vs power bi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9A9D14-5E68-174F-5E52-4F3B010DAD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8346" y="1901933"/>
            <a:ext cx="9615307" cy="476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689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1BB92-EACC-2D8E-9271-4D2C3C940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bi desktop vs power bi service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813AC8C-B05D-08D1-7A79-D2A287D948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2569141"/>
              </p:ext>
            </p:extLst>
          </p:nvPr>
        </p:nvGraphicFramePr>
        <p:xfrm>
          <a:off x="2481275" y="1825917"/>
          <a:ext cx="9453426" cy="5032083"/>
        </p:xfrm>
        <a:graphic>
          <a:graphicData uri="http://schemas.openxmlformats.org/drawingml/2006/table">
            <a:tbl>
              <a:tblPr/>
              <a:tblGrid>
                <a:gridCol w="3151142">
                  <a:extLst>
                    <a:ext uri="{9D8B030D-6E8A-4147-A177-3AD203B41FA5}">
                      <a16:colId xmlns:a16="http://schemas.microsoft.com/office/drawing/2014/main" val="3825827838"/>
                    </a:ext>
                  </a:extLst>
                </a:gridCol>
                <a:gridCol w="3151142">
                  <a:extLst>
                    <a:ext uri="{9D8B030D-6E8A-4147-A177-3AD203B41FA5}">
                      <a16:colId xmlns:a16="http://schemas.microsoft.com/office/drawing/2014/main" val="767760379"/>
                    </a:ext>
                  </a:extLst>
                </a:gridCol>
                <a:gridCol w="3151142">
                  <a:extLst>
                    <a:ext uri="{9D8B030D-6E8A-4147-A177-3AD203B41FA5}">
                      <a16:colId xmlns:a16="http://schemas.microsoft.com/office/drawing/2014/main" val="3835551519"/>
                    </a:ext>
                  </a:extLst>
                </a:gridCol>
              </a:tblGrid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Feature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Power BI Desktop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Power BI Service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099565"/>
                  </a:ext>
                </a:extLst>
              </a:tr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Platform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Windows desktop application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Cloud-based web application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8447993"/>
                  </a:ext>
                </a:extLst>
              </a:tr>
              <a:tr h="370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Primary Purpose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Build and design reports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Share, view, and collaborate on reports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233537"/>
                  </a:ext>
                </a:extLst>
              </a:tr>
              <a:tr h="449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Data Connection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Connect to multiple data sources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Uses published datasets or connects to cloud data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5096383"/>
                  </a:ext>
                </a:extLst>
              </a:tr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Data Transformation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Full support using Power Query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Limited transformation capabilities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4010570"/>
                  </a:ext>
                </a:extLst>
              </a:tr>
              <a:tr h="449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Data Modeling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Create relationships, measures (DAX), and calculated columns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Limited modeling capabilities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5180549"/>
                  </a:ext>
                </a:extLst>
              </a:tr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Report Creation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Basic editing only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221306"/>
                  </a:ext>
                </a:extLst>
              </a:tr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Dashboard Creation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06671"/>
                  </a:ext>
                </a:extLst>
              </a:tr>
              <a:tr h="246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Publishing Reports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Publish to Power BI Service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Manage published reports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563276"/>
                  </a:ext>
                </a:extLst>
              </a:tr>
              <a:tr h="370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Sharing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Cannot directly share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Share dashboards and reports with users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8608"/>
                  </a:ext>
                </a:extLst>
              </a:tr>
              <a:tr h="449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Collaboration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Not available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Workspaces, comments, apps, and collaboration features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42733"/>
                  </a:ext>
                </a:extLst>
              </a:tr>
              <a:tr h="449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Scheduled Refresh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Manual refresh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Automatic scheduled refresh (with gateway if needed)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1562569"/>
                  </a:ext>
                </a:extLst>
              </a:tr>
              <a:tr h="4494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AI Features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Basic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Advanced AI features (depending on license)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580300"/>
                  </a:ext>
                </a:extLst>
              </a:tr>
              <a:tr h="3708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License</a:t>
                      </a:r>
                      <a:endParaRPr lang="en-US" sz="1400"/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Free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Free, Pro, and Premium licenses available</a:t>
                      </a:r>
                    </a:p>
                  </a:txBody>
                  <a:tcPr marL="45978" marR="45978" marT="22989" marB="2298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732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626280E-8E7B-DDBD-416B-C32318E083F2}"/>
              </a:ext>
            </a:extLst>
          </p:cNvPr>
          <p:cNvSpPr txBox="1"/>
          <p:nvPr/>
        </p:nvSpPr>
        <p:spPr>
          <a:xfrm>
            <a:off x="257299" y="2205773"/>
            <a:ext cx="181432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most organizations, developers use </a:t>
            </a:r>
            <a:r>
              <a:rPr lang="en-US" b="1" dirty="0"/>
              <a:t>Power BI Desktop</a:t>
            </a:r>
            <a:r>
              <a:rPr lang="en-US" dirty="0"/>
              <a:t> to build reports and then publish them to </a:t>
            </a:r>
            <a:r>
              <a:rPr lang="en-US" b="1" dirty="0"/>
              <a:t>Power BI Service</a:t>
            </a:r>
            <a:r>
              <a:rPr lang="en-US" dirty="0"/>
              <a:t>, where end users access and interact with the reports.</a:t>
            </a:r>
          </a:p>
        </p:txBody>
      </p:sp>
    </p:spTree>
    <p:extLst>
      <p:ext uri="{BB962C8B-B14F-4D97-AF65-F5344CB8AC3E}">
        <p14:creationId xmlns:p14="http://schemas.microsoft.com/office/powerpoint/2010/main" val="1430861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36624-2522-B463-3348-70C35B8F7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power bi desktop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0325A4F-A57A-F619-65E5-E9D6D0629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3615" y="1889646"/>
            <a:ext cx="10404770" cy="4812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638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22B31-D173-30DC-948A-6188D94D8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Front-end vs back-end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AA9F18-275F-ADBE-D84B-196DFD94C7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6967" y="1977981"/>
            <a:ext cx="10138065" cy="472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770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73B3B-A0C1-2382-FC3E-65D24ED9F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connectors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D65844-09DC-3517-7846-003F56819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4523" y="1901366"/>
            <a:ext cx="10762953" cy="445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843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7B3F2-BB6A-798A-FBCD-B95885989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Power query editor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C7E1734-9C97-ABD8-958D-CFE48477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358" y="1901527"/>
            <a:ext cx="9807284" cy="4956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063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C0287-3380-2E4C-1046-41992A966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 Editing Tools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BF1506-F12C-55D1-4AA7-0A731C8F35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10230" y="1923635"/>
            <a:ext cx="9571539" cy="469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821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6D91-D452-AF36-7C8B-E78F5258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table transformations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CE2B2F-D188-B791-B17E-DB789D39C9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8059" y="1923803"/>
            <a:ext cx="10135882" cy="475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631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60AC-FD16-D5EC-7562-6CBC10A62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Walkthrough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18E1A-F1AB-5569-4653-186A699D0C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load 2 csv files: Territory Lookup &amp; Product Lookup</a:t>
            </a:r>
          </a:p>
          <a:p>
            <a:r>
              <a:rPr lang="en-US" dirty="0"/>
              <a:t>In product lookup let’s:</a:t>
            </a:r>
          </a:p>
          <a:p>
            <a:pPr lvl="1"/>
            <a:r>
              <a:rPr lang="en-US" dirty="0"/>
              <a:t>Note the column data types</a:t>
            </a:r>
          </a:p>
          <a:p>
            <a:pPr lvl="1"/>
            <a:r>
              <a:rPr lang="en-US" dirty="0"/>
              <a:t>Remove the product size column</a:t>
            </a:r>
          </a:p>
          <a:p>
            <a:pPr lvl="1"/>
            <a:r>
              <a:rPr lang="en-US" dirty="0"/>
              <a:t>Change the data type of </a:t>
            </a:r>
            <a:r>
              <a:rPr lang="en-US" dirty="0" err="1"/>
              <a:t>ProductCost</a:t>
            </a:r>
            <a:r>
              <a:rPr lang="en-US" dirty="0"/>
              <a:t> and </a:t>
            </a:r>
            <a:r>
              <a:rPr lang="en-US" dirty="0" err="1"/>
              <a:t>ProductPrice</a:t>
            </a:r>
            <a:r>
              <a:rPr lang="en-US" dirty="0"/>
              <a:t> to Fixed Decimal Number (currency)</a:t>
            </a:r>
          </a:p>
          <a:p>
            <a:pPr lvl="1"/>
            <a:r>
              <a:rPr lang="en-US" dirty="0"/>
              <a:t>View our tables in our data model UI </a:t>
            </a:r>
          </a:p>
        </p:txBody>
      </p:sp>
    </p:spTree>
    <p:extLst>
      <p:ext uri="{BB962C8B-B14F-4D97-AF65-F5344CB8AC3E}">
        <p14:creationId xmlns:p14="http://schemas.microsoft.com/office/powerpoint/2010/main" val="768657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D9A93-B0C7-5159-BA31-7B1B2E04F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2BD463E-123E-B135-9E18-12A6631E4D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5620" y="2101387"/>
            <a:ext cx="5920759" cy="467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985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AAE23-F25F-28BE-3EE4-9D9345CFD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Storage &amp; connection modes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4C4773-41B5-DBCB-CB50-0713AE16D0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3557" y="1995054"/>
            <a:ext cx="10864885" cy="4458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2371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211B9-7AC6-1BEC-BC1C-C6754A5B7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power bi data model?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DB5E12-C0CF-CD5D-9802-5AF028B646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8791" y="2032762"/>
            <a:ext cx="9714417" cy="4634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837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8926E-A694-7130-B6E4-D52B2E727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power bi data model?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107483-45DF-48EE-BB75-8884BA49F8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004" y="1929854"/>
            <a:ext cx="10087991" cy="4790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81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AE17-E7D8-85A0-FF5A-0AD739618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 vs merged tables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402FDC-6466-E9B2-648D-1BBCDBFA6F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6904" y="1998888"/>
            <a:ext cx="9864746" cy="450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0052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2A4D2-FA91-BC65-E88C-33B0F4AC0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model 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67C810-8D68-C158-9649-DFDF827F8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2410" y="1854482"/>
            <a:ext cx="10047179" cy="4815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8402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3AAB1-A01A-0B99-ED8D-E37BF8AF7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table relationships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CEEA0E5-4039-828A-EBA8-41A509E42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0549" y="1959428"/>
            <a:ext cx="9530901" cy="461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9785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5E7B2-16F7-4D3A-5653-FAC4816E1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 vs snowflake schemas in power bi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6B64987-59CD-0B47-DC92-A38785962F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4360" y="2012817"/>
            <a:ext cx="9123280" cy="4618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881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9E7B6-00FE-6405-04DD-6077F75D5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48954B-2B6D-C9A9-BB56-B4186E03D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241" y="1900645"/>
            <a:ext cx="6382630" cy="46466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454128-CBBD-CB77-5FE4-F576D58660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195" y="2248796"/>
            <a:ext cx="4212481" cy="28932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5AC852-F7AB-CBA4-BEEC-95D7FBC22453}"/>
              </a:ext>
            </a:extLst>
          </p:cNvPr>
          <p:cNvSpPr txBox="1"/>
          <p:nvPr/>
        </p:nvSpPr>
        <p:spPr>
          <a:xfrm>
            <a:off x="6752070" y="5490219"/>
            <a:ext cx="4958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can create a matrix table from the report view</a:t>
            </a:r>
          </a:p>
        </p:txBody>
      </p:sp>
    </p:spTree>
    <p:extLst>
      <p:ext uri="{BB962C8B-B14F-4D97-AF65-F5344CB8AC3E}">
        <p14:creationId xmlns:p14="http://schemas.microsoft.com/office/powerpoint/2010/main" val="2287235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6DB8A-BC92-1A37-55F8-492EAAC1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C70E2-8A12-5AF1-DB97-8244230EF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19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13874</TotalTime>
  <Words>356</Words>
  <Application>Microsoft Office PowerPoint</Application>
  <PresentationFormat>Widescreen</PresentationFormat>
  <Paragraphs>74</Paragraphs>
  <Slides>22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Gill Sans MT</vt:lpstr>
      <vt:lpstr>Wingdings 2</vt:lpstr>
      <vt:lpstr>Dividend</vt:lpstr>
      <vt:lpstr>Power BI</vt:lpstr>
      <vt:lpstr>Why power BI?</vt:lpstr>
      <vt:lpstr>Excel vs power bi</vt:lpstr>
      <vt:lpstr>Power bi desktop vs power bi service</vt:lpstr>
      <vt:lpstr>Installing power bi desktop</vt:lpstr>
      <vt:lpstr>Front-end vs back-end</vt:lpstr>
      <vt:lpstr>Data connectors</vt:lpstr>
      <vt:lpstr>Power query editor</vt:lpstr>
      <vt:lpstr>Query Editing Tools</vt:lpstr>
      <vt:lpstr>Basic table transformations</vt:lpstr>
      <vt:lpstr>Walkthrough</vt:lpstr>
      <vt:lpstr>Challenge</vt:lpstr>
      <vt:lpstr>Storage &amp; connection modes</vt:lpstr>
      <vt:lpstr>What is a power bi data model?</vt:lpstr>
      <vt:lpstr>What is a power bi data model?</vt:lpstr>
      <vt:lpstr>Relationships vs merged tables</vt:lpstr>
      <vt:lpstr>The model view</vt:lpstr>
      <vt:lpstr>Creating table relationships</vt:lpstr>
      <vt:lpstr>Star vs snowflake schemas in power bi</vt:lpstr>
      <vt:lpstr>Challenge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622</cp:revision>
  <dcterms:created xsi:type="dcterms:W3CDTF">2025-02-12T19:53:45Z</dcterms:created>
  <dcterms:modified xsi:type="dcterms:W3CDTF">2026-08-03T19:43:57Z</dcterms:modified>
</cp:coreProperties>
</file>