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27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8" r:id="rId24"/>
    <p:sldId id="329" r:id="rId25"/>
    <p:sldId id="330" r:id="rId26"/>
    <p:sldId id="26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irflow.apache.org/docs/apache-airflow/stable/howto/docker-compose/index.html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Airflow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63A4-EA97-6B41-2683-417DA05C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85DE-62EF-B7A6-2BD2-989F5F7FB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  <a:p>
            <a:r>
              <a:rPr lang="en-US" dirty="0"/>
              <a:t>Python</a:t>
            </a:r>
          </a:p>
          <a:p>
            <a:pPr lvl="1"/>
            <a:r>
              <a:rPr lang="en-US" dirty="0"/>
              <a:t>Recommend </a:t>
            </a:r>
            <a:r>
              <a:rPr lang="en-US" dirty="0" err="1"/>
              <a:t>uv</a:t>
            </a:r>
            <a:r>
              <a:rPr lang="en-US" dirty="0"/>
              <a:t> for package management / build tool (installed in WSL)</a:t>
            </a:r>
          </a:p>
          <a:p>
            <a:pPr lvl="1"/>
            <a:r>
              <a:rPr lang="en-US" dirty="0"/>
              <a:t>https://github.com/astral-sh/uv</a:t>
            </a:r>
          </a:p>
        </p:txBody>
      </p:sp>
    </p:spTree>
    <p:extLst>
      <p:ext uri="{BB962C8B-B14F-4D97-AF65-F5344CB8AC3E}">
        <p14:creationId xmlns:p14="http://schemas.microsoft.com/office/powerpoint/2010/main" val="376292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CAB2-5CEC-4837-14AB-116C4147A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8CF66-B1DD-DED8-3297-089A1C706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Airflow is an open source platform to programmatically author, schedule, and monitor workflows:</a:t>
            </a:r>
          </a:p>
          <a:p>
            <a:pPr lvl="1"/>
            <a:r>
              <a:rPr lang="en-US" dirty="0"/>
              <a:t>Set the order of our tasks</a:t>
            </a:r>
          </a:p>
          <a:p>
            <a:pPr lvl="1"/>
            <a:r>
              <a:rPr lang="en-US" dirty="0"/>
              <a:t>Make sure each task only starts when the previous ones are done</a:t>
            </a:r>
          </a:p>
          <a:p>
            <a:pPr lvl="1"/>
            <a:r>
              <a:rPr lang="en-US" dirty="0"/>
              <a:t>Control the timing of the entire data process </a:t>
            </a:r>
          </a:p>
          <a:p>
            <a:r>
              <a:rPr lang="en-US" dirty="0"/>
              <a:t>Example: You need to collect data from a database, clean it, perform calculations, and then generate a report</a:t>
            </a:r>
          </a:p>
          <a:p>
            <a:r>
              <a:rPr lang="en-US" dirty="0"/>
              <a:t>Airflow helps us define this sequence and makes sure each step happens in the correct order, even if some tasks take longer than others</a:t>
            </a:r>
          </a:p>
        </p:txBody>
      </p:sp>
    </p:spTree>
    <p:extLst>
      <p:ext uri="{BB962C8B-B14F-4D97-AF65-F5344CB8AC3E}">
        <p14:creationId xmlns:p14="http://schemas.microsoft.com/office/powerpoint/2010/main" val="106997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9BA59-2103-07DB-AAF5-A136775BD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– more features /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AC93-3E88-368E-8F2B-61629F14E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Python-based </a:t>
            </a:r>
          </a:p>
          <a:p>
            <a:r>
              <a:rPr lang="en-US" dirty="0"/>
              <a:t>Dynamic tasks – generate tasks based on dynamic inputs</a:t>
            </a:r>
          </a:p>
          <a:p>
            <a:r>
              <a:rPr lang="en-US" dirty="0"/>
              <a:t>Dynamic workflows – generates workflows based on static inputs</a:t>
            </a:r>
          </a:p>
          <a:p>
            <a:r>
              <a:rPr lang="en-US" dirty="0"/>
              <a:t>Branching – execute different sets of tasks based on a condition or result </a:t>
            </a:r>
          </a:p>
          <a:p>
            <a:r>
              <a:rPr lang="en-US" dirty="0"/>
              <a:t>Example: If yesterday’s sales data was higher than normal, Airflow could automatically add extra tasks to process every sale, without you having to manually change anything </a:t>
            </a:r>
          </a:p>
          <a:p>
            <a:r>
              <a:rPr lang="en-US" dirty="0"/>
              <a:t>Has a visual dashboard where you can see and control your tasks and workflows</a:t>
            </a:r>
          </a:p>
        </p:txBody>
      </p:sp>
    </p:spTree>
    <p:extLst>
      <p:ext uri="{BB962C8B-B14F-4D97-AF65-F5344CB8AC3E}">
        <p14:creationId xmlns:p14="http://schemas.microsoft.com/office/powerpoint/2010/main" val="1486587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D847-6446-D60D-2A3F-569126C0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53FA6-6013-B49B-BA0C-D8AD266B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 and troubleshoot workflows</a:t>
            </a:r>
          </a:p>
          <a:p>
            <a:r>
              <a:rPr lang="en-US" dirty="0"/>
              <a:t>Highlight relationships between workflows and tasks</a:t>
            </a:r>
          </a:p>
          <a:p>
            <a:r>
              <a:rPr lang="en-US" dirty="0"/>
              <a:t>Identify bottlenecks with performance metrics</a:t>
            </a:r>
          </a:p>
          <a:p>
            <a:r>
              <a:rPr lang="en-US" dirty="0"/>
              <a:t>Manage users and roles of your Airflow instance</a:t>
            </a:r>
          </a:p>
        </p:txBody>
      </p:sp>
    </p:spTree>
    <p:extLst>
      <p:ext uri="{BB962C8B-B14F-4D97-AF65-F5344CB8AC3E}">
        <p14:creationId xmlns:p14="http://schemas.microsoft.com/office/powerpoint/2010/main" val="41067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3768-9AB5-D0F6-549E-A76E132D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- extensibility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38DD1-0845-C8D1-1DBF-E11781D69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providers: package with functions to interact with a tool or service (AWS, Snowflake, </a:t>
            </a:r>
            <a:r>
              <a:rPr lang="en-US" dirty="0" err="1"/>
              <a:t>ect</a:t>
            </a:r>
            <a:r>
              <a:rPr lang="en-US" dirty="0"/>
              <a:t>)</a:t>
            </a:r>
          </a:p>
          <a:p>
            <a:r>
              <a:rPr lang="en-US" dirty="0"/>
              <a:t>Customizable UI</a:t>
            </a:r>
          </a:p>
          <a:p>
            <a:r>
              <a:rPr lang="en-US" dirty="0"/>
              <a:t>Customize existing functions </a:t>
            </a:r>
          </a:p>
        </p:txBody>
      </p:sp>
    </p:spTree>
    <p:extLst>
      <p:ext uri="{BB962C8B-B14F-4D97-AF65-F5344CB8AC3E}">
        <p14:creationId xmlns:p14="http://schemas.microsoft.com/office/powerpoint/2010/main" val="224986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9647-0A85-615D-9F82-68D93808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1D7AB-5363-014A-2688-AC9A6B692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98921"/>
            <a:ext cx="11029615" cy="450820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metadata database </a:t>
            </a:r>
            <a:r>
              <a:rPr lang="en-US" dirty="0"/>
              <a:t>– stores info about your tasks and their status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scheduler</a:t>
            </a:r>
            <a:r>
              <a:rPr lang="en-US" dirty="0"/>
              <a:t> – determines when tasks should run</a:t>
            </a:r>
          </a:p>
          <a:p>
            <a:r>
              <a:rPr lang="en-US" dirty="0"/>
              <a:t>The DAG file processor – parses DAG files and serializes them into the metadata database; (internal, we don’t see this when running Airflow)</a:t>
            </a:r>
          </a:p>
          <a:p>
            <a:pPr lvl="1"/>
            <a:r>
              <a:rPr lang="en-US" dirty="0"/>
              <a:t>Transforms Python workflow definitions into structured execution plans that Airflow’s scheduler can efficiently run</a:t>
            </a:r>
          </a:p>
          <a:p>
            <a:pPr lvl="1"/>
            <a:r>
              <a:rPr lang="en-US" dirty="0"/>
              <a:t>Used to be a part of the scheduler, now it’s a separate component for scalability and security reasons </a:t>
            </a:r>
          </a:p>
          <a:p>
            <a:r>
              <a:rPr lang="en-US" dirty="0"/>
              <a:t>The Executor – determines how your tasks will be run, deciding whether to run them in sequence or parallel, and on which system; (internal, we don’t see this when running Airflow)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API server </a:t>
            </a:r>
            <a:r>
              <a:rPr lang="en-US" dirty="0"/>
              <a:t>– provides endpoints for task operations, i.e. start/stop tasks; Serves our UI 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Worker</a:t>
            </a:r>
            <a:r>
              <a:rPr lang="en-US" dirty="0"/>
              <a:t> – the processes that actually perform tasks </a:t>
            </a:r>
          </a:p>
          <a:p>
            <a:r>
              <a:rPr lang="en-US" dirty="0"/>
              <a:t>The Queue – list of tasks waiting to be executed; (internal, we don’t see this when running Airflow) </a:t>
            </a:r>
          </a:p>
          <a:p>
            <a:r>
              <a:rPr lang="en-US" dirty="0"/>
              <a:t>The </a:t>
            </a:r>
            <a:r>
              <a:rPr lang="en-US" dirty="0" err="1"/>
              <a:t>Triggerer</a:t>
            </a:r>
            <a:r>
              <a:rPr lang="en-US" dirty="0"/>
              <a:t> – responsible for managing deferrable tasks; Allows Airflow to handle tasks that depend on external factors without blocking other processes (Advanced)</a:t>
            </a:r>
          </a:p>
        </p:txBody>
      </p:sp>
    </p:spTree>
    <p:extLst>
      <p:ext uri="{BB962C8B-B14F-4D97-AF65-F5344CB8AC3E}">
        <p14:creationId xmlns:p14="http://schemas.microsoft.com/office/powerpoint/2010/main" val="228246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6075-7C0C-6AFB-EA61-36034FA7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–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637F-99A8-712D-B73D-5A031F8C3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82081"/>
          </a:xfrm>
        </p:spPr>
        <p:txBody>
          <a:bodyPr/>
          <a:lstStyle/>
          <a:p>
            <a:r>
              <a:rPr lang="en-US" dirty="0"/>
              <a:t>DAG – Directed Acyclic Graphs define tasks and their dependencies</a:t>
            </a:r>
          </a:p>
          <a:p>
            <a:r>
              <a:rPr lang="en-US" dirty="0"/>
              <a:t>Operator – defines a single, ideally idempotent, task in your DAG</a:t>
            </a:r>
          </a:p>
          <a:p>
            <a:pPr lvl="1"/>
            <a:r>
              <a:rPr lang="en-US" dirty="0"/>
              <a:t>Airflow has thousands of Operators such as: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PythonOperator</a:t>
            </a:r>
            <a:r>
              <a:rPr lang="en-US" dirty="0"/>
              <a:t> to execute a Python script or function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BashOperator</a:t>
            </a:r>
            <a:r>
              <a:rPr lang="en-US" dirty="0"/>
              <a:t> to execute a Bash script or command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SQLExecuteQueryOperator</a:t>
            </a:r>
            <a:r>
              <a:rPr lang="en-US" dirty="0"/>
              <a:t> to execute a SQL query to a database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FileSensor</a:t>
            </a:r>
            <a:r>
              <a:rPr lang="en-US" dirty="0"/>
              <a:t> to wait for a file</a:t>
            </a:r>
          </a:p>
          <a:p>
            <a:r>
              <a:rPr lang="en-US" dirty="0"/>
              <a:t>Task – specific instance of an operator. When an operator is assigned to a DAG, it becomes a task. </a:t>
            </a:r>
          </a:p>
          <a:p>
            <a:r>
              <a:rPr lang="en-US" dirty="0"/>
              <a:t>Workflow – the entire process defined by your DAG, including all tasks and dependencies</a:t>
            </a:r>
          </a:p>
        </p:txBody>
      </p:sp>
    </p:spTree>
    <p:extLst>
      <p:ext uri="{BB962C8B-B14F-4D97-AF65-F5344CB8AC3E}">
        <p14:creationId xmlns:p14="http://schemas.microsoft.com/office/powerpoint/2010/main" val="2663441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01277-B6E0-0662-F0B5-599577FCD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is not…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8E21E-5387-8E9D-16CF-04B550757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710481"/>
          </a:xfrm>
        </p:spPr>
        <p:txBody>
          <a:bodyPr>
            <a:normAutofit/>
          </a:bodyPr>
          <a:lstStyle/>
          <a:p>
            <a:r>
              <a:rPr lang="en-US" dirty="0"/>
              <a:t>Airflow is not:</a:t>
            </a:r>
          </a:p>
          <a:p>
            <a:pPr lvl="1"/>
            <a:r>
              <a:rPr lang="en-US" dirty="0"/>
              <a:t>a data processing framework</a:t>
            </a:r>
          </a:p>
          <a:p>
            <a:pPr lvl="1"/>
            <a:r>
              <a:rPr lang="en-US" dirty="0"/>
              <a:t>a real-time streaming solution</a:t>
            </a:r>
          </a:p>
          <a:p>
            <a:pPr lvl="1"/>
            <a:r>
              <a:rPr lang="en-US" dirty="0"/>
              <a:t>a data storage system</a:t>
            </a:r>
          </a:p>
        </p:txBody>
      </p:sp>
    </p:spTree>
    <p:extLst>
      <p:ext uri="{BB962C8B-B14F-4D97-AF65-F5344CB8AC3E}">
        <p14:creationId xmlns:p14="http://schemas.microsoft.com/office/powerpoint/2010/main" val="2434736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1E21-580D-05B1-1E58-14276593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single node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A0DE7-E626-7376-78FF-02B4BAACF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2648896" cy="3934937"/>
          </a:xfrm>
        </p:spPr>
        <p:txBody>
          <a:bodyPr/>
          <a:lstStyle/>
          <a:p>
            <a:r>
              <a:rPr lang="en-US" dirty="0"/>
              <a:t>This is fine for running locally or for smaller projects</a:t>
            </a:r>
          </a:p>
          <a:p>
            <a:r>
              <a:rPr lang="en-US" dirty="0"/>
              <a:t>Not scalable for heavy production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C13F7-30E1-44C2-E7DB-2715E4E38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230" y="2180496"/>
            <a:ext cx="7649577" cy="393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46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578D-F4C9-549D-F392-140518F7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Airflow multi-node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7E074-96A3-537C-7263-8B273AB33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1912626" cy="3975347"/>
          </a:xfrm>
        </p:spPr>
        <p:txBody>
          <a:bodyPr/>
          <a:lstStyle/>
          <a:p>
            <a:r>
              <a:rPr lang="en-US" dirty="0"/>
              <a:t>Scalable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3A510-881C-6638-0792-BC369158C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19" y="2053740"/>
            <a:ext cx="9105073" cy="422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522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0A74-4C33-C326-F5B3-9E512C47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Runtime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CF5B9-72FB-A4BF-2E6E-57F44EEF3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349539" cy="43509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scheduler produces a task instance object</a:t>
            </a:r>
          </a:p>
          <a:p>
            <a:r>
              <a:rPr lang="en-US" dirty="0"/>
              <a:t>This object starts with a state of “Scheduled” </a:t>
            </a:r>
          </a:p>
          <a:p>
            <a:r>
              <a:rPr lang="en-US" dirty="0"/>
              <a:t>The scheduler sends the task object to the executor which queues up the task and marks its state to “Queued” </a:t>
            </a:r>
          </a:p>
          <a:p>
            <a:r>
              <a:rPr lang="en-US" dirty="0"/>
              <a:t>A worker pulls the task from the Queue, updates it status to “Running” until it completes the job, then the status is marked as “Success”, “Failed”, “Skipped”, etc. </a:t>
            </a:r>
          </a:p>
          <a:p>
            <a:r>
              <a:rPr lang="en-US" dirty="0"/>
              <a:t>The worker notifies the API server of the result, and the results are posted to the Metadata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B6878-F0D0-FE1A-1C9A-432144E76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471" y="2412024"/>
            <a:ext cx="7297336" cy="385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9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A49E-2970-7C8A-235B-0366816B3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Apache Airflow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04059-3F4E-6E15-03F9-A80B4E791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4442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See ‘docker-</a:t>
            </a:r>
            <a:r>
              <a:rPr lang="en-US" dirty="0" err="1"/>
              <a:t>compose.yaml</a:t>
            </a:r>
            <a:r>
              <a:rPr lang="en-US" dirty="0"/>
              <a:t>’ in your course materials</a:t>
            </a:r>
          </a:p>
          <a:p>
            <a:r>
              <a:rPr lang="en-US" dirty="0"/>
              <a:t>This file is pre-configured to install and run Airflow locally via Docker containers – it shouldn’t be used in prod</a:t>
            </a:r>
          </a:p>
          <a:p>
            <a:r>
              <a:rPr lang="en-US" dirty="0"/>
              <a:t>The file is a modified version of he official docker-</a:t>
            </a:r>
            <a:r>
              <a:rPr lang="en-US" dirty="0" err="1"/>
              <a:t>compose.yaml</a:t>
            </a:r>
            <a:r>
              <a:rPr lang="en-US" dirty="0"/>
              <a:t> provided from Airflow:</a:t>
            </a:r>
          </a:p>
          <a:p>
            <a:pPr lvl="1"/>
            <a:r>
              <a:rPr lang="en-US" dirty="0">
                <a:hlinkClick r:id="rId2"/>
              </a:rPr>
              <a:t>https://airflow.apache.org/docs/apache-airflow/stable/howto/docker-compose/index.html</a:t>
            </a:r>
            <a:endParaRPr lang="en-US" dirty="0"/>
          </a:p>
          <a:p>
            <a:r>
              <a:rPr lang="en-US" dirty="0"/>
              <a:t>Create a project folder in WSL, and place the </a:t>
            </a:r>
            <a:r>
              <a:rPr lang="en-US" dirty="0" err="1"/>
              <a:t>yaml</a:t>
            </a:r>
            <a:r>
              <a:rPr lang="en-US" dirty="0"/>
              <a:t> file inside</a:t>
            </a:r>
          </a:p>
          <a:p>
            <a:r>
              <a:rPr lang="en-US" dirty="0"/>
              <a:t>Create a </a:t>
            </a:r>
            <a:r>
              <a:rPr lang="en-US" dirty="0" err="1"/>
              <a:t>venv</a:t>
            </a:r>
            <a:r>
              <a:rPr lang="en-US" dirty="0"/>
              <a:t> with python 3.11 (as of this writing this version is compatible with the Airflow version we will use)</a:t>
            </a:r>
          </a:p>
          <a:p>
            <a:r>
              <a:rPr lang="en-US" dirty="0"/>
              <a:t>Commands with </a:t>
            </a:r>
            <a:r>
              <a:rPr lang="en-US" dirty="0" err="1"/>
              <a:t>uv</a:t>
            </a:r>
            <a:r>
              <a:rPr lang="en-US" dirty="0"/>
              <a:t> (in your project folder):</a:t>
            </a:r>
          </a:p>
          <a:p>
            <a:pPr lvl="1"/>
            <a:r>
              <a:rPr lang="en-US" dirty="0" err="1"/>
              <a:t>uv</a:t>
            </a:r>
            <a:r>
              <a:rPr lang="en-US" dirty="0"/>
              <a:t> </a:t>
            </a:r>
            <a:r>
              <a:rPr lang="en-US" dirty="0" err="1"/>
              <a:t>venv</a:t>
            </a:r>
            <a:r>
              <a:rPr lang="en-US" dirty="0"/>
              <a:t> –python 3.11</a:t>
            </a:r>
          </a:p>
          <a:p>
            <a:pPr lvl="1"/>
            <a:r>
              <a:rPr lang="en-US" dirty="0"/>
              <a:t>source .</a:t>
            </a:r>
            <a:r>
              <a:rPr lang="en-US" dirty="0" err="1"/>
              <a:t>venv</a:t>
            </a:r>
            <a:r>
              <a:rPr lang="en-US" dirty="0"/>
              <a:t>/vin/activate</a:t>
            </a:r>
          </a:p>
          <a:p>
            <a:pPr lvl="1"/>
            <a:r>
              <a:rPr lang="en-US" dirty="0" err="1"/>
              <a:t>uv</a:t>
            </a:r>
            <a:r>
              <a:rPr lang="en-US" dirty="0"/>
              <a:t> pip install </a:t>
            </a:r>
            <a:r>
              <a:rPr lang="en-US" dirty="0" err="1"/>
              <a:t>apache</a:t>
            </a:r>
            <a:r>
              <a:rPr lang="en-US" dirty="0"/>
              <a:t>-airflow==3.0.0</a:t>
            </a:r>
          </a:p>
          <a:p>
            <a:pPr lvl="1"/>
            <a:r>
              <a:rPr lang="en-US" dirty="0"/>
              <a:t>docker compose up (this will take a while the first time as the images are downloaded!) </a:t>
            </a:r>
          </a:p>
          <a:p>
            <a:pPr lvl="1"/>
            <a:r>
              <a:rPr lang="en-US" dirty="0"/>
              <a:t>Airflow UI is exposed at localhost:8080 – the default username=airflow password=airflow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851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7754-8D0C-8134-87B3-208CA0D7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mini-project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A0888-0575-1A29-42E3-4CE83703E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714610"/>
          </a:xfrm>
        </p:spPr>
        <p:txBody>
          <a:bodyPr/>
          <a:lstStyle/>
          <a:p>
            <a:r>
              <a:rPr lang="en-US" dirty="0"/>
              <a:t>We will create a multi-step DAG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A64D30-CBA7-11D5-8431-B296D840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39" y="4127624"/>
            <a:ext cx="9993120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63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8EBB-E3A7-024F-4DBC-F115012E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DAG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FA98-BE27-9092-FBE3-AE9044602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78367"/>
            <a:ext cx="11029615" cy="6734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Use the @dag decorator </a:t>
            </a:r>
          </a:p>
          <a:p>
            <a:r>
              <a:rPr lang="en-US" dirty="0" err="1"/>
              <a:t>Dags</a:t>
            </a:r>
            <a:r>
              <a:rPr lang="en-US" dirty="0"/>
              <a:t> go in the ‘</a:t>
            </a:r>
            <a:r>
              <a:rPr lang="en-US" dirty="0" err="1"/>
              <a:t>dags’</a:t>
            </a:r>
            <a:r>
              <a:rPr lang="en-US" dirty="0"/>
              <a:t> folder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1D877-642B-F73D-7BD9-4EEA60204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192" y="2714226"/>
            <a:ext cx="8147615" cy="413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736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40A7-A8A8-029C-6787-0E4B85DB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EEC02-F3AC-2374-9EBF-4C30138C2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584574" cy="3678303"/>
          </a:xfrm>
        </p:spPr>
        <p:txBody>
          <a:bodyPr/>
          <a:lstStyle/>
          <a:p>
            <a:r>
              <a:rPr lang="en-US" dirty="0"/>
              <a:t>In Airflow UI we create connections to access databases, snowflake, etc. </a:t>
            </a:r>
          </a:p>
          <a:p>
            <a:r>
              <a:rPr lang="en-US" dirty="0"/>
              <a:t>Admin &gt; Connections </a:t>
            </a:r>
          </a:p>
          <a:p>
            <a:r>
              <a:rPr lang="en-US" dirty="0"/>
              <a:t>Note the matching connection ID from our last slide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F9606-A4DC-A7BA-C87F-BBA20EA28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5776" y="2180496"/>
            <a:ext cx="6351920" cy="419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04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A547-5F9C-29A9-FE2D-4A82950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D11B3-29F3-D216-2FC5-5E2BD062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9211393" cy="3678303"/>
          </a:xfrm>
        </p:spPr>
        <p:txBody>
          <a:bodyPr/>
          <a:lstStyle/>
          <a:p>
            <a:r>
              <a:rPr lang="en-US" dirty="0"/>
              <a:t>When adding connections, let’s say a technology is missing which you would like to integrate</a:t>
            </a:r>
          </a:p>
          <a:p>
            <a:r>
              <a:rPr lang="en-US" dirty="0"/>
              <a:t>We can extend the functionality of Airflow with Providers</a:t>
            </a:r>
          </a:p>
          <a:p>
            <a:r>
              <a:rPr lang="en-US" dirty="0"/>
              <a:t>These are essentially pip packages we would install to add the functionality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BD27F-8A0D-4733-452D-709573E3F425}"/>
              </a:ext>
            </a:extLst>
          </p:cNvPr>
          <p:cNvSpPr txBox="1"/>
          <p:nvPr/>
        </p:nvSpPr>
        <p:spPr>
          <a:xfrm>
            <a:off x="3047011" y="2180496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https://airflow.apache.org/docs/apache-airflow-providers/</a:t>
            </a:r>
          </a:p>
        </p:txBody>
      </p:sp>
    </p:spTree>
    <p:extLst>
      <p:ext uri="{BB962C8B-B14F-4D97-AF65-F5344CB8AC3E}">
        <p14:creationId xmlns:p14="http://schemas.microsoft.com/office/powerpoint/2010/main" val="37887000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6B16-296C-E934-3A50-1CD044B6A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Test/schedule tasks directly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40B1-CF43-EC66-027C-FBD92D9BD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On docker desktop, select the scheduler and then ‘Exec’</a:t>
            </a:r>
          </a:p>
          <a:p>
            <a:r>
              <a:rPr lang="en-US" dirty="0"/>
              <a:t>/bin/bash </a:t>
            </a:r>
            <a:r>
              <a:rPr lang="en-US" dirty="0">
                <a:sym typeface="Wingdings" panose="05000000000000000000" pitchFamily="2" charset="2"/>
              </a:rPr>
              <a:t> access to scheduler CLI</a:t>
            </a:r>
          </a:p>
          <a:p>
            <a:r>
              <a:rPr lang="en-US" dirty="0">
                <a:sym typeface="Wingdings" panose="05000000000000000000" pitchFamily="2" charset="2"/>
              </a:rPr>
              <a:t>Airflow tasks test &lt;</a:t>
            </a:r>
            <a:r>
              <a:rPr lang="en-US" dirty="0" err="1">
                <a:sym typeface="Wingdings" panose="05000000000000000000" pitchFamily="2" charset="2"/>
              </a:rPr>
              <a:t>dag_name</a:t>
            </a:r>
            <a:r>
              <a:rPr lang="en-US" dirty="0">
                <a:sym typeface="Wingdings" panose="05000000000000000000" pitchFamily="2" charset="2"/>
              </a:rPr>
              <a:t>&gt; &lt;</a:t>
            </a:r>
            <a:r>
              <a:rPr lang="en-US" dirty="0" err="1">
                <a:sym typeface="Wingdings" panose="05000000000000000000" pitchFamily="2" charset="2"/>
              </a:rPr>
              <a:t>task_id</a:t>
            </a:r>
            <a:r>
              <a:rPr lang="en-US" dirty="0">
                <a:sym typeface="Wingdings" panose="05000000000000000000" pitchFamily="2" charset="2"/>
              </a:rPr>
              <a:t>&gt;  test a task to see what will happen, it will not save the metadata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7EC79-DB77-63CF-51C0-3C414EC0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3524693"/>
            <a:ext cx="8954750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079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8745-B221-7365-A544-CC750632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if an </a:t>
            </a:r>
            <a:r>
              <a:rPr lang="en-US" dirty="0" err="1"/>
              <a:t>api</a:t>
            </a:r>
            <a:r>
              <a:rPr lang="en-US" dirty="0"/>
              <a:t> is available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E918-E99F-50F0-3F78-EB0D7605B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746259" cy="3678303"/>
          </a:xfrm>
        </p:spPr>
        <p:txBody>
          <a:bodyPr/>
          <a:lstStyle/>
          <a:p>
            <a:r>
              <a:rPr lang="en-US" dirty="0"/>
              <a:t>There are many other helpful sensors that may come out of the box, instead of making our own </a:t>
            </a:r>
          </a:p>
          <a:p>
            <a:r>
              <a:rPr lang="en-US" dirty="0" err="1"/>
              <a:t>HttpSensor</a:t>
            </a:r>
            <a:r>
              <a:rPr lang="en-US" dirty="0"/>
              <a:t>, </a:t>
            </a:r>
            <a:r>
              <a:rPr lang="en-US" dirty="0" err="1"/>
              <a:t>FileSensor</a:t>
            </a:r>
            <a:r>
              <a:rPr lang="en-US" dirty="0"/>
              <a:t>, S3KeySensor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7C1F4-C795-F8A7-8DE1-B33B3B5F0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976" y="1869189"/>
            <a:ext cx="6083489" cy="483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884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9668-415F-3837-68E2-E929662C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data – classic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2909-B02C-4FB6-2DAE-AEC8A4A7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‘user_processing_old.py’ in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4056419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E30BC-AF48-7159-9628-A7082A39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user as a task - without </a:t>
            </a:r>
            <a:r>
              <a:rPr lang="en-US" dirty="0" err="1"/>
              <a:t>pythonoperator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D8CFC-BAF6-3858-527D-7AC953EEC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see ‘user_processing.py’ in your course materials </a:t>
            </a:r>
          </a:p>
          <a:p>
            <a:r>
              <a:rPr lang="en-US" dirty="0"/>
              <a:t>Also note the new task to write the data to csv </a:t>
            </a:r>
          </a:p>
          <a:p>
            <a:r>
              <a:rPr lang="en-US" dirty="0"/>
              <a:t>Let’s install an airflow Hook to programmatically interact with our </a:t>
            </a:r>
            <a:r>
              <a:rPr lang="en-US" dirty="0" err="1"/>
              <a:t>db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68832-72F0-F176-1FC5-BB552407F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33" y="4962436"/>
            <a:ext cx="10947932" cy="35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983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85A9-9D91-E494-6A3A-06B6CFB9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 up task dependencies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5DF5A7-C158-E04B-9928-BEBEE8B08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6527" y="2062473"/>
            <a:ext cx="6978946" cy="455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697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9A46C-0655-66E7-4ED5-5A00F455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task dependencies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6D4DB-DD1A-5C30-869F-45D88E55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85" y="2386940"/>
            <a:ext cx="10989030" cy="346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50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9C442-C834-9973-1863-3C8327B3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93362-9010-70D7-1084-90787AC4C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216122"/>
            <a:ext cx="4822080" cy="3678303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204D5-A1E5-8548-19C0-AA68EA61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0779" y="2970844"/>
            <a:ext cx="5559967" cy="253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77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1D10-A974-EDC9-E83C-8FB668B4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dependent assets &amp; dependent </a:t>
            </a:r>
            <a:r>
              <a:rPr lang="en-US" dirty="0" err="1"/>
              <a:t>dags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3BE4B-2173-F118-8861-3B22BFBA3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8177" y="1923052"/>
            <a:ext cx="6899313" cy="477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B5462E-683C-6302-8E75-54409456AB26}"/>
              </a:ext>
            </a:extLst>
          </p:cNvPr>
          <p:cNvSpPr txBox="1"/>
          <p:nvPr/>
        </p:nvSpPr>
        <p:spPr>
          <a:xfrm>
            <a:off x="8336477" y="3664717"/>
            <a:ext cx="30400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the left is Airflow 2.x, and on the right is Airflow 3.x</a:t>
            </a:r>
          </a:p>
          <a:p>
            <a:endParaRPr lang="en-US" dirty="0"/>
          </a:p>
          <a:p>
            <a:r>
              <a:rPr lang="en-US" dirty="0"/>
              <a:t>Airflow 2.x = Datasets </a:t>
            </a:r>
          </a:p>
          <a:p>
            <a:r>
              <a:rPr lang="en-US" dirty="0"/>
              <a:t>Airflow 3.x = Assets </a:t>
            </a:r>
          </a:p>
        </p:txBody>
      </p:sp>
    </p:spTree>
    <p:extLst>
      <p:ext uri="{BB962C8B-B14F-4D97-AF65-F5344CB8AC3E}">
        <p14:creationId xmlns:p14="http://schemas.microsoft.com/office/powerpoint/2010/main" val="1278410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9477</TotalTime>
  <Words>1208</Words>
  <Application>Microsoft Office PowerPoint</Application>
  <PresentationFormat>Widescreen</PresentationFormat>
  <Paragraphs>118</Paragraphs>
  <Slides>26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Gill Sans MT</vt:lpstr>
      <vt:lpstr>Wingdings</vt:lpstr>
      <vt:lpstr>Wingdings 2</vt:lpstr>
      <vt:lpstr>Dividend</vt:lpstr>
      <vt:lpstr>Airflow</vt:lpstr>
      <vt:lpstr>Prerequisites</vt:lpstr>
      <vt:lpstr>Airflow</vt:lpstr>
      <vt:lpstr>Airflow – more features / benefits</vt:lpstr>
      <vt:lpstr>Airflow UI</vt:lpstr>
      <vt:lpstr>Airflow - extensibility</vt:lpstr>
      <vt:lpstr>Airflow components </vt:lpstr>
      <vt:lpstr>Airflow – concepts</vt:lpstr>
      <vt:lpstr>Airflow is not…</vt:lpstr>
      <vt:lpstr>Airflow single node Architecture</vt:lpstr>
      <vt:lpstr>Airflow multi-node architecture</vt:lpstr>
      <vt:lpstr>Runtime execution</vt:lpstr>
      <vt:lpstr>Installing Apache Airflow</vt:lpstr>
      <vt:lpstr>Our mini-project</vt:lpstr>
      <vt:lpstr>Defining a DAG</vt:lpstr>
      <vt:lpstr>Adding connections</vt:lpstr>
      <vt:lpstr>Providers</vt:lpstr>
      <vt:lpstr>Test/schedule tasks directly </vt:lpstr>
      <vt:lpstr>Check if an api is available </vt:lpstr>
      <vt:lpstr>Extracting data – classic way</vt:lpstr>
      <vt:lpstr>Extract user as a task - without pythonoperator</vt:lpstr>
      <vt:lpstr>Cleaning up task dependencies</vt:lpstr>
      <vt:lpstr>Setting task dependencies</vt:lpstr>
      <vt:lpstr>Assets</vt:lpstr>
      <vt:lpstr>Working with dependent assets &amp; dependent dags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613</cp:revision>
  <dcterms:created xsi:type="dcterms:W3CDTF">2025-02-12T19:53:45Z</dcterms:created>
  <dcterms:modified xsi:type="dcterms:W3CDTF">2026-07-31T17:57:38Z</dcterms:modified>
</cp:coreProperties>
</file>