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307" r:id="rId3"/>
    <p:sldId id="308" r:id="rId4"/>
    <p:sldId id="309" r:id="rId5"/>
    <p:sldId id="310" r:id="rId6"/>
    <p:sldId id="311" r:id="rId7"/>
    <p:sldId id="312" r:id="rId8"/>
    <p:sldId id="313" r:id="rId9"/>
    <p:sldId id="314" r:id="rId10"/>
    <p:sldId id="315" r:id="rId11"/>
    <p:sldId id="316" r:id="rId12"/>
    <p:sldId id="317" r:id="rId13"/>
    <p:sldId id="331" r:id="rId14"/>
    <p:sldId id="318" r:id="rId15"/>
    <p:sldId id="327" r:id="rId16"/>
    <p:sldId id="319" r:id="rId17"/>
    <p:sldId id="320" r:id="rId18"/>
    <p:sldId id="321" r:id="rId19"/>
    <p:sldId id="322" r:id="rId20"/>
    <p:sldId id="323" r:id="rId21"/>
    <p:sldId id="324" r:id="rId22"/>
    <p:sldId id="325" r:id="rId23"/>
    <p:sldId id="326" r:id="rId24"/>
    <p:sldId id="328" r:id="rId25"/>
    <p:sldId id="329" r:id="rId26"/>
    <p:sldId id="330" r:id="rId27"/>
    <p:sldId id="332" r:id="rId28"/>
    <p:sldId id="262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8EF453-3095-AE8A-2F6D-B0378CA79EC1}" v="28" dt="2025-06-02T16:07:27.587"/>
    <p1510:client id="{DEF17522-F9FC-8578-697D-16CF15692E13}" v="5" dt="2025-06-03T14:51:56.48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60" d="100"/>
          <a:sy n="60" d="100"/>
        </p:scale>
        <p:origin x="648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7/31/2026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113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87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7/31/2026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7/31/2026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09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7/31/2026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48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7/31/2026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988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7/31/2026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9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7/31/2026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710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7/31/2026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71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061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7/31/2026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5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7/31/2026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15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airflow.apache.org/docs/apache-airflow/stable/howto/docker-compose/index.html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Airflow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263A4-EA97-6B41-2683-417DA05CB6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Prerequisites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2185DE-62EF-B7A6-2BD2-989F5F7FB0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Docker</a:t>
            </a:r>
          </a:p>
          <a:p>
            <a:r>
              <a:rPr lang="en-US" dirty="0"/>
              <a:t>Python</a:t>
            </a:r>
          </a:p>
          <a:p>
            <a:pPr lvl="1"/>
            <a:r>
              <a:rPr lang="en-US" dirty="0"/>
              <a:t>Recommend </a:t>
            </a:r>
            <a:r>
              <a:rPr lang="en-US" dirty="0" err="1"/>
              <a:t>uv</a:t>
            </a:r>
            <a:r>
              <a:rPr lang="en-US" dirty="0"/>
              <a:t> for package management / build tool (installed in WSL)</a:t>
            </a:r>
          </a:p>
          <a:p>
            <a:pPr lvl="1"/>
            <a:r>
              <a:rPr lang="en-US" dirty="0"/>
              <a:t>https://github.com/astral-sh/uv</a:t>
            </a:r>
          </a:p>
        </p:txBody>
      </p:sp>
    </p:spTree>
    <p:extLst>
      <p:ext uri="{BB962C8B-B14F-4D97-AF65-F5344CB8AC3E}">
        <p14:creationId xmlns:p14="http://schemas.microsoft.com/office/powerpoint/2010/main" val="37629283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F0CAB2-5CEC-4837-14AB-116C4147A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Airflow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08CF66-B1DD-DED8-3297-089A1C7063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Apache Airflow is an open source platform to programmatically author, schedule, and monitor workflows:</a:t>
            </a:r>
          </a:p>
          <a:p>
            <a:pPr lvl="1"/>
            <a:r>
              <a:rPr lang="en-US" dirty="0"/>
              <a:t>Set the order of our tasks</a:t>
            </a:r>
          </a:p>
          <a:p>
            <a:pPr lvl="1"/>
            <a:r>
              <a:rPr lang="en-US" dirty="0"/>
              <a:t>Make sure each task only starts when the previous ones are done</a:t>
            </a:r>
          </a:p>
          <a:p>
            <a:pPr lvl="1"/>
            <a:r>
              <a:rPr lang="en-US" dirty="0"/>
              <a:t>Control the timing of the entire data process </a:t>
            </a:r>
          </a:p>
          <a:p>
            <a:r>
              <a:rPr lang="en-US" dirty="0"/>
              <a:t>Example: You need to collect data from a database, clean it, perform calculations, and then generate a report</a:t>
            </a:r>
          </a:p>
          <a:p>
            <a:r>
              <a:rPr lang="en-US" dirty="0"/>
              <a:t>Airflow helps us define this sequence and makes sure each step happens in the correct order, even if some tasks take longer than others</a:t>
            </a:r>
          </a:p>
        </p:txBody>
      </p:sp>
    </p:spTree>
    <p:extLst>
      <p:ext uri="{BB962C8B-B14F-4D97-AF65-F5344CB8AC3E}">
        <p14:creationId xmlns:p14="http://schemas.microsoft.com/office/powerpoint/2010/main" val="10699748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19BA59-2103-07DB-AAF5-A136775BDE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Airflow – more features / benefits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C7AC93-3E88-368E-8F2B-61629F14E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Python-based </a:t>
            </a:r>
          </a:p>
          <a:p>
            <a:r>
              <a:rPr lang="en-US" dirty="0"/>
              <a:t>Dynamic tasks – generate tasks based on dynamic inputs</a:t>
            </a:r>
          </a:p>
          <a:p>
            <a:r>
              <a:rPr lang="en-US" dirty="0"/>
              <a:t>Dynamic workflows – generates workflows based on static inputs</a:t>
            </a:r>
          </a:p>
          <a:p>
            <a:r>
              <a:rPr lang="en-US" dirty="0"/>
              <a:t>Branching – execute different sets of tasks based on a condition or result </a:t>
            </a:r>
          </a:p>
          <a:p>
            <a:r>
              <a:rPr lang="en-US" dirty="0"/>
              <a:t>Example: If yesterday’s sales data was higher than normal, Airflow could automatically add extra tasks to process every sale, without you having to manually change anything </a:t>
            </a:r>
          </a:p>
          <a:p>
            <a:r>
              <a:rPr lang="en-US" dirty="0"/>
              <a:t>Has a visual dashboard where you can see and control your tasks and workflows</a:t>
            </a:r>
          </a:p>
        </p:txBody>
      </p:sp>
    </p:spTree>
    <p:extLst>
      <p:ext uri="{BB962C8B-B14F-4D97-AF65-F5344CB8AC3E}">
        <p14:creationId xmlns:p14="http://schemas.microsoft.com/office/powerpoint/2010/main" val="14865876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7BD847-6446-D60D-2A3F-569126C039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Airflow UI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053FA6-6013-B49B-BA0C-D8AD266B2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Monitor and troubleshoot workflows</a:t>
            </a:r>
          </a:p>
          <a:p>
            <a:r>
              <a:rPr lang="en-US" dirty="0"/>
              <a:t>Highlight relationships between workflows and tasks</a:t>
            </a:r>
          </a:p>
          <a:p>
            <a:r>
              <a:rPr lang="en-US" dirty="0"/>
              <a:t>Identify bottlenecks with performance metrics</a:t>
            </a:r>
          </a:p>
          <a:p>
            <a:r>
              <a:rPr lang="en-US" dirty="0"/>
              <a:t>Manage users and roles of your Airflow instance</a:t>
            </a:r>
          </a:p>
        </p:txBody>
      </p:sp>
    </p:spTree>
    <p:extLst>
      <p:ext uri="{BB962C8B-B14F-4D97-AF65-F5344CB8AC3E}">
        <p14:creationId xmlns:p14="http://schemas.microsoft.com/office/powerpoint/2010/main" val="4106726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F83768-9AB5-D0F6-549E-A76E132DD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Airflow - extensibility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F38DD1-0845-C8D1-1DBF-E11781D691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providers: package with functions to interact with a tool or service (AWS, Snowflake, </a:t>
            </a:r>
            <a:r>
              <a:rPr lang="en-US" dirty="0" err="1"/>
              <a:t>ect</a:t>
            </a:r>
            <a:r>
              <a:rPr lang="en-US" dirty="0"/>
              <a:t>)</a:t>
            </a:r>
          </a:p>
          <a:p>
            <a:r>
              <a:rPr lang="en-US" dirty="0"/>
              <a:t>Customizable UI</a:t>
            </a:r>
          </a:p>
          <a:p>
            <a:r>
              <a:rPr lang="en-US" dirty="0"/>
              <a:t>Customize existing functions </a:t>
            </a:r>
          </a:p>
        </p:txBody>
      </p:sp>
    </p:spTree>
    <p:extLst>
      <p:ext uri="{BB962C8B-B14F-4D97-AF65-F5344CB8AC3E}">
        <p14:creationId xmlns:p14="http://schemas.microsoft.com/office/powerpoint/2010/main" val="2249866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3F9647-0A85-615D-9F82-68D938082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Airflow components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1D7AB-5363-014A-2688-AC9A6B692D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998921"/>
            <a:ext cx="11029615" cy="4508205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The </a:t>
            </a:r>
            <a:r>
              <a:rPr lang="en-US" dirty="0">
                <a:solidFill>
                  <a:schemeClr val="accent2"/>
                </a:solidFill>
              </a:rPr>
              <a:t>metadata database </a:t>
            </a:r>
            <a:r>
              <a:rPr lang="en-US" dirty="0"/>
              <a:t>– stores info about your tasks and their status</a:t>
            </a:r>
          </a:p>
          <a:p>
            <a:r>
              <a:rPr lang="en-US" dirty="0"/>
              <a:t>The </a:t>
            </a:r>
            <a:r>
              <a:rPr lang="en-US" dirty="0">
                <a:solidFill>
                  <a:schemeClr val="accent2"/>
                </a:solidFill>
              </a:rPr>
              <a:t>scheduler</a:t>
            </a:r>
            <a:r>
              <a:rPr lang="en-US" dirty="0"/>
              <a:t> – determines when tasks should run</a:t>
            </a:r>
          </a:p>
          <a:p>
            <a:r>
              <a:rPr lang="en-US" dirty="0"/>
              <a:t>The DAG file processor – parses DAG files and serializes them into the metadata database; (internal, we don’t see this when running Airflow)</a:t>
            </a:r>
          </a:p>
          <a:p>
            <a:pPr lvl="1"/>
            <a:r>
              <a:rPr lang="en-US" dirty="0"/>
              <a:t>Transforms Python workflow definitions into structured execution plans that Airflow’s scheduler can efficiently run</a:t>
            </a:r>
          </a:p>
          <a:p>
            <a:pPr lvl="1"/>
            <a:r>
              <a:rPr lang="en-US" dirty="0"/>
              <a:t>Used to be a part of the scheduler, now it’s a separate component for scalability and security reasons </a:t>
            </a:r>
          </a:p>
          <a:p>
            <a:r>
              <a:rPr lang="en-US" dirty="0"/>
              <a:t>The Executor – determines how your tasks will be run, deciding whether to run them in sequence or parallel, and on which system; (internal, we don’t see this when running Airflow)</a:t>
            </a:r>
          </a:p>
          <a:p>
            <a:r>
              <a:rPr lang="en-US" dirty="0"/>
              <a:t>The </a:t>
            </a:r>
            <a:r>
              <a:rPr lang="en-US" dirty="0">
                <a:solidFill>
                  <a:schemeClr val="accent2"/>
                </a:solidFill>
              </a:rPr>
              <a:t>API server </a:t>
            </a:r>
            <a:r>
              <a:rPr lang="en-US" dirty="0"/>
              <a:t>– provides endpoints for task operations, i.e. start/stop tasks; Serves our UI </a:t>
            </a:r>
          </a:p>
          <a:p>
            <a:r>
              <a:rPr lang="en-US" dirty="0"/>
              <a:t>The </a:t>
            </a:r>
            <a:r>
              <a:rPr lang="en-US" dirty="0">
                <a:solidFill>
                  <a:schemeClr val="accent2"/>
                </a:solidFill>
              </a:rPr>
              <a:t>Worker</a:t>
            </a:r>
            <a:r>
              <a:rPr lang="en-US" dirty="0"/>
              <a:t> – the processes that actually perform tasks </a:t>
            </a:r>
          </a:p>
          <a:p>
            <a:r>
              <a:rPr lang="en-US" dirty="0"/>
              <a:t>The Queue – list of tasks waiting to be executed; (internal, we don’t see this when running Airflow) </a:t>
            </a:r>
          </a:p>
          <a:p>
            <a:r>
              <a:rPr lang="en-US" dirty="0"/>
              <a:t>The </a:t>
            </a:r>
            <a:r>
              <a:rPr lang="en-US" dirty="0" err="1"/>
              <a:t>Triggerer</a:t>
            </a:r>
            <a:r>
              <a:rPr lang="en-US" dirty="0"/>
              <a:t> – responsible for managing deferrable tasks; Allows Airflow to handle tasks that depend on external factors without blocking other processes (Advanced)</a:t>
            </a:r>
          </a:p>
        </p:txBody>
      </p:sp>
    </p:spTree>
    <p:extLst>
      <p:ext uri="{BB962C8B-B14F-4D97-AF65-F5344CB8AC3E}">
        <p14:creationId xmlns:p14="http://schemas.microsoft.com/office/powerpoint/2010/main" val="22824601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46075-7C0C-6AFB-EA61-36034FA71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Airflow – concepts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D1637F-99A8-712D-B73D-5A031F8C32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082081"/>
          </a:xfrm>
        </p:spPr>
        <p:txBody>
          <a:bodyPr/>
          <a:lstStyle/>
          <a:p>
            <a:r>
              <a:rPr lang="en-US" dirty="0"/>
              <a:t>DAG – Directed Acyclic Graphs define tasks and their dependencies</a:t>
            </a:r>
          </a:p>
          <a:p>
            <a:r>
              <a:rPr lang="en-US" dirty="0"/>
              <a:t>Operator – defines a single, ideally idempotent, task in your DAG</a:t>
            </a:r>
          </a:p>
          <a:p>
            <a:pPr lvl="1"/>
            <a:r>
              <a:rPr lang="en-US" dirty="0"/>
              <a:t>Airflow has thousands of Operators such as: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PythonOperator</a:t>
            </a:r>
            <a:r>
              <a:rPr lang="en-US" dirty="0"/>
              <a:t> to execute a Python script or function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BashOperator</a:t>
            </a:r>
            <a:r>
              <a:rPr lang="en-US" dirty="0"/>
              <a:t> to execute a Bash script or command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SQLExecuteQueryOperator</a:t>
            </a:r>
            <a:r>
              <a:rPr lang="en-US" dirty="0"/>
              <a:t> to execute a SQL query to a database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FileSensor</a:t>
            </a:r>
            <a:r>
              <a:rPr lang="en-US" dirty="0"/>
              <a:t> to wait for a file</a:t>
            </a:r>
          </a:p>
          <a:p>
            <a:r>
              <a:rPr lang="en-US" dirty="0"/>
              <a:t>Task – specific instance of an operator. When an operator is assigned to a DAG, it becomes a task. </a:t>
            </a:r>
          </a:p>
          <a:p>
            <a:r>
              <a:rPr lang="en-US" dirty="0"/>
              <a:t>Workflow – the entire process defined by your DAG, including all tasks and dependencies</a:t>
            </a:r>
          </a:p>
        </p:txBody>
      </p:sp>
    </p:spTree>
    <p:extLst>
      <p:ext uri="{BB962C8B-B14F-4D97-AF65-F5344CB8AC3E}">
        <p14:creationId xmlns:p14="http://schemas.microsoft.com/office/powerpoint/2010/main" val="26634411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B01277-B6E0-0662-F0B5-599577FCD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Airflow is not…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18E21E-5387-8E9D-16CF-04B550757F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2710481"/>
          </a:xfrm>
        </p:spPr>
        <p:txBody>
          <a:bodyPr>
            <a:normAutofit/>
          </a:bodyPr>
          <a:lstStyle/>
          <a:p>
            <a:r>
              <a:rPr lang="en-US" dirty="0"/>
              <a:t>Airflow is not:</a:t>
            </a:r>
          </a:p>
          <a:p>
            <a:pPr lvl="1"/>
            <a:r>
              <a:rPr lang="en-US" dirty="0"/>
              <a:t>a data processing framework</a:t>
            </a:r>
          </a:p>
          <a:p>
            <a:pPr lvl="1"/>
            <a:r>
              <a:rPr lang="en-US" dirty="0"/>
              <a:t>a real-time streaming solution</a:t>
            </a:r>
          </a:p>
          <a:p>
            <a:pPr lvl="1"/>
            <a:r>
              <a:rPr lang="en-US" dirty="0"/>
              <a:t>a data storage system</a:t>
            </a:r>
          </a:p>
        </p:txBody>
      </p:sp>
    </p:spTree>
    <p:extLst>
      <p:ext uri="{BB962C8B-B14F-4D97-AF65-F5344CB8AC3E}">
        <p14:creationId xmlns:p14="http://schemas.microsoft.com/office/powerpoint/2010/main" val="24347361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621E21-580D-05B1-1E58-142765937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Airflow single node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8A0DE7-E626-7376-78FF-02B4BAACF9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2648896" cy="3934937"/>
          </a:xfrm>
        </p:spPr>
        <p:txBody>
          <a:bodyPr/>
          <a:lstStyle/>
          <a:p>
            <a:r>
              <a:rPr lang="en-US" dirty="0"/>
              <a:t>This is fine for running locally or for smaller projects</a:t>
            </a:r>
          </a:p>
          <a:p>
            <a:r>
              <a:rPr lang="en-US" dirty="0"/>
              <a:t>Not scalable for heavy production workflows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89C13F7-30E1-44C2-E7DB-2715E4E38E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1230" y="2180496"/>
            <a:ext cx="7649577" cy="3934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76469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00578D-F4C9-549D-F392-140518F717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Airflow multi-node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E7E074-96A3-537C-7263-8B273AB33D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1912626" cy="3975347"/>
          </a:xfrm>
        </p:spPr>
        <p:txBody>
          <a:bodyPr/>
          <a:lstStyle/>
          <a:p>
            <a:r>
              <a:rPr lang="en-US" dirty="0"/>
              <a:t>Scalable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43A510-881C-6638-0792-BC369158C5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3819" y="2053740"/>
            <a:ext cx="9105073" cy="4228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45227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80A74-4C33-C326-F5B3-9E512C470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execution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8CF5B9-72FB-A4BF-2E6E-57F44EEF3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3349539" cy="435093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The scheduler produces a task instance object</a:t>
            </a:r>
          </a:p>
          <a:p>
            <a:r>
              <a:rPr lang="en-US" dirty="0"/>
              <a:t>This object starts with a state of “Scheduled” </a:t>
            </a:r>
          </a:p>
          <a:p>
            <a:r>
              <a:rPr lang="en-US" dirty="0"/>
              <a:t>The scheduler sends the task object to the executor which queues up the task and marks its state to “Queued” </a:t>
            </a:r>
          </a:p>
          <a:p>
            <a:r>
              <a:rPr lang="en-US" dirty="0"/>
              <a:t>A worker pulls the task from the Queue, updates it status to “Running” until it completes the job, then the status is marked as “Success”, “Failed”, “Skipped”, etc. </a:t>
            </a:r>
          </a:p>
          <a:p>
            <a:r>
              <a:rPr lang="en-US" dirty="0"/>
              <a:t>The worker notifies the API server of the result, and the results are posted to the Metadata Database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2B6878-F0D0-FE1A-1C9A-432144E76D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3471" y="2412024"/>
            <a:ext cx="7297336" cy="3852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40975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B52A52-FC83-8D6E-8B72-08223560C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Running Airflow in the cloud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EB3CBC-935E-AB97-4B5F-2C2744E162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Just like how Kafka could be run in the cloud with Amazon MSK, or </a:t>
            </a:r>
            <a:r>
              <a:rPr lang="en-US" dirty="0" err="1"/>
              <a:t>pyspark</a:t>
            </a:r>
            <a:r>
              <a:rPr lang="en-US" dirty="0"/>
              <a:t> could be run in the cloud with Amazon EMR, there are also managed cloud options for Airflow</a:t>
            </a:r>
          </a:p>
          <a:p>
            <a:r>
              <a:rPr lang="en-US" dirty="0"/>
              <a:t>The Amazon service for Airflow is called Amazon MWAA (managed workflows for Apache Airflow)</a:t>
            </a:r>
          </a:p>
          <a:p>
            <a:pPr lvl="1"/>
            <a:r>
              <a:rPr lang="en-US" dirty="0"/>
              <a:t>You just write your </a:t>
            </a:r>
            <a:r>
              <a:rPr lang="en-US" dirty="0" err="1"/>
              <a:t>dags</a:t>
            </a:r>
            <a:r>
              <a:rPr lang="en-US" dirty="0"/>
              <a:t> and cluster management is handled for us</a:t>
            </a:r>
          </a:p>
        </p:txBody>
      </p:sp>
    </p:spTree>
    <p:extLst>
      <p:ext uri="{BB962C8B-B14F-4D97-AF65-F5344CB8AC3E}">
        <p14:creationId xmlns:p14="http://schemas.microsoft.com/office/powerpoint/2010/main" val="33952688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6A49E-2970-7C8A-235B-0366816B31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Installing Apache Airflow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004059-3F4E-6E15-03F9-A80B4E7914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444422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See ‘docker-</a:t>
            </a:r>
            <a:r>
              <a:rPr lang="en-US" dirty="0" err="1"/>
              <a:t>compose.yaml</a:t>
            </a:r>
            <a:r>
              <a:rPr lang="en-US" dirty="0"/>
              <a:t>’ in your course materials</a:t>
            </a:r>
          </a:p>
          <a:p>
            <a:r>
              <a:rPr lang="en-US" dirty="0"/>
              <a:t>This file is pre-configured to install and run Airflow locally via Docker containers – it shouldn’t be used in prod</a:t>
            </a:r>
          </a:p>
          <a:p>
            <a:r>
              <a:rPr lang="en-US" dirty="0"/>
              <a:t>The file is a modified version of he official docker-</a:t>
            </a:r>
            <a:r>
              <a:rPr lang="en-US" dirty="0" err="1"/>
              <a:t>compose.yaml</a:t>
            </a:r>
            <a:r>
              <a:rPr lang="en-US" dirty="0"/>
              <a:t> provided from Airflow:</a:t>
            </a:r>
          </a:p>
          <a:p>
            <a:pPr lvl="1"/>
            <a:r>
              <a:rPr lang="en-US" dirty="0">
                <a:hlinkClick r:id="rId2"/>
              </a:rPr>
              <a:t>https://airflow.apache.org/docs/apache-airflow/stable/howto/docker-compose/index.html</a:t>
            </a:r>
            <a:endParaRPr lang="en-US" dirty="0"/>
          </a:p>
          <a:p>
            <a:r>
              <a:rPr lang="en-US" dirty="0"/>
              <a:t>Create a project folder in WSL, and place the </a:t>
            </a:r>
            <a:r>
              <a:rPr lang="en-US" dirty="0" err="1"/>
              <a:t>yaml</a:t>
            </a:r>
            <a:r>
              <a:rPr lang="en-US" dirty="0"/>
              <a:t> file inside</a:t>
            </a:r>
          </a:p>
          <a:p>
            <a:r>
              <a:rPr lang="en-US" dirty="0"/>
              <a:t>Create a </a:t>
            </a:r>
            <a:r>
              <a:rPr lang="en-US" dirty="0" err="1"/>
              <a:t>venv</a:t>
            </a:r>
            <a:r>
              <a:rPr lang="en-US" dirty="0"/>
              <a:t> with python 3.11 (as of this writing this version is compatible with the Airflow version we will use)</a:t>
            </a:r>
          </a:p>
          <a:p>
            <a:r>
              <a:rPr lang="en-US" dirty="0"/>
              <a:t>Commands with </a:t>
            </a:r>
            <a:r>
              <a:rPr lang="en-US" dirty="0" err="1"/>
              <a:t>uv</a:t>
            </a:r>
            <a:r>
              <a:rPr lang="en-US" dirty="0"/>
              <a:t> (in your project folder):</a:t>
            </a:r>
          </a:p>
          <a:p>
            <a:pPr lvl="1"/>
            <a:r>
              <a:rPr lang="en-US" dirty="0" err="1"/>
              <a:t>uv</a:t>
            </a:r>
            <a:r>
              <a:rPr lang="en-US" dirty="0"/>
              <a:t> </a:t>
            </a:r>
            <a:r>
              <a:rPr lang="en-US" dirty="0" err="1"/>
              <a:t>venv</a:t>
            </a:r>
            <a:r>
              <a:rPr lang="en-US" dirty="0"/>
              <a:t> –python 3.11</a:t>
            </a:r>
          </a:p>
          <a:p>
            <a:pPr lvl="1"/>
            <a:r>
              <a:rPr lang="en-US" dirty="0"/>
              <a:t>source .</a:t>
            </a:r>
            <a:r>
              <a:rPr lang="en-US" dirty="0" err="1"/>
              <a:t>venv</a:t>
            </a:r>
            <a:r>
              <a:rPr lang="en-US" dirty="0"/>
              <a:t>/vin/activate</a:t>
            </a:r>
          </a:p>
          <a:p>
            <a:pPr lvl="1"/>
            <a:r>
              <a:rPr lang="en-US" dirty="0" err="1"/>
              <a:t>uv</a:t>
            </a:r>
            <a:r>
              <a:rPr lang="en-US" dirty="0"/>
              <a:t> pip install </a:t>
            </a:r>
            <a:r>
              <a:rPr lang="en-US" dirty="0" err="1"/>
              <a:t>apache</a:t>
            </a:r>
            <a:r>
              <a:rPr lang="en-US" dirty="0"/>
              <a:t>-airflow==3.0.0</a:t>
            </a:r>
          </a:p>
          <a:p>
            <a:pPr lvl="1"/>
            <a:r>
              <a:rPr lang="en-US" dirty="0"/>
              <a:t>docker compose up (this will take a while the first time as the images are downloaded!) </a:t>
            </a:r>
          </a:p>
          <a:p>
            <a:pPr lvl="1"/>
            <a:r>
              <a:rPr lang="en-US" dirty="0"/>
              <a:t>Airflow UI is exposed at localhost:8080 – the default username=airflow password=airflow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28512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D7754-8D0C-8134-87B3-208CA0D73E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Our mini-project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2A0888-0575-1A29-42E3-4CE83703E2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714610"/>
          </a:xfrm>
        </p:spPr>
        <p:txBody>
          <a:bodyPr/>
          <a:lstStyle/>
          <a:p>
            <a:r>
              <a:rPr lang="en-US" dirty="0"/>
              <a:t>We will create a multi-step DAG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A64D30-CBA7-11D5-8431-B296D84039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9439" y="4127624"/>
            <a:ext cx="9993120" cy="1476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47630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A8EBB-E3A7-024F-4DBC-F115012E14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a DAG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C5FA98-BE27-9092-FBE3-AE9044602E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1878367"/>
            <a:ext cx="11029615" cy="67344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Use the @dag decorator </a:t>
            </a:r>
          </a:p>
          <a:p>
            <a:r>
              <a:rPr lang="en-US" dirty="0" err="1"/>
              <a:t>Dags</a:t>
            </a:r>
            <a:r>
              <a:rPr lang="en-US" dirty="0"/>
              <a:t> go in the ‘</a:t>
            </a:r>
            <a:r>
              <a:rPr lang="en-US" dirty="0" err="1"/>
              <a:t>dags’</a:t>
            </a:r>
            <a:r>
              <a:rPr lang="en-US" dirty="0"/>
              <a:t> folder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151D877-642B-F73D-7BD9-4EEA602042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2192" y="2714226"/>
            <a:ext cx="8147615" cy="4133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97368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8840A7-A8A8-029C-6787-0E4B85DB46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connections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8EEC02-F3AC-2374-9EBF-4C30138C23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584574" cy="3678303"/>
          </a:xfrm>
        </p:spPr>
        <p:txBody>
          <a:bodyPr/>
          <a:lstStyle/>
          <a:p>
            <a:r>
              <a:rPr lang="en-US" dirty="0"/>
              <a:t>In Airflow UI we create connections to access databases, snowflake, etc. </a:t>
            </a:r>
          </a:p>
          <a:p>
            <a:r>
              <a:rPr lang="en-US" dirty="0"/>
              <a:t>Admin &gt; Connections </a:t>
            </a:r>
          </a:p>
          <a:p>
            <a:r>
              <a:rPr lang="en-US" dirty="0"/>
              <a:t>Note the matching connection ID from our last slide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9FF9606-A4DC-A7BA-C87F-BBA20EA284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5776" y="2180496"/>
            <a:ext cx="6351920" cy="4193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38042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54A547-5F9C-29A9-FE2D-4A8295050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Providers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BD11B3-29F3-D216-2FC5-5E2BD06294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9211393" cy="3678303"/>
          </a:xfrm>
        </p:spPr>
        <p:txBody>
          <a:bodyPr/>
          <a:lstStyle/>
          <a:p>
            <a:r>
              <a:rPr lang="en-US" dirty="0"/>
              <a:t>When adding connections, let’s say a technology is missing which you would like to integrate</a:t>
            </a:r>
          </a:p>
          <a:p>
            <a:r>
              <a:rPr lang="en-US" dirty="0"/>
              <a:t>We can extend the functionality of Airflow with Providers</a:t>
            </a:r>
          </a:p>
          <a:p>
            <a:r>
              <a:rPr lang="en-US" dirty="0"/>
              <a:t>These are essentially pip packages we would install to add the functionality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EBD27F-8A0D-4733-452D-709573E3F425}"/>
              </a:ext>
            </a:extLst>
          </p:cNvPr>
          <p:cNvSpPr txBox="1"/>
          <p:nvPr/>
        </p:nvSpPr>
        <p:spPr>
          <a:xfrm>
            <a:off x="3047011" y="2180496"/>
            <a:ext cx="60979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https://airflow.apache.org/docs/apache-airflow-providers/</a:t>
            </a:r>
          </a:p>
        </p:txBody>
      </p:sp>
    </p:spTree>
    <p:extLst>
      <p:ext uri="{BB962C8B-B14F-4D97-AF65-F5344CB8AC3E}">
        <p14:creationId xmlns:p14="http://schemas.microsoft.com/office/powerpoint/2010/main" val="37887000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D16B16-296C-E934-3A50-1CD044B6A4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Test/schedule tasks directly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C040B1-CF43-EC66-027C-FBD92D9BDD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01380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On docker desktop, select the scheduler and then ‘Exec’</a:t>
            </a:r>
          </a:p>
          <a:p>
            <a:r>
              <a:rPr lang="en-US" dirty="0"/>
              <a:t>/bin/bash </a:t>
            </a:r>
            <a:r>
              <a:rPr lang="en-US" dirty="0">
                <a:sym typeface="Wingdings" panose="05000000000000000000" pitchFamily="2" charset="2"/>
              </a:rPr>
              <a:t> access to scheduler CLI</a:t>
            </a:r>
          </a:p>
          <a:p>
            <a:r>
              <a:rPr lang="en-US" dirty="0">
                <a:sym typeface="Wingdings" panose="05000000000000000000" pitchFamily="2" charset="2"/>
              </a:rPr>
              <a:t>Airflow tasks test &lt;</a:t>
            </a:r>
            <a:r>
              <a:rPr lang="en-US" dirty="0" err="1">
                <a:sym typeface="Wingdings" panose="05000000000000000000" pitchFamily="2" charset="2"/>
              </a:rPr>
              <a:t>dag_name</a:t>
            </a:r>
            <a:r>
              <a:rPr lang="en-US" dirty="0">
                <a:sym typeface="Wingdings" panose="05000000000000000000" pitchFamily="2" charset="2"/>
              </a:rPr>
              <a:t>&gt; &lt;</a:t>
            </a:r>
            <a:r>
              <a:rPr lang="en-US" dirty="0" err="1">
                <a:sym typeface="Wingdings" panose="05000000000000000000" pitchFamily="2" charset="2"/>
              </a:rPr>
              <a:t>task_id</a:t>
            </a:r>
            <a:r>
              <a:rPr lang="en-US" dirty="0">
                <a:sym typeface="Wingdings" panose="05000000000000000000" pitchFamily="2" charset="2"/>
              </a:rPr>
              <a:t>&gt;  test a task to see what will happen, it will not save the metadata 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BD7EC79-DB77-63CF-51C0-3C414EC00C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8625" y="3524693"/>
            <a:ext cx="8954750" cy="3048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70794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88745-B221-7365-A544-CC7506320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 if an </a:t>
            </a:r>
            <a:r>
              <a:rPr lang="en-US" dirty="0" err="1"/>
              <a:t>api</a:t>
            </a:r>
            <a:r>
              <a:rPr lang="en-US" dirty="0"/>
              <a:t> is available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3AE918-E99F-50F0-3F78-EB0D7605BC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3746259" cy="3678303"/>
          </a:xfrm>
        </p:spPr>
        <p:txBody>
          <a:bodyPr/>
          <a:lstStyle/>
          <a:p>
            <a:r>
              <a:rPr lang="en-US" dirty="0"/>
              <a:t>There are many other helpful sensors that may come out of the box, instead of making our own </a:t>
            </a:r>
          </a:p>
          <a:p>
            <a:r>
              <a:rPr lang="en-US" dirty="0" err="1"/>
              <a:t>HttpSensor</a:t>
            </a:r>
            <a:r>
              <a:rPr lang="en-US" dirty="0"/>
              <a:t>, </a:t>
            </a:r>
            <a:r>
              <a:rPr lang="en-US" dirty="0" err="1"/>
              <a:t>FileSensor</a:t>
            </a:r>
            <a:r>
              <a:rPr lang="en-US" dirty="0"/>
              <a:t>, S3KeySensor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187C1F4-C795-F8A7-8DE1-B33B3B5F0C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1973" y="2020117"/>
            <a:ext cx="5486824" cy="4360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88844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E9668-415F-3837-68E2-E929662CD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Extracting data – classic way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CD2909-B02C-4FB6-2DAE-AEC8A4A7C6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Please see ‘user_processing_old.py’ in course materials</a:t>
            </a:r>
          </a:p>
        </p:txBody>
      </p:sp>
    </p:spTree>
    <p:extLst>
      <p:ext uri="{BB962C8B-B14F-4D97-AF65-F5344CB8AC3E}">
        <p14:creationId xmlns:p14="http://schemas.microsoft.com/office/powerpoint/2010/main" val="40564190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EE30BC-AF48-7159-9628-A7082A39D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Extract user as a task - without </a:t>
            </a:r>
            <a:r>
              <a:rPr lang="en-US" dirty="0" err="1"/>
              <a:t>pythonoperator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4D8CFC-BAF6-3858-527D-7AC953EECB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Please see ‘user_processing.py’ in your course materials </a:t>
            </a:r>
          </a:p>
          <a:p>
            <a:r>
              <a:rPr lang="en-US" dirty="0"/>
              <a:t>Also note the new task to write the data to csv </a:t>
            </a:r>
          </a:p>
          <a:p>
            <a:r>
              <a:rPr lang="en-US" dirty="0"/>
              <a:t>Let’s install an airflow Hook to programmatically interact with our </a:t>
            </a:r>
            <a:r>
              <a:rPr lang="en-US" dirty="0" err="1"/>
              <a:t>db</a:t>
            </a:r>
            <a:r>
              <a:rPr lang="en-US" dirty="0"/>
              <a:t>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8368832-72F0-F176-1FC5-BB552407FD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033" y="4962436"/>
            <a:ext cx="10947932" cy="356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69838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185A9-9D91-E494-6A3A-06B6CFB9B3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Cleaning up task dependencies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95DF5A7-C158-E04B-9928-BEBEE8B084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06527" y="2062473"/>
            <a:ext cx="6978946" cy="45520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56972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49A46C-0655-66E7-4ED5-5A00F455BA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Setting task dependencies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336D4DB-DD1A-5C30-869F-45D88E559C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485" y="2386940"/>
            <a:ext cx="10989030" cy="34627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96500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9C442-C834-9973-1863-3C8327B32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A93362-9010-70D7-1084-90787AC4C3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216122"/>
            <a:ext cx="4822080" cy="3678303"/>
          </a:xfrm>
        </p:spPr>
        <p:txBody>
          <a:bodyPr/>
          <a:lstStyle/>
          <a:p>
            <a:r>
              <a:rPr lang="en-US" dirty="0"/>
              <a:t>Assets are a newer feature of Airflow 3.x</a:t>
            </a:r>
          </a:p>
          <a:p>
            <a:r>
              <a:rPr lang="en-US" dirty="0"/>
              <a:t>It is a mental shift from the task itself to what tasks produce </a:t>
            </a:r>
          </a:p>
          <a:p>
            <a:r>
              <a:rPr lang="en-US" dirty="0"/>
              <a:t>Task centric </a:t>
            </a:r>
            <a:r>
              <a:rPr lang="en-US" dirty="0">
                <a:sym typeface="Wingdings" panose="05000000000000000000" pitchFamily="2" charset="2"/>
              </a:rPr>
              <a:t> data centric orchestration</a:t>
            </a:r>
          </a:p>
          <a:p>
            <a:r>
              <a:rPr lang="en-US" dirty="0">
                <a:sym typeface="Wingdings" panose="05000000000000000000" pitchFamily="2" charset="2"/>
              </a:rPr>
              <a:t>Completed assets can trigger other workflows that may produce an asset themselves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E6204D5-A1E5-8548-19C0-AA68EA615F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0779" y="2970844"/>
            <a:ext cx="5559967" cy="2535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89777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891D10-A974-EDC9-E83C-8FB668B4DA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Working with dependent assets &amp; dependent </a:t>
            </a:r>
            <a:r>
              <a:rPr lang="en-US" dirty="0" err="1"/>
              <a:t>dags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013BE4B-2173-F118-8861-3B22BFBA39B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38177" y="1923052"/>
            <a:ext cx="6899313" cy="47776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4B5462E-683C-6302-8E75-54409456AB26}"/>
              </a:ext>
            </a:extLst>
          </p:cNvPr>
          <p:cNvSpPr txBox="1"/>
          <p:nvPr/>
        </p:nvSpPr>
        <p:spPr>
          <a:xfrm>
            <a:off x="8336477" y="3664717"/>
            <a:ext cx="304008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On the left is Airflow 2.x, and on the right is Airflow 3.x</a:t>
            </a:r>
          </a:p>
          <a:p>
            <a:endParaRPr lang="en-US" dirty="0"/>
          </a:p>
          <a:p>
            <a:r>
              <a:rPr lang="en-US" dirty="0"/>
              <a:t>Airflow 2.x = Datasets </a:t>
            </a:r>
          </a:p>
          <a:p>
            <a:r>
              <a:rPr lang="en-US" dirty="0"/>
              <a:t>Airflow 3.x = Assets </a:t>
            </a:r>
          </a:p>
        </p:txBody>
      </p:sp>
    </p:spTree>
    <p:extLst>
      <p:ext uri="{BB962C8B-B14F-4D97-AF65-F5344CB8AC3E}">
        <p14:creationId xmlns:p14="http://schemas.microsoft.com/office/powerpoint/2010/main" val="127841027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449A1C-653F-0856-BE31-BA0F32198D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Walkthrough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0FD41F-0B1F-E54B-8B29-27773D3799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Please see ‘user.py’ in your course materials</a:t>
            </a:r>
          </a:p>
        </p:txBody>
      </p:sp>
    </p:spTree>
    <p:extLst>
      <p:ext uri="{BB962C8B-B14F-4D97-AF65-F5344CB8AC3E}">
        <p14:creationId xmlns:p14="http://schemas.microsoft.com/office/powerpoint/2010/main" val="11696020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83D92F2-BD3F-5502-960E-3CFF35778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D234C-D59D-E997-1AA0-D508BFFD3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8E57B-9E41-4816-C2F2-1105A90F8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Complete a hands-on challenge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E50FF0-C783-F3C0-044D-2F094F317804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5306AE-2095-D0AE-E069-321DBC55370F}"/>
              </a:ext>
            </a:extLst>
          </p:cNvPr>
          <p:cNvSpPr txBox="1"/>
          <p:nvPr/>
        </p:nvSpPr>
        <p:spPr>
          <a:xfrm>
            <a:off x="6949165" y="2402747"/>
            <a:ext cx="4661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5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1B443B1-E14C-64AB-9E9D-75FFCF923C2B}"/>
              </a:ext>
            </a:extLst>
          </p:cNvPr>
          <p:cNvSpPr txBox="1">
            <a:spLocks/>
          </p:cNvSpPr>
          <p:nvPr/>
        </p:nvSpPr>
        <p:spPr>
          <a:xfrm>
            <a:off x="6545749" y="2772079"/>
            <a:ext cx="4661642" cy="16812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to relay technical concepts to you. Clients often need to do the same. Take a few moments to get some pen and paper ready to take notes. </a:t>
            </a:r>
          </a:p>
        </p:txBody>
      </p:sp>
    </p:spTree>
    <p:extLst>
      <p:ext uri="{BB962C8B-B14F-4D97-AF65-F5344CB8AC3E}">
        <p14:creationId xmlns:p14="http://schemas.microsoft.com/office/powerpoint/2010/main" val="3587871389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docMetadata/LabelInfo.xml><?xml version="1.0" encoding="utf-8"?>
<clbl:labelList xmlns:clbl="http://schemas.microsoft.com/office/2020/mipLabelMetadata">
  <clbl:label id="{6b63e28a-a8f9-47b5-aa40-97e231215164}" enabled="0" method="" siteId="{6b63e28a-a8f9-47b5-aa40-97e23121516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11031</TotalTime>
  <Words>1328</Words>
  <Application>Microsoft Office PowerPoint</Application>
  <PresentationFormat>Widescreen</PresentationFormat>
  <Paragraphs>128</Paragraphs>
  <Slides>28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2" baseType="lpstr">
      <vt:lpstr>Gill Sans MT</vt:lpstr>
      <vt:lpstr>Wingdings</vt:lpstr>
      <vt:lpstr>Wingdings 2</vt:lpstr>
      <vt:lpstr>Dividend</vt:lpstr>
      <vt:lpstr>Airflow</vt:lpstr>
      <vt:lpstr>Prerequisites</vt:lpstr>
      <vt:lpstr>Airflow</vt:lpstr>
      <vt:lpstr>Airflow – more features / benefits</vt:lpstr>
      <vt:lpstr>Airflow UI</vt:lpstr>
      <vt:lpstr>Airflow - extensibility</vt:lpstr>
      <vt:lpstr>Airflow components </vt:lpstr>
      <vt:lpstr>Airflow – concepts</vt:lpstr>
      <vt:lpstr>Airflow is not…</vt:lpstr>
      <vt:lpstr>Airflow single node Architecture</vt:lpstr>
      <vt:lpstr>Airflow multi-node architecture</vt:lpstr>
      <vt:lpstr>Runtime execution</vt:lpstr>
      <vt:lpstr>Running Airflow in the cloud</vt:lpstr>
      <vt:lpstr>Installing Apache Airflow</vt:lpstr>
      <vt:lpstr>Our mini-project</vt:lpstr>
      <vt:lpstr>Defining a DAG</vt:lpstr>
      <vt:lpstr>Adding connections</vt:lpstr>
      <vt:lpstr>Providers</vt:lpstr>
      <vt:lpstr>Test/schedule tasks directly </vt:lpstr>
      <vt:lpstr>Check if an api is available </vt:lpstr>
      <vt:lpstr>Extracting data – classic way</vt:lpstr>
      <vt:lpstr>Extract user as a task - without pythonoperator</vt:lpstr>
      <vt:lpstr>Cleaning up task dependencies</vt:lpstr>
      <vt:lpstr>Setting task dependencies</vt:lpstr>
      <vt:lpstr>Assets</vt:lpstr>
      <vt:lpstr>Working with dependent assets &amp; dependent dags</vt:lpstr>
      <vt:lpstr>Walkthrough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Wilson</dc:creator>
  <cp:lastModifiedBy>Ethan Wilson</cp:lastModifiedBy>
  <cp:revision>614</cp:revision>
  <dcterms:created xsi:type="dcterms:W3CDTF">2025-02-12T19:53:45Z</dcterms:created>
  <dcterms:modified xsi:type="dcterms:W3CDTF">2026-08-01T19:51:35Z</dcterms:modified>
</cp:coreProperties>
</file>