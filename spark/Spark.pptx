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9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47" r:id="rId47"/>
    <p:sldId id="348" r:id="rId48"/>
    <p:sldId id="349" r:id="rId49"/>
    <p:sldId id="350" r:id="rId50"/>
    <p:sldId id="305" r:id="rId51"/>
    <p:sldId id="307" r:id="rId52"/>
    <p:sldId id="308" r:id="rId53"/>
    <p:sldId id="309" r:id="rId54"/>
    <p:sldId id="353" r:id="rId55"/>
    <p:sldId id="354" r:id="rId56"/>
    <p:sldId id="359" r:id="rId57"/>
    <p:sldId id="355" r:id="rId58"/>
    <p:sldId id="356" r:id="rId59"/>
    <p:sldId id="357" r:id="rId60"/>
    <p:sldId id="358" r:id="rId61"/>
    <p:sldId id="360" r:id="rId62"/>
    <p:sldId id="399" r:id="rId63"/>
    <p:sldId id="311" r:id="rId64"/>
    <p:sldId id="312" r:id="rId65"/>
    <p:sldId id="313" r:id="rId66"/>
    <p:sldId id="316" r:id="rId67"/>
    <p:sldId id="315" r:id="rId68"/>
    <p:sldId id="317" r:id="rId69"/>
    <p:sldId id="318" r:id="rId70"/>
    <p:sldId id="319" r:id="rId71"/>
    <p:sldId id="321" r:id="rId72"/>
    <p:sldId id="320" r:id="rId73"/>
    <p:sldId id="322" r:id="rId74"/>
    <p:sldId id="323" r:id="rId75"/>
    <p:sldId id="324" r:id="rId76"/>
    <p:sldId id="325" r:id="rId77"/>
    <p:sldId id="327" r:id="rId78"/>
    <p:sldId id="328" r:id="rId79"/>
    <p:sldId id="326" r:id="rId80"/>
    <p:sldId id="329" r:id="rId81"/>
    <p:sldId id="330" r:id="rId82"/>
    <p:sldId id="331" r:id="rId83"/>
    <p:sldId id="332" r:id="rId84"/>
    <p:sldId id="334" r:id="rId85"/>
    <p:sldId id="333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10" r:id="rId94"/>
    <p:sldId id="342" r:id="rId95"/>
    <p:sldId id="343" r:id="rId96"/>
    <p:sldId id="344" r:id="rId97"/>
    <p:sldId id="345" r:id="rId98"/>
    <p:sldId id="351" r:id="rId99"/>
    <p:sldId id="352" r:id="rId100"/>
    <p:sldId id="361" r:id="rId101"/>
    <p:sldId id="362" r:id="rId102"/>
    <p:sldId id="363" r:id="rId103"/>
    <p:sldId id="365" r:id="rId104"/>
    <p:sldId id="366" r:id="rId105"/>
    <p:sldId id="367" r:id="rId106"/>
    <p:sldId id="369" r:id="rId107"/>
    <p:sldId id="378" r:id="rId108"/>
    <p:sldId id="379" r:id="rId109"/>
    <p:sldId id="381" r:id="rId110"/>
    <p:sldId id="382" r:id="rId111"/>
    <p:sldId id="383" r:id="rId112"/>
    <p:sldId id="384" r:id="rId113"/>
    <p:sldId id="370" r:id="rId114"/>
    <p:sldId id="371" r:id="rId115"/>
    <p:sldId id="372" r:id="rId116"/>
    <p:sldId id="373" r:id="rId117"/>
    <p:sldId id="374" r:id="rId118"/>
    <p:sldId id="346" r:id="rId119"/>
    <p:sldId id="368" r:id="rId120"/>
    <p:sldId id="375" r:id="rId121"/>
    <p:sldId id="364" r:id="rId122"/>
    <p:sldId id="376" r:id="rId123"/>
    <p:sldId id="385" r:id="rId124"/>
    <p:sldId id="386" r:id="rId125"/>
    <p:sldId id="387" r:id="rId126"/>
    <p:sldId id="388" r:id="rId127"/>
    <p:sldId id="389" r:id="rId128"/>
    <p:sldId id="390" r:id="rId129"/>
    <p:sldId id="391" r:id="rId130"/>
    <p:sldId id="396" r:id="rId131"/>
    <p:sldId id="392" r:id="rId132"/>
    <p:sldId id="393" r:id="rId133"/>
    <p:sldId id="394" r:id="rId134"/>
    <p:sldId id="377" r:id="rId135"/>
    <p:sldId id="398" r:id="rId136"/>
    <p:sldId id="397" r:id="rId137"/>
    <p:sldId id="257" r:id="rId138"/>
    <p:sldId id="258" r:id="rId139"/>
    <p:sldId id="260" r:id="rId140"/>
    <p:sldId id="261" r:id="rId141"/>
    <p:sldId id="262" r:id="rId1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svg"/><Relationship Id="rId2" Type="http://schemas.openxmlformats.org/officeDocument/2006/relationships/image" Target="../media/image170.svg"/><Relationship Id="rId1" Type="http://schemas.openxmlformats.org/officeDocument/2006/relationships/image" Target="../media/image16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svg"/><Relationship Id="rId2" Type="http://schemas.openxmlformats.org/officeDocument/2006/relationships/image" Target="../media/image170.svg"/><Relationship Id="rId1" Type="http://schemas.openxmlformats.org/officeDocument/2006/relationships/image" Target="../media/image16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5NA57Pfpdr4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8.png"/><Relationship Id="rId4" Type="http://schemas.openxmlformats.org/officeDocument/2006/relationships/image" Target="../media/image117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2.png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hyperlink" Target="http://github.com/aws/aws-cli" TargetMode="Externa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1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5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hyperlink" Target="https://aws.amazon.com/ec2/instance-types/" TargetMode="Externa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3.png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png"/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1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4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8.png"/><Relationship Id="rId4" Type="http://schemas.openxmlformats.org/officeDocument/2006/relationships/image" Target="../media/image167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jpe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7BB68B-5767-8C47-EA38-3D2F1AF54E14}"/>
              </a:ext>
            </a:extLst>
          </p:cNvPr>
          <p:cNvSpPr txBox="1"/>
          <p:nvPr/>
        </p:nvSpPr>
        <p:spPr>
          <a:xfrm>
            <a:off x="419827" y="4589929"/>
            <a:ext cx="32252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u.data</a:t>
            </a:r>
            <a:r>
              <a:rPr lang="en-US" dirty="0"/>
              <a:t> columns:</a:t>
            </a:r>
          </a:p>
          <a:p>
            <a:endParaRPr lang="en-US" dirty="0"/>
          </a:p>
          <a:p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ItemId</a:t>
            </a:r>
            <a:r>
              <a:rPr lang="en-US" dirty="0"/>
              <a:t>, Rating, Timestamp</a:t>
            </a:r>
          </a:p>
        </p:txBody>
      </p:sp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76BB2-5769-992C-B4B2-8B6CDDC1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0823-6ED8-8A08-CD61-F782015F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202380" cy="3678303"/>
          </a:xfrm>
        </p:spPr>
        <p:txBody>
          <a:bodyPr/>
          <a:lstStyle/>
          <a:p>
            <a:r>
              <a:rPr lang="en-US" b="1" dirty="0"/>
              <a:t>Shuffling</a:t>
            </a:r>
            <a:r>
              <a:rPr lang="en-US" dirty="0"/>
              <a:t> in </a:t>
            </a:r>
            <a:r>
              <a:rPr lang="en-US" b="1" dirty="0"/>
              <a:t>Apache Spark</a:t>
            </a:r>
            <a:r>
              <a:rPr lang="en-US" dirty="0"/>
              <a:t> is the process of </a:t>
            </a:r>
            <a:r>
              <a:rPr lang="en-US" b="1" dirty="0"/>
              <a:t>redistributing data across partitions</a:t>
            </a:r>
            <a:r>
              <a:rPr lang="en-US" dirty="0"/>
              <a:t> so that records with the same key (or related data) end up on the same executor or partition</a:t>
            </a:r>
          </a:p>
          <a:p>
            <a:r>
              <a:rPr lang="en-US" dirty="0"/>
              <a:t>It is one of the most expensive operations in Spark because it involves moving data over the network, writing intermediate data to disk, and sorting.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6AFCB-E873-D9AE-EFE5-6A4BC2EC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49" y="2751953"/>
            <a:ext cx="4363059" cy="1524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F99FDB-483A-B97A-34B8-6D5F91B084F1}"/>
              </a:ext>
            </a:extLst>
          </p:cNvPr>
          <p:cNvSpPr txBox="1"/>
          <p:nvPr/>
        </p:nvSpPr>
        <p:spPr>
          <a:xfrm>
            <a:off x="7247749" y="4573499"/>
            <a:ext cx="45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Initially, records with key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may be spread across different partitions. Spark shuffles the data so all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records are together and all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records are together before performing the reduction.</a:t>
            </a:r>
          </a:p>
        </p:txBody>
      </p:sp>
    </p:spTree>
    <p:extLst>
      <p:ext uri="{BB962C8B-B14F-4D97-AF65-F5344CB8AC3E}">
        <p14:creationId xmlns:p14="http://schemas.microsoft.com/office/powerpoint/2010/main" val="2134369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D644-9700-CEBE-0461-20C0E9EA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186D7-0CC2-C478-050A-816A1053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8464" cy="3678303"/>
          </a:xfrm>
        </p:spPr>
        <p:txBody>
          <a:bodyPr/>
          <a:lstStyle/>
          <a:p>
            <a:r>
              <a:rPr lang="en-US" dirty="0"/>
              <a:t>Each executor processes its local partition. </a:t>
            </a:r>
          </a:p>
          <a:p>
            <a:r>
              <a:rPr lang="en-US" dirty="0"/>
              <a:t>Spark partitions the output based on a partitioning function (typically a hash of the key). </a:t>
            </a:r>
          </a:p>
          <a:p>
            <a:r>
              <a:rPr lang="en-US" dirty="0"/>
              <a:t>Data is written to local disk as intermediate shuffle files. </a:t>
            </a:r>
          </a:p>
          <a:p>
            <a:r>
              <a:rPr lang="en-US" dirty="0"/>
              <a:t>Executors transfer the appropriate data to other executors over the network. </a:t>
            </a:r>
          </a:p>
          <a:p>
            <a:r>
              <a:rPr lang="en-US" dirty="0"/>
              <a:t>The receiving executors merge, sort (if necessary), and process the shuffled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8CDF2-CCE4-AD1E-83A6-4A2B24D24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66" y="2329584"/>
            <a:ext cx="2846440" cy="385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7C16-6EC0-3C82-641E-41118E8E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Narrow vs wide transformations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2165AF-2DD4-F91F-0216-B8601B501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009544"/>
              </p:ext>
            </p:extLst>
          </p:nvPr>
        </p:nvGraphicFramePr>
        <p:xfrm>
          <a:off x="1799559" y="4692787"/>
          <a:ext cx="11029950" cy="1828800"/>
        </p:xfrm>
        <a:graphic>
          <a:graphicData uri="http://schemas.openxmlformats.org/drawingml/2006/table">
            <a:tbl>
              <a:tblPr/>
              <a:tblGrid>
                <a:gridCol w="5514975">
                  <a:extLst>
                    <a:ext uri="{9D8B030D-6E8A-4147-A177-3AD203B41FA5}">
                      <a16:colId xmlns:a16="http://schemas.microsoft.com/office/drawing/2014/main" val="114320116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032918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Narrow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Wide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41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groupByKey()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41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filter()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reduceByKey()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875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flatMap()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join()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71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mapValues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distinct()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3447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DB801C3-7B97-96A0-B990-C6A8ACBF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112" y="2245894"/>
            <a:ext cx="7069776" cy="23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815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8A83-9167-C2C5-75C1-38C29937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Repartition vs coalesce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423329-7A8B-612F-27E4-462CCC9C08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1128" y="2500894"/>
            <a:ext cx="4429743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064157" cy="42973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/>
              <a:t>Can often write string SQL or use native Spark functions to complete the same task</a:t>
            </a:r>
          </a:p>
          <a:p>
            <a:pPr lvl="1"/>
            <a:r>
              <a:rPr lang="en-US" dirty="0"/>
              <a:t>Under the hood, the Catalyst Optimizer creates an execution plan (that will be the same for string SQL and native spark functions. i.e. same performance)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A2B11F-3489-2CC0-4ED7-943E067E4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349" y="2508903"/>
            <a:ext cx="4795338" cy="15107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BC3CFF-0F7D-B5DC-61FB-FD0AB2947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119" y="4348054"/>
            <a:ext cx="4032568" cy="2129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2A961-B042-47E9-EC89-07F797C3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– RDDs &amp;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1CDC74-A60E-2ABE-857B-29B21C0C2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26" y="2479302"/>
            <a:ext cx="7325747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172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65B4-F29A-0A92-0633-63656C0F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2EC9A7-9303-2C96-C482-18BE393C0C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9310" y="2478792"/>
            <a:ext cx="4429743" cy="3353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E306D9-5EB4-AA7F-189A-50951D244D7F}"/>
              </a:ext>
            </a:extLst>
          </p:cNvPr>
          <p:cNvSpPr txBox="1"/>
          <p:nvPr/>
        </p:nvSpPr>
        <p:spPr>
          <a:xfrm>
            <a:off x="1163782" y="2660073"/>
            <a:ext cx="40940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Often first choice for spark workflows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Stores data column by column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pruning: spark only reads columns needed for the query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Predicate pushdown: filters can be applied at the file level </a:t>
            </a:r>
          </a:p>
        </p:txBody>
      </p:sp>
    </p:spTree>
    <p:extLst>
      <p:ext uri="{BB962C8B-B14F-4D97-AF65-F5344CB8AC3E}">
        <p14:creationId xmlns:p14="http://schemas.microsoft.com/office/powerpoint/2010/main" val="35796654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A7D2-0521-4905-D2AD-860F7B81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 – optimizing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B2D36-766E-346B-2CE0-290AA52B6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10742" cy="1830395"/>
          </a:xfrm>
        </p:spPr>
        <p:txBody>
          <a:bodyPr/>
          <a:lstStyle/>
          <a:p>
            <a:r>
              <a:rPr lang="en-US" dirty="0"/>
              <a:t>Filters are optimized because we can jump straight to the folder that matches our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8C16C-230A-5607-DA0B-052499FF7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63" y="2066196"/>
            <a:ext cx="4610743" cy="4420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DECD8F-F147-C425-FD71-DA0A45948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638" y="3922904"/>
            <a:ext cx="153373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027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B0C1-0B15-D104-1775-99FCA6F12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AE177D-A389-735B-BBEA-89DAEDEFD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602" y="2474619"/>
            <a:ext cx="6925642" cy="34104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C803B1-BB9A-FFFA-CFFE-E538CB3464A7}"/>
              </a:ext>
            </a:extLst>
          </p:cNvPr>
          <p:cNvSpPr txBox="1"/>
          <p:nvPr/>
        </p:nvSpPr>
        <p:spPr>
          <a:xfrm>
            <a:off x="8208335" y="3025670"/>
            <a:ext cx="33067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(Header = True) = Skip the first line because there is header information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(</a:t>
            </a:r>
            <a:r>
              <a:rPr lang="en-US" dirty="0" err="1"/>
              <a:t>inferSchema</a:t>
            </a:r>
            <a:r>
              <a:rPr lang="en-US" dirty="0"/>
              <a:t>=True) = infer the datatypes of each column so they won’t all be strings; </a:t>
            </a:r>
            <a:r>
              <a:rPr lang="en-US" dirty="0">
                <a:solidFill>
                  <a:srgbClr val="92D050"/>
                </a:solidFill>
              </a:rPr>
              <a:t>we should just use a schema object instead</a:t>
            </a:r>
          </a:p>
        </p:txBody>
      </p:sp>
    </p:spTree>
    <p:extLst>
      <p:ext uri="{BB962C8B-B14F-4D97-AF65-F5344CB8AC3E}">
        <p14:creationId xmlns:p14="http://schemas.microsoft.com/office/powerpoint/2010/main" val="32800921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61B-074C-2A3E-B028-33A44870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&amp;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888508-568F-E8C9-E030-A51BF06EFA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999" y="2307276"/>
            <a:ext cx="5898002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08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0EB9-4286-1946-ED4E-CAA8EA8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DE2317-26B0-83A4-F60C-6CBD2F238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6418" y="2343710"/>
            <a:ext cx="4039164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40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17B1-3A4C-8AFC-B10B-6079496C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77810-3BD4-8090-3CED-A76472E55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9899" cy="3678303"/>
          </a:xfrm>
        </p:spPr>
        <p:txBody>
          <a:bodyPr/>
          <a:lstStyle/>
          <a:p>
            <a:r>
              <a:rPr lang="en-US" dirty="0"/>
              <a:t>Optimized Row Columnar</a:t>
            </a:r>
          </a:p>
          <a:p>
            <a:r>
              <a:rPr lang="en-US" dirty="0"/>
              <a:t>Best in Hive-heavy environments </a:t>
            </a:r>
          </a:p>
          <a:p>
            <a:r>
              <a:rPr lang="en-US" dirty="0"/>
              <a:t>Predicate Pushdown – spark pushes filters down into ORC files, so filtering happens during scans, not after loading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68C4D-A9E7-6FE4-3365-76F660E7C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11" y="2366829"/>
            <a:ext cx="3858163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71435-25AE-5776-741A-90CB98AA4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408" y="5001298"/>
            <a:ext cx="318179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601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EC1F5-02D9-986F-6E89-E295C0C5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</a:t>
            </a:r>
            <a:r>
              <a:rPr lang="en-US" dirty="0"/>
              <a:t> reader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1F45-BCA8-BB87-FAD2-7C54265A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more on syntax permutations, please see ‘DataFrameReaderOptions.md’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12720739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3DA17-4164-2E87-A5C4-5F1F1C1FF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 format is used most often?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77980-490E-0DE2-BFA3-013F951CA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See more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80299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2004401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325483" y="3595319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4" y="3964651"/>
            <a:ext cx="4116308" cy="28132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A0739-5962-4189-A6A0-77A2B1747DB1}"/>
              </a:ext>
            </a:extLst>
          </p:cNvPr>
          <p:cNvSpPr txBox="1"/>
          <p:nvPr/>
        </p:nvSpPr>
        <p:spPr>
          <a:xfrm>
            <a:off x="9070325" y="4524893"/>
            <a:ext cx="2906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Note that we need to ‘</a:t>
            </a:r>
            <a:r>
              <a:rPr lang="en-US" sz="1400" dirty="0" err="1"/>
              <a:t>spark.udf.register</a:t>
            </a:r>
            <a:r>
              <a:rPr lang="en-US" sz="1400" dirty="0"/>
              <a:t>’ only for spark </a:t>
            </a:r>
            <a:r>
              <a:rPr lang="en-US" sz="1400" dirty="0" err="1"/>
              <a:t>sql</a:t>
            </a:r>
            <a:r>
              <a:rPr lang="en-US" sz="1400" dirty="0"/>
              <a:t>, if calling the method on a </a:t>
            </a:r>
            <a:r>
              <a:rPr lang="en-US" sz="1400" dirty="0" err="1"/>
              <a:t>dataframe</a:t>
            </a:r>
            <a:r>
              <a:rPr lang="en-US" sz="1400" dirty="0"/>
              <a:t>, we do not</a:t>
            </a:r>
          </a:p>
        </p:txBody>
      </p:sp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Cache() - 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272090" y="2670829"/>
            <a:ext cx="462649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Use </a:t>
            </a:r>
            <a:r>
              <a:rPr lang="en-US" dirty="0" err="1"/>
              <a:t>agg</a:t>
            </a:r>
            <a:r>
              <a:rPr lang="en-US" dirty="0"/>
              <a:t>() when we need multiple aggregations in a result set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That is because the following is NOT VALID: </a:t>
            </a:r>
            <a:r>
              <a:rPr lang="en-US" dirty="0" err="1"/>
              <a:t>df.groupBy</a:t>
            </a:r>
            <a:r>
              <a:rPr lang="en-US" dirty="0"/>
              <a:t>(‘age’).avg(‘friends’).sum(‘friends’).show()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3CAEB6-7BD4-AD1D-40E4-375089260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576" y="5158298"/>
            <a:ext cx="2848373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  <a:p>
            <a:pPr lvl="1"/>
            <a:r>
              <a:rPr lang="en-US" dirty="0"/>
              <a:t>Annotation syntax preferred</a:t>
            </a:r>
          </a:p>
          <a:p>
            <a:pPr lvl="1"/>
            <a:r>
              <a:rPr lang="en-US" dirty="0"/>
              <a:t>Need to register with spark using ‘</a:t>
            </a:r>
            <a:r>
              <a:rPr lang="en-US" dirty="0" err="1"/>
              <a:t>spark.udf.register</a:t>
            </a:r>
            <a:r>
              <a:rPr lang="en-US" dirty="0"/>
              <a:t>()’ only if used in spark </a:t>
            </a:r>
            <a:r>
              <a:rPr lang="en-US" dirty="0" err="1"/>
              <a:t>sql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‘access_log.txt’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  <a:p>
            <a:r>
              <a:rPr lang="en-US" dirty="0"/>
              <a:t>See ‘popular-movies-nice-dataframe.py’ in course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81FFCE2B-146F-CDDD-05C3-35C80BC6B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14" y="2442432"/>
            <a:ext cx="4743821" cy="2130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.cache()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lets you cache it to disk instead of just memory, just in case a node fails 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EBDF68-1AF2-F88A-E95E-982532071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131" y="5584313"/>
            <a:ext cx="3260708" cy="8635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6FE641-20B8-928A-6752-50A54B194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4485" y="6081676"/>
            <a:ext cx="4198896" cy="5489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2CFBEE-FA56-0F6E-254C-00908E67E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9540" y="5125859"/>
            <a:ext cx="1708786" cy="4584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F088C3-47B3-F298-0F31-F9B9C7377050}"/>
              </a:ext>
            </a:extLst>
          </p:cNvPr>
          <p:cNvSpPr txBox="1"/>
          <p:nvPr/>
        </p:nvSpPr>
        <p:spPr>
          <a:xfrm>
            <a:off x="7826603" y="5632624"/>
            <a:ext cx="3946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Endpoint for </a:t>
            </a:r>
            <a:r>
              <a:rPr lang="en-US" dirty="0" err="1"/>
              <a:t>jdbc</a:t>
            </a:r>
            <a:r>
              <a:rPr lang="en-US" dirty="0"/>
              <a:t>/</a:t>
            </a:r>
            <a:r>
              <a:rPr lang="en-US" dirty="0" err="1"/>
              <a:t>odbc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821832"/>
            <a:ext cx="8179290" cy="33340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155CA2-09F8-115B-31CE-6A11F856CB26}"/>
              </a:ext>
            </a:extLst>
          </p:cNvPr>
          <p:cNvSpPr txBox="1"/>
          <p:nvPr/>
        </p:nvSpPr>
        <p:spPr>
          <a:xfrm>
            <a:off x="4242287" y="2084228"/>
            <a:ext cx="370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Intended for BI tools and SQL clients</a:t>
            </a:r>
          </a:p>
        </p:txBody>
      </p:sp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6F01-34EB-131B-7B45-6184B141F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ON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484D5-B6EA-B03A-B25C-942C0FFAD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self-join in the movie similarity script is very expensive as-is </a:t>
            </a:r>
          </a:p>
          <a:p>
            <a:pPr lvl="1"/>
            <a:r>
              <a:rPr lang="en-US" dirty="0"/>
              <a:t>If there were more records our local PC may crash and an Amazon EMR would also</a:t>
            </a:r>
          </a:p>
          <a:p>
            <a:pPr lvl="1"/>
            <a:r>
              <a:rPr lang="en-US" dirty="0"/>
              <a:t>We need to use partitions to make our operation more efficient </a:t>
            </a:r>
          </a:p>
          <a:p>
            <a:r>
              <a:rPr lang="en-US" dirty="0"/>
              <a:t>Use </a:t>
            </a:r>
            <a:r>
              <a:rPr lang="en-US" dirty="0" err="1"/>
              <a:t>partitionBy</a:t>
            </a:r>
            <a:r>
              <a:rPr lang="en-US" dirty="0"/>
              <a:t>() on an RDD before running an operation that benefits from partitioning </a:t>
            </a:r>
          </a:p>
          <a:p>
            <a:pPr lvl="1"/>
            <a:r>
              <a:rPr lang="en-US" dirty="0"/>
              <a:t>Join(), cogroup(), </a:t>
            </a:r>
            <a:r>
              <a:rPr lang="en-US" dirty="0" err="1"/>
              <a:t>groupWith</a:t>
            </a:r>
            <a:r>
              <a:rPr lang="en-US" dirty="0"/>
              <a:t>(), </a:t>
            </a:r>
            <a:r>
              <a:rPr lang="en-US" dirty="0" err="1"/>
              <a:t>leftOuterJoin</a:t>
            </a:r>
            <a:r>
              <a:rPr lang="en-US" dirty="0"/>
              <a:t>(), </a:t>
            </a:r>
            <a:r>
              <a:rPr lang="en-US" dirty="0" err="1"/>
              <a:t>rightOuterJoin</a:t>
            </a:r>
            <a:r>
              <a:rPr lang="en-US" dirty="0"/>
              <a:t>(), </a:t>
            </a:r>
            <a:r>
              <a:rPr lang="en-US" dirty="0" err="1"/>
              <a:t>groupByKey</a:t>
            </a:r>
            <a:r>
              <a:rPr lang="en-US" dirty="0"/>
              <a:t>(), </a:t>
            </a:r>
            <a:r>
              <a:rPr lang="en-US" dirty="0" err="1"/>
              <a:t>reduceByKey</a:t>
            </a:r>
            <a:r>
              <a:rPr lang="en-US" dirty="0"/>
              <a:t>(), </a:t>
            </a:r>
            <a:r>
              <a:rPr lang="en-US" dirty="0" err="1"/>
              <a:t>combineByKey</a:t>
            </a:r>
            <a:r>
              <a:rPr lang="en-US" dirty="0"/>
              <a:t>(), and lookup()</a:t>
            </a:r>
          </a:p>
        </p:txBody>
      </p:sp>
    </p:spTree>
    <p:extLst>
      <p:ext uri="{BB962C8B-B14F-4D97-AF65-F5344CB8AC3E}">
        <p14:creationId xmlns:p14="http://schemas.microsoft.com/office/powerpoint/2010/main" val="227950545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35B9-6BBB-E23F-0F1F-B2F0ACEE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partition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F02-2CAA-2BD7-055F-31494A359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 few partitions won’t take advantage of your cluster</a:t>
            </a:r>
          </a:p>
          <a:p>
            <a:r>
              <a:rPr lang="en-US" dirty="0"/>
              <a:t>Too many results in too much overhead from shuffling data</a:t>
            </a:r>
          </a:p>
          <a:p>
            <a:r>
              <a:rPr lang="en-US" dirty="0"/>
              <a:t>At least as many partitions as you have cores, or executors that fit within your memory</a:t>
            </a:r>
          </a:p>
          <a:p>
            <a:r>
              <a:rPr lang="en-US" dirty="0" err="1"/>
              <a:t>partitionBy</a:t>
            </a:r>
            <a:r>
              <a:rPr lang="en-US" dirty="0"/>
              <a:t>(100) is usually a reasonable place to start for a large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91158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704BE-3007-835B-DA55-054C4968A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Memory per executor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5245-FF62-DEB9-F6A6-20098752A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use an empty, default </a:t>
            </a:r>
            <a:r>
              <a:rPr lang="en-US" dirty="0" err="1"/>
              <a:t>SparkConf</a:t>
            </a:r>
            <a:r>
              <a:rPr lang="en-US" dirty="0"/>
              <a:t> in your driver – this way, we’ll use the default EMR sets up instead, as well as any command-line options you pass into spark-submit from your master node</a:t>
            </a:r>
          </a:p>
          <a:p>
            <a:r>
              <a:rPr lang="en-US" dirty="0"/>
              <a:t>For example, the default executor memory budget of 512 mb is sometimes insufficient for processing many records. So instead, we can do:</a:t>
            </a:r>
          </a:p>
          <a:p>
            <a:pPr lvl="1"/>
            <a:r>
              <a:rPr lang="en-US" dirty="0"/>
              <a:t>spark-submit –executor-memory 1g MovieSimilarities1M.py 260 (from the master node of our cluster)</a:t>
            </a:r>
          </a:p>
          <a:p>
            <a:pPr lvl="1"/>
            <a:r>
              <a:rPr lang="en-US" dirty="0"/>
              <a:t>You will get a sense for how much memory you may need, and warnings if memory was insufficient on a job </a:t>
            </a:r>
          </a:p>
        </p:txBody>
      </p:sp>
    </p:spTree>
    <p:extLst>
      <p:ext uri="{BB962C8B-B14F-4D97-AF65-F5344CB8AC3E}">
        <p14:creationId xmlns:p14="http://schemas.microsoft.com/office/powerpoint/2010/main" val="106892934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8AF47-C96F-F532-59D6-F904DDFF4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a cluster manager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D3890-6C9C-0EA3-2857-D770DF250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use –master yarn to run a YARN cluster</a:t>
            </a:r>
          </a:p>
          <a:p>
            <a:r>
              <a:rPr lang="en-US" dirty="0"/>
              <a:t>EMR sets this up by default </a:t>
            </a:r>
          </a:p>
        </p:txBody>
      </p:sp>
    </p:spTree>
    <p:extLst>
      <p:ext uri="{BB962C8B-B14F-4D97-AF65-F5344CB8AC3E}">
        <p14:creationId xmlns:p14="http://schemas.microsoft.com/office/powerpoint/2010/main" val="98482656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582BC-6879-BF79-3698-CF4E266BA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on a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5958D-C60C-3069-068A-9924BD98C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39433"/>
            <a:ext cx="11029615" cy="486971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Get your scripts &amp; data someplace where EMR can access them easily</a:t>
            </a:r>
          </a:p>
          <a:p>
            <a:pPr lvl="1"/>
            <a:r>
              <a:rPr lang="en-US" dirty="0"/>
              <a:t>AWS’s S3 is a good choice – just use s3n:// URL’s when specifying file paths, and make sure your file permissions make them accessible</a:t>
            </a:r>
          </a:p>
          <a:p>
            <a:pPr lvl="1"/>
            <a:r>
              <a:rPr lang="en-US" dirty="0"/>
              <a:t>We could also use HDFS, but S3 is the standard industry choice</a:t>
            </a:r>
          </a:p>
          <a:p>
            <a:pPr lvl="2"/>
            <a:r>
              <a:rPr lang="en-US" dirty="0"/>
              <a:t>HDFS requires self managed persistent storage and has other drawbacks</a:t>
            </a:r>
          </a:p>
          <a:p>
            <a:pPr lvl="2"/>
            <a:r>
              <a:rPr lang="en-US" dirty="0"/>
              <a:t>Typically, just read/write parquet files to S3, as it is highly efficient </a:t>
            </a:r>
          </a:p>
          <a:p>
            <a:r>
              <a:rPr lang="en-US" dirty="0"/>
              <a:t>Spin up an EMR cluster for Spark using the AWS console</a:t>
            </a:r>
          </a:p>
          <a:p>
            <a:pPr lvl="1"/>
            <a:r>
              <a:rPr lang="en-US" dirty="0"/>
              <a:t>Billing starts now!</a:t>
            </a:r>
          </a:p>
          <a:p>
            <a:r>
              <a:rPr lang="en-US" dirty="0"/>
              <a:t>Get the external DNS name for the master node, and log into it using the “Hadoop” user account and your private .PEM file</a:t>
            </a:r>
          </a:p>
          <a:p>
            <a:r>
              <a:rPr lang="en-US" dirty="0"/>
              <a:t>Copy your driver program and any files it needs</a:t>
            </a:r>
          </a:p>
          <a:p>
            <a:pPr lvl="1"/>
            <a:r>
              <a:rPr lang="en-US" dirty="0"/>
              <a:t>I.e. using </a:t>
            </a:r>
            <a:r>
              <a:rPr lang="en-US" dirty="0" err="1"/>
              <a:t>aws</a:t>
            </a:r>
            <a:r>
              <a:rPr lang="en-US" dirty="0"/>
              <a:t> s3 cp s3://bucket-name/filename ./</a:t>
            </a:r>
          </a:p>
          <a:p>
            <a:r>
              <a:rPr lang="en-US" dirty="0"/>
              <a:t>Run spark-submit and watch the output!</a:t>
            </a:r>
          </a:p>
          <a:p>
            <a:r>
              <a:rPr lang="en-US" sz="2600" b="1" dirty="0">
                <a:solidFill>
                  <a:srgbClr val="FF0000"/>
                </a:solidFill>
              </a:rPr>
              <a:t>REMEMBER TO TERMINATE YOUR CLUSTER WHEN YOU’RE DONE!!! </a:t>
            </a:r>
          </a:p>
        </p:txBody>
      </p:sp>
    </p:spTree>
    <p:extLst>
      <p:ext uri="{BB962C8B-B14F-4D97-AF65-F5344CB8AC3E}">
        <p14:creationId xmlns:p14="http://schemas.microsoft.com/office/powerpoint/2010/main" val="270209512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B910-06FF-1A00-E824-FB521EBC9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Guidelines &amp;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B858F-EF11-2FE3-DC50-A7A04E241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use the root account except for AWS account setup</a:t>
            </a:r>
          </a:p>
          <a:p>
            <a:r>
              <a:rPr lang="en-US" dirty="0"/>
              <a:t>One physical user = One AWS user</a:t>
            </a:r>
          </a:p>
          <a:p>
            <a:r>
              <a:rPr lang="en-US" dirty="0"/>
              <a:t>Assign users to groups and assign permissions to groups</a:t>
            </a:r>
          </a:p>
          <a:p>
            <a:r>
              <a:rPr lang="en-US" dirty="0"/>
              <a:t>Create a strong password policy</a:t>
            </a:r>
          </a:p>
          <a:p>
            <a:r>
              <a:rPr lang="en-US" dirty="0"/>
              <a:t>Use and enforce the use of MFA</a:t>
            </a:r>
          </a:p>
          <a:p>
            <a:r>
              <a:rPr lang="en-US" dirty="0"/>
              <a:t>Create and use roles for giving permissions to AWS services</a:t>
            </a:r>
          </a:p>
          <a:p>
            <a:r>
              <a:rPr lang="en-US" dirty="0"/>
              <a:t>Use access keys for programmatic access (CLI/SDK)</a:t>
            </a:r>
          </a:p>
          <a:p>
            <a:r>
              <a:rPr lang="en-US" dirty="0"/>
              <a:t>Audit permissions of your account using IAM Credentials Report &amp; IAM Last Accessed</a:t>
            </a:r>
          </a:p>
          <a:p>
            <a:r>
              <a:rPr lang="en-US" dirty="0"/>
              <a:t>Never share IAM users &amp; access keys</a:t>
            </a:r>
          </a:p>
        </p:txBody>
      </p:sp>
    </p:spTree>
    <p:extLst>
      <p:ext uri="{BB962C8B-B14F-4D97-AF65-F5344CB8AC3E}">
        <p14:creationId xmlns:p14="http://schemas.microsoft.com/office/powerpoint/2010/main" val="411211568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D6CC6-0E99-4379-AC74-9CBDCB08E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95715-63A5-2C21-4CC2-2D6EB1DC4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Users: mapped to a physical user, has a password for AWS console</a:t>
            </a:r>
          </a:p>
          <a:p>
            <a:r>
              <a:rPr lang="en-US" dirty="0"/>
              <a:t>Groups: contains users only</a:t>
            </a:r>
          </a:p>
          <a:p>
            <a:r>
              <a:rPr lang="en-US" dirty="0"/>
              <a:t>Policies: JSON document that outlines permissions for users, groups, and roles</a:t>
            </a:r>
          </a:p>
          <a:p>
            <a:r>
              <a:rPr lang="en-US" dirty="0"/>
              <a:t>Roles: permissions for EC2 instances or other AWS services</a:t>
            </a:r>
          </a:p>
          <a:p>
            <a:r>
              <a:rPr lang="en-US" dirty="0"/>
              <a:t>Security: MFA, Password policies</a:t>
            </a:r>
          </a:p>
          <a:p>
            <a:r>
              <a:rPr lang="en-US" dirty="0"/>
              <a:t>AWS CLI: manage your AWS services via command line</a:t>
            </a:r>
          </a:p>
          <a:p>
            <a:r>
              <a:rPr lang="en-US" dirty="0"/>
              <a:t>AWS SDK: manage your AWS services via a programming language</a:t>
            </a:r>
          </a:p>
          <a:p>
            <a:r>
              <a:rPr lang="en-US" dirty="0"/>
              <a:t>Access Keys: access AWS using the CLI or SDK</a:t>
            </a:r>
          </a:p>
          <a:p>
            <a:r>
              <a:rPr lang="en-US" dirty="0"/>
              <a:t>Audit: IAM Credential Reports &amp; IAM Last Accessed (formerly Access Advisor)</a:t>
            </a:r>
          </a:p>
        </p:txBody>
      </p:sp>
    </p:spTree>
    <p:extLst>
      <p:ext uri="{BB962C8B-B14F-4D97-AF65-F5344CB8AC3E}">
        <p14:creationId xmlns:p14="http://schemas.microsoft.com/office/powerpoint/2010/main" val="67067183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AFC7F-8DDE-962B-BBB1-5DA733BA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Billing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63A0F-AA33-AB7B-A4C0-0EEAA8F6F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5033"/>
          </a:xfrm>
        </p:spPr>
        <p:txBody>
          <a:bodyPr/>
          <a:lstStyle/>
          <a:p>
            <a:r>
              <a:rPr lang="en-US" dirty="0"/>
              <a:t>Click top-right account dropdown while logged in as root user</a:t>
            </a:r>
          </a:p>
          <a:p>
            <a:r>
              <a:rPr lang="en-US" dirty="0"/>
              <a:t>Scroll down to find the following option</a:t>
            </a:r>
          </a:p>
          <a:p>
            <a:r>
              <a:rPr lang="en-US" dirty="0"/>
              <a:t>Click edit to make the change: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9CF38C-C737-E262-885D-F047BC8FD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2168" y="3675529"/>
            <a:ext cx="4534533" cy="10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55808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5184-71DF-7A3A-9F0C-E8E17B04B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942CF-9387-5CC7-CDCE-3088844F2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new </a:t>
            </a:r>
            <a:r>
              <a:rPr lang="en-US" dirty="0" err="1"/>
              <a:t>aws</a:t>
            </a:r>
            <a:r>
              <a:rPr lang="en-US" dirty="0"/>
              <a:t> user with admin permissions</a:t>
            </a:r>
          </a:p>
          <a:p>
            <a:r>
              <a:rPr lang="en-US" dirty="0"/>
              <a:t>Create a zero-sum budget – we will edit later to add an action</a:t>
            </a:r>
          </a:p>
        </p:txBody>
      </p:sp>
    </p:spTree>
    <p:extLst>
      <p:ext uri="{BB962C8B-B14F-4D97-AF65-F5344CB8AC3E}">
        <p14:creationId xmlns:p14="http://schemas.microsoft.com/office/powerpoint/2010/main" val="5189911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9ABDD-7F9E-468A-E587-60676DE4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Various ways to access AWS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17AD6-0AB8-A5CE-2AA7-6D34A44A0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456" y="1972678"/>
            <a:ext cx="11029615" cy="3678303"/>
          </a:xfrm>
        </p:spPr>
        <p:txBody>
          <a:bodyPr/>
          <a:lstStyle/>
          <a:p>
            <a:r>
              <a:rPr lang="en-US" dirty="0"/>
              <a:t>AWS Management Console – protected by MFA + Password</a:t>
            </a:r>
          </a:p>
          <a:p>
            <a:r>
              <a:rPr lang="en-US" dirty="0"/>
              <a:t>AWS Command Line Interface (CLI) – protected by access keys</a:t>
            </a:r>
          </a:p>
          <a:p>
            <a:r>
              <a:rPr lang="en-US" dirty="0"/>
              <a:t>AWS Software Development Kit (SDK) – for code; protected by access keys</a:t>
            </a:r>
          </a:p>
          <a:p>
            <a:r>
              <a:rPr lang="en-US" dirty="0"/>
              <a:t>Access Keys are generated through the AWS Console</a:t>
            </a:r>
          </a:p>
          <a:p>
            <a:r>
              <a:rPr lang="en-US" dirty="0"/>
              <a:t>Users manage their own access keys</a:t>
            </a:r>
          </a:p>
          <a:p>
            <a:r>
              <a:rPr lang="en-US" dirty="0"/>
              <a:t>Access keys are secret, don’t share them!</a:t>
            </a:r>
          </a:p>
          <a:p>
            <a:pPr lvl="1"/>
            <a:r>
              <a:rPr lang="en-US" dirty="0"/>
              <a:t>Access Key ID ~= username</a:t>
            </a:r>
          </a:p>
          <a:p>
            <a:pPr lvl="1"/>
            <a:r>
              <a:rPr lang="en-US" dirty="0"/>
              <a:t>Secret Access Key ~= password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E3040D-B103-2692-8611-F433308EC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1245" y="3894356"/>
            <a:ext cx="6349563" cy="249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3557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4B08A-7071-7D63-B6A0-A8A814294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AWS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1BC44-0FE6-CE1A-3DC3-1896568A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27965"/>
            <a:ext cx="11029615" cy="3678303"/>
          </a:xfrm>
        </p:spPr>
        <p:txBody>
          <a:bodyPr/>
          <a:lstStyle/>
          <a:p>
            <a:r>
              <a:rPr lang="en-US" dirty="0"/>
              <a:t>A tool that enables you to interact with AWS services using commands in your command-line shell</a:t>
            </a:r>
          </a:p>
          <a:p>
            <a:r>
              <a:rPr lang="en-US" dirty="0"/>
              <a:t>Direct access to public APIs of AWS services</a:t>
            </a:r>
          </a:p>
          <a:p>
            <a:r>
              <a:rPr lang="en-US" dirty="0"/>
              <a:t>You can develop scripts to manage resources</a:t>
            </a:r>
          </a:p>
          <a:p>
            <a:r>
              <a:rPr lang="en-US" dirty="0"/>
              <a:t>It’s open source: </a:t>
            </a:r>
            <a:r>
              <a:rPr lang="en-US" dirty="0">
                <a:hlinkClick r:id="rId2"/>
              </a:rPr>
              <a:t>http://github.com/aws/aws-cli</a:t>
            </a:r>
            <a:endParaRPr lang="en-US" dirty="0"/>
          </a:p>
          <a:p>
            <a:r>
              <a:rPr lang="en-US" dirty="0"/>
              <a:t>Alternative to using AWS Management Console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904C7D-B5CA-BF63-70FC-1AD83CAE7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837" y="4738206"/>
            <a:ext cx="626832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12088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1744B-46E1-CC87-0C84-4729B0CCB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Access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70E89-59DC-A646-EF5A-6E6BFE951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344099" cy="4209913"/>
          </a:xfrm>
        </p:spPr>
        <p:txBody>
          <a:bodyPr/>
          <a:lstStyle/>
          <a:p>
            <a:r>
              <a:rPr lang="en-US" dirty="0"/>
              <a:t>Navigate to IAM &gt; Users &gt; (user) &gt; Create Access Key</a:t>
            </a:r>
          </a:p>
          <a:p>
            <a:r>
              <a:rPr lang="en-US" dirty="0"/>
              <a:t>Choose CLI</a:t>
            </a:r>
          </a:p>
          <a:p>
            <a:r>
              <a:rPr lang="en-US" dirty="0"/>
              <a:t>Copy details/download csv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E8C5ED-5BA3-1E73-AA91-01A77BED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11" y="2060231"/>
            <a:ext cx="6649211" cy="375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9708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E541C-46BC-190F-C55C-9667AE7A8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AWS CLI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9093096-6A8A-3CF4-773A-30DF8785FA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27" y="3139701"/>
            <a:ext cx="5353267" cy="17130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7AC5B6-A3DF-23E5-2EFB-1664AC22C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770" y="2755254"/>
            <a:ext cx="4759309" cy="2263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3A185C-5057-4E7F-0054-BC10C1172D10}"/>
              </a:ext>
            </a:extLst>
          </p:cNvPr>
          <p:cNvSpPr txBox="1"/>
          <p:nvPr/>
        </p:nvSpPr>
        <p:spPr>
          <a:xfrm>
            <a:off x="598727" y="1846284"/>
            <a:ext cx="106714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Download and run the installer (google it)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Run </a:t>
            </a:r>
            <a:r>
              <a:rPr lang="en-US" dirty="0" err="1"/>
              <a:t>aws</a:t>
            </a:r>
            <a:r>
              <a:rPr lang="en-US" dirty="0"/>
              <a:t> configure (output format may be left blank)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Now we can run commands, such as getting a list of our users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 err="1"/>
              <a:t>CloudShell</a:t>
            </a:r>
            <a:r>
              <a:rPr lang="en-US" dirty="0"/>
              <a:t> available for browser-based CLI access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0F424C-5638-E8D2-ABB4-39763A057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098" y="5111510"/>
            <a:ext cx="9697803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16618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D6352-264F-4DD9-9A49-3B6E03359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9C397-4A79-89E5-ACDD-BC51E8183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48226"/>
            <a:ext cx="11029615" cy="692195"/>
          </a:xfrm>
        </p:spPr>
        <p:txBody>
          <a:bodyPr/>
          <a:lstStyle/>
          <a:p>
            <a:r>
              <a:rPr lang="en-US" dirty="0"/>
              <a:t>It’s easy to setup cloud storage with the Simple Storage Service (S3)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C6BA1-8D79-B3DD-FF6F-CF3B3F9A2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58" y="2872691"/>
            <a:ext cx="10280073" cy="332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35512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E7FC-7B59-52F5-41A5-7307307F3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 – uploading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DE749-1D22-F0BF-E011-0BCF43737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3625" y="1977514"/>
            <a:ext cx="6852942" cy="895213"/>
          </a:xfrm>
        </p:spPr>
        <p:txBody>
          <a:bodyPr>
            <a:normAutofit/>
          </a:bodyPr>
          <a:lstStyle/>
          <a:p>
            <a:r>
              <a:rPr lang="en-US" dirty="0"/>
              <a:t>We can use either the web UI (upload button) or the AWS CLI</a:t>
            </a:r>
          </a:p>
          <a:p>
            <a:r>
              <a:rPr lang="en-US" dirty="0"/>
              <a:t>Copying over our script and the dataset into S3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16E16C-1BD8-D801-6937-258335E1C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26" y="2948789"/>
            <a:ext cx="10214344" cy="6257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D25EA6-99BC-B7AC-C451-394F7CED1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505" y="3726692"/>
            <a:ext cx="9182985" cy="10807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178B9C-C7D2-C008-2BF7-4A7A6DEA5A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6521" y="4959525"/>
            <a:ext cx="5898957" cy="16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6074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5269A-5E89-2CC2-F4F7-2C0ED4E76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D5F05-183A-C694-E8C3-12A6DB47E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https://aws.amazon.com/ec2/instance-types/</a:t>
            </a:r>
            <a:endParaRPr lang="en-US" dirty="0"/>
          </a:p>
          <a:p>
            <a:r>
              <a:rPr lang="en-US" dirty="0"/>
              <a:t>AWS has the following naming convention:</a:t>
            </a:r>
          </a:p>
          <a:p>
            <a:pPr lvl="1"/>
            <a:r>
              <a:rPr lang="en-US" dirty="0"/>
              <a:t>M5.2xlarge</a:t>
            </a:r>
          </a:p>
          <a:p>
            <a:pPr lvl="1"/>
            <a:r>
              <a:rPr lang="en-US" dirty="0"/>
              <a:t>M: instance class</a:t>
            </a:r>
          </a:p>
          <a:p>
            <a:pPr lvl="1"/>
            <a:r>
              <a:rPr lang="en-US" dirty="0"/>
              <a:t>5: generation (AWS improves/updates over time)</a:t>
            </a:r>
          </a:p>
          <a:p>
            <a:pPr lvl="1"/>
            <a:r>
              <a:rPr lang="en-US" dirty="0"/>
              <a:t>2xlarge: size within the instance class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A385D9-2990-4D0D-183A-8D19C9201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498" y="2673913"/>
            <a:ext cx="5841193" cy="314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42087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197C2-FB8A-C782-B5D9-E68938B32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General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77D43-BE47-F4AB-DA1F-D3EEBE3E1B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678583"/>
          </a:xfrm>
        </p:spPr>
        <p:txBody>
          <a:bodyPr/>
          <a:lstStyle/>
          <a:p>
            <a:r>
              <a:rPr lang="en-US" dirty="0"/>
              <a:t>Great for diverse workloads such as web servers or code repos</a:t>
            </a:r>
          </a:p>
          <a:p>
            <a:r>
              <a:rPr lang="en-US" dirty="0"/>
              <a:t>Balance between:</a:t>
            </a:r>
          </a:p>
          <a:p>
            <a:pPr lvl="1"/>
            <a:r>
              <a:rPr lang="en-US" dirty="0"/>
              <a:t>Compute 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Networking</a:t>
            </a:r>
          </a:p>
          <a:p>
            <a:r>
              <a:rPr lang="en-US" dirty="0"/>
              <a:t>In this course we will use t2.micro/t3.micro which is a general purpose EC2 instance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4DD8BD-DECB-0EED-39BC-40305F1C9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123" y="4761707"/>
            <a:ext cx="9615752" cy="1824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5028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C3764-BE83-6991-9A85-79DB86352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Compute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84BE4-13ED-E7F6-D595-33CF5334C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013555"/>
            <a:ext cx="11029615" cy="2830890"/>
          </a:xfrm>
        </p:spPr>
        <p:txBody>
          <a:bodyPr>
            <a:normAutofit/>
          </a:bodyPr>
          <a:lstStyle/>
          <a:p>
            <a:r>
              <a:rPr lang="en-US" dirty="0"/>
              <a:t>Great for compute-intensive tasks that require high performance processors</a:t>
            </a:r>
          </a:p>
          <a:p>
            <a:pPr lvl="1"/>
            <a:r>
              <a:rPr lang="en-US" dirty="0"/>
              <a:t>Batch processing workloads</a:t>
            </a:r>
          </a:p>
          <a:p>
            <a:pPr lvl="1"/>
            <a:r>
              <a:rPr lang="en-US" dirty="0"/>
              <a:t>Media transcoding</a:t>
            </a:r>
          </a:p>
          <a:p>
            <a:pPr lvl="1"/>
            <a:r>
              <a:rPr lang="en-US" dirty="0"/>
              <a:t>High performance web servers</a:t>
            </a:r>
          </a:p>
          <a:p>
            <a:pPr lvl="1"/>
            <a:r>
              <a:rPr lang="en-US" dirty="0"/>
              <a:t>High performance computing</a:t>
            </a:r>
          </a:p>
          <a:p>
            <a:pPr lvl="1"/>
            <a:r>
              <a:rPr lang="en-US" dirty="0"/>
              <a:t>Scientific modeling and machine learning</a:t>
            </a:r>
          </a:p>
          <a:p>
            <a:pPr lvl="1"/>
            <a:r>
              <a:rPr lang="en-US" dirty="0"/>
              <a:t>Dedicated gaming servers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649D9-73AC-8C21-4CAE-E4E21367F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102" y="4928260"/>
            <a:ext cx="6563794" cy="1739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0711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803AB-5663-A64B-E10D-80D579CA6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memory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FFF99-5744-E5CA-81CD-C373191D4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2366"/>
            <a:ext cx="11029615" cy="2771515"/>
          </a:xfrm>
        </p:spPr>
        <p:txBody>
          <a:bodyPr/>
          <a:lstStyle/>
          <a:p>
            <a:r>
              <a:rPr lang="en-US" dirty="0"/>
              <a:t>Fast Performance for workloads that process large data sets in memory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performance, relational/non-relational databases (in memory)</a:t>
            </a:r>
          </a:p>
          <a:p>
            <a:pPr lvl="1"/>
            <a:r>
              <a:rPr lang="en-US" dirty="0"/>
              <a:t>Distributed web scale cache stores</a:t>
            </a:r>
          </a:p>
          <a:p>
            <a:pPr lvl="1"/>
            <a:r>
              <a:rPr lang="en-US" dirty="0"/>
              <a:t>In-memory databases optimized for BI (Business Intelligence)</a:t>
            </a:r>
          </a:p>
          <a:p>
            <a:pPr lvl="1"/>
            <a:r>
              <a:rPr lang="en-US" dirty="0"/>
              <a:t>Applications performing real-time processing of big unstructured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1C9E0C-9648-935E-E978-47DB8424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474" y="4665667"/>
            <a:ext cx="7627050" cy="198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01868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CD364-A19B-EDB9-27F8-52BDB6F5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Storage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C9289-994D-606C-98E0-9E24B6BBC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4405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Great for storage intensive tasks that require high, sequential read and write access to large data sets on local storage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frequency online transactional processing (OLTP) systems</a:t>
            </a:r>
          </a:p>
          <a:p>
            <a:pPr lvl="1"/>
            <a:r>
              <a:rPr lang="en-US" dirty="0" err="1"/>
              <a:t>Relatioinal</a:t>
            </a:r>
            <a:r>
              <a:rPr lang="en-US" dirty="0"/>
              <a:t> &amp; NoSQL databases</a:t>
            </a:r>
          </a:p>
          <a:p>
            <a:pPr lvl="1"/>
            <a:r>
              <a:rPr lang="en-US" dirty="0"/>
              <a:t>Case for in-memory databases (ex: Redis)</a:t>
            </a:r>
          </a:p>
          <a:p>
            <a:pPr lvl="1"/>
            <a:r>
              <a:rPr lang="en-US" dirty="0"/>
              <a:t>Data warehousing applications</a:t>
            </a:r>
          </a:p>
          <a:p>
            <a:pPr lvl="1"/>
            <a:r>
              <a:rPr lang="en-US" dirty="0"/>
              <a:t>Distributed file systems</a:t>
            </a:r>
          </a:p>
          <a:p>
            <a:pPr lvl="1"/>
            <a:endParaRPr lang="en-US" dirty="0"/>
          </a:p>
          <a:p>
            <a:r>
              <a:rPr lang="en-US" dirty="0"/>
              <a:t>There are more types beyond what we have discussed. These are just the most important to know about right now!</a:t>
            </a:r>
          </a:p>
          <a:p>
            <a:r>
              <a:rPr lang="en-US" dirty="0"/>
              <a:t>Here is a resource to help compare specs: https://instances.vantage.sh/</a:t>
            </a:r>
          </a:p>
        </p:txBody>
      </p:sp>
    </p:spTree>
    <p:extLst>
      <p:ext uri="{BB962C8B-B14F-4D97-AF65-F5344CB8AC3E}">
        <p14:creationId xmlns:p14="http://schemas.microsoft.com/office/powerpoint/2010/main" val="419237145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– Key Pair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AED3AD-DDEB-1161-EE66-7DB8A5FEC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572718"/>
            <a:ext cx="11029950" cy="3583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8534B-384B-B082-D987-F6629CFD583B}"/>
              </a:ext>
            </a:extLst>
          </p:cNvPr>
          <p:cNvSpPr txBox="1"/>
          <p:nvPr/>
        </p:nvSpPr>
        <p:spPr>
          <a:xfrm>
            <a:off x="2919457" y="1821171"/>
            <a:ext cx="6353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pem</a:t>
            </a:r>
            <a:r>
              <a:rPr lang="en-US" dirty="0"/>
              <a:t> file may only be downloaded once, as a security measure</a:t>
            </a:r>
          </a:p>
          <a:p>
            <a:r>
              <a:rPr lang="en-US" dirty="0"/>
              <a:t>This file will let us SSH into an EC2 instance (our master node)</a:t>
            </a:r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CB29-D332-B7FE-B99B-9D350E1DF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AWS - Creating Roles (we will instead create roles automatically when creating the cluster; this is here for edification) – what is a role???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D4C2F-0171-65F5-3202-0567E4FA3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68769"/>
            <a:ext cx="11029615" cy="80342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IAM &gt; Roles &gt; Create Role</a:t>
            </a:r>
          </a:p>
          <a:p>
            <a:r>
              <a:rPr lang="en-US" dirty="0"/>
              <a:t>Add permissions, click next</a:t>
            </a:r>
          </a:p>
          <a:p>
            <a:r>
              <a:rPr lang="en-US" dirty="0"/>
              <a:t>Provide a name, verify details, click ‘create role’ (we will use this role later)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A7CC5E-39DF-ED06-8783-B050E7E58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46" y="2672195"/>
            <a:ext cx="7066517" cy="38368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F0620-BF9E-059B-5FCB-4D67A05C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13" y="1868768"/>
            <a:ext cx="3008797" cy="21730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0C4C72-E6A7-BCB6-671C-2E9CFEE2B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5510" y="4041788"/>
            <a:ext cx="2555601" cy="251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42299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0A205-28D9-3882-CDA1-5023EFE86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1FF5-0EB0-D662-5BD2-8D43FA25A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256082" cy="3678303"/>
          </a:xfrm>
        </p:spPr>
        <p:txBody>
          <a:bodyPr/>
          <a:lstStyle/>
          <a:p>
            <a:r>
              <a:rPr lang="en-US" dirty="0"/>
              <a:t>Just search for EMR </a:t>
            </a:r>
          </a:p>
          <a:p>
            <a:r>
              <a:rPr lang="en-US" dirty="0"/>
              <a:t>Click ‘Create cluster’ </a:t>
            </a:r>
          </a:p>
          <a:p>
            <a:r>
              <a:rPr lang="en-US" dirty="0"/>
              <a:t>AWS has built-in preconfigured settings for Spark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4CF61F-CF02-CC97-28F8-DA60DE753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186" y="2313986"/>
            <a:ext cx="4308394" cy="376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91236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9A715-1D43-E357-870B-D2BB23111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FADA4-316B-B46A-A1E9-2129B24DE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80175" cy="3678303"/>
          </a:xfrm>
        </p:spPr>
        <p:txBody>
          <a:bodyPr/>
          <a:lstStyle/>
          <a:p>
            <a:r>
              <a:rPr lang="en-US" dirty="0"/>
              <a:t>Default settings are mostly fine</a:t>
            </a:r>
          </a:p>
          <a:p>
            <a:r>
              <a:rPr lang="en-US" dirty="0"/>
              <a:t>Set cluster size manually so that we don’t blow up our budget – i.e. only the core + Task 1</a:t>
            </a:r>
          </a:p>
          <a:p>
            <a:r>
              <a:rPr lang="en-US" dirty="0"/>
              <a:t>Choose the EC2 key/pair we created earlier – this is so we can SSH into our master node later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9CBC9-BF5A-CFB5-47AE-29C2EE3F9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513" y="1884498"/>
            <a:ext cx="3293347" cy="25463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AB9596-D2D5-C903-DB9D-4FDFF5609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513" y="4601187"/>
            <a:ext cx="3796790" cy="188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60655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F0C00-C0BC-5BA1-B6F5-918FE232A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0BDFF-058D-BCF8-A151-F0C0AF832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513322" cy="3678303"/>
          </a:xfrm>
        </p:spPr>
        <p:txBody>
          <a:bodyPr/>
          <a:lstStyle/>
          <a:p>
            <a:r>
              <a:rPr lang="en-US" dirty="0"/>
              <a:t>We need to select or create a new role and EC2 instance profile</a:t>
            </a:r>
          </a:p>
          <a:p>
            <a:r>
              <a:rPr lang="en-US" dirty="0"/>
              <a:t>For now it’s easier to create a new one and select the default options</a:t>
            </a:r>
          </a:p>
          <a:p>
            <a:pPr lvl="1"/>
            <a:r>
              <a:rPr lang="en-US" dirty="0"/>
              <a:t>For EC2 instance profile, we also give read/write access to our S3 bucket  </a:t>
            </a:r>
          </a:p>
          <a:p>
            <a:r>
              <a:rPr lang="en-US" dirty="0"/>
              <a:t>Click ‘Create cluster’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F06213-0C81-AE73-0D6E-3327EA096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76" y="2271694"/>
            <a:ext cx="5916091" cy="17296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D2C091-56A4-DCF2-98EA-BCD19B5AF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403" y="4592046"/>
            <a:ext cx="6464835" cy="137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62544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F7DA4-046E-5033-8D81-AB47DCF8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4AEB1-E61C-1E4B-176D-8BFFD3608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/>
          <a:lstStyle/>
          <a:p>
            <a:r>
              <a:rPr lang="en-US" dirty="0"/>
              <a:t>Security Groups are a fundamental of network security in AWS</a:t>
            </a:r>
          </a:p>
          <a:p>
            <a:r>
              <a:rPr lang="en-US" dirty="0"/>
              <a:t>They control how traffic is allowed into or out of our EC2 instances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E24E41-63BC-3026-1F89-05FB7EBD8034}"/>
              </a:ext>
            </a:extLst>
          </p:cNvPr>
          <p:cNvSpPr txBox="1">
            <a:spLocks/>
          </p:cNvSpPr>
          <p:nvPr/>
        </p:nvSpPr>
        <p:spPr>
          <a:xfrm>
            <a:off x="581191" y="4991036"/>
            <a:ext cx="11029615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Security groups only contain ‘allow’ rules</a:t>
            </a:r>
          </a:p>
          <a:p>
            <a:r>
              <a:rPr lang="en-US" dirty="0"/>
              <a:t>Security groups rules can reference by IP or by security group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F654C8-28FE-AC22-7217-9F42A8534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466" y="3406218"/>
            <a:ext cx="6125430" cy="13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5979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4A66D-95DB-A632-6B93-2D0DD5953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9488F-3FF2-1EAC-CACA-CD3519335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35948"/>
            <a:ext cx="11029615" cy="2465932"/>
          </a:xfrm>
        </p:spPr>
        <p:txBody>
          <a:bodyPr/>
          <a:lstStyle/>
          <a:p>
            <a:r>
              <a:rPr lang="en-US" dirty="0"/>
              <a:t>Security groups act as a firewall on EC2 instances</a:t>
            </a:r>
          </a:p>
          <a:p>
            <a:r>
              <a:rPr lang="en-US" dirty="0"/>
              <a:t>The regulate:</a:t>
            </a:r>
          </a:p>
          <a:p>
            <a:pPr lvl="1"/>
            <a:r>
              <a:rPr lang="en-US" dirty="0"/>
              <a:t>Access to ports</a:t>
            </a:r>
          </a:p>
          <a:p>
            <a:pPr lvl="1"/>
            <a:r>
              <a:rPr lang="en-US" dirty="0"/>
              <a:t>Authorized IP ranges – IPv4 and IPv6</a:t>
            </a:r>
          </a:p>
          <a:p>
            <a:pPr lvl="1"/>
            <a:r>
              <a:rPr lang="en-US" dirty="0"/>
              <a:t>Control of inbound traffic (from external into the instance)</a:t>
            </a:r>
          </a:p>
          <a:p>
            <a:pPr lvl="1"/>
            <a:r>
              <a:rPr lang="en-US" dirty="0"/>
              <a:t>Control of outbound traffic (from instance to external)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870D2B-4125-43CB-E760-B17B0210D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440" y="4803105"/>
            <a:ext cx="10355120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98528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4A755-C3C4-ED22-F96E-D58F485B8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7CE0A1-85D3-E959-FC43-9B535F232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414" y="2497733"/>
            <a:ext cx="9469171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61522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DEE9C-92A4-B6B6-C388-83BFE8C03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– Things to keep in mind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2D26B-073D-8AC2-3D4D-DCA04A259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attached to multiple instances (and instances can have multiple groups)</a:t>
            </a:r>
          </a:p>
          <a:p>
            <a:r>
              <a:rPr lang="en-US" dirty="0"/>
              <a:t>Locked down to a specific region / VPC combination (more on VPC later)</a:t>
            </a:r>
          </a:p>
          <a:p>
            <a:r>
              <a:rPr lang="en-US" dirty="0"/>
              <a:t>Security groups live outside the EC2 – if traffic is blocked the EC2 will never even see it</a:t>
            </a:r>
          </a:p>
          <a:p>
            <a:r>
              <a:rPr lang="en-US" dirty="0"/>
              <a:t>Tip: it’s good to maintain one separate security group for SSH access</a:t>
            </a:r>
          </a:p>
          <a:p>
            <a:r>
              <a:rPr lang="en-US" dirty="0"/>
              <a:t>If your application is not accessible (time out), then it’s likely a security group issue</a:t>
            </a:r>
          </a:p>
          <a:p>
            <a:r>
              <a:rPr lang="en-US" dirty="0"/>
              <a:t>If your application gives a ‘connection refused’ error, then it’s likely an application error or it’s not launched</a:t>
            </a:r>
          </a:p>
          <a:p>
            <a:r>
              <a:rPr lang="en-US" dirty="0"/>
              <a:t>All inbound traffic is blocked by default</a:t>
            </a:r>
          </a:p>
          <a:p>
            <a:r>
              <a:rPr lang="en-US" dirty="0"/>
              <a:t>All outbound traffic is authorized by default</a:t>
            </a:r>
          </a:p>
        </p:txBody>
      </p:sp>
    </p:spTree>
    <p:extLst>
      <p:ext uri="{BB962C8B-B14F-4D97-AF65-F5344CB8AC3E}">
        <p14:creationId xmlns:p14="http://schemas.microsoft.com/office/powerpoint/2010/main" val="395732777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A7E8-840E-D0E0-ED8A-AB5F3DAC4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Referencing other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BBF1D-467E-E488-580F-FEF57B5BB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1948226"/>
            <a:ext cx="11029615" cy="626499"/>
          </a:xfrm>
        </p:spPr>
        <p:txBody>
          <a:bodyPr/>
          <a:lstStyle/>
          <a:p>
            <a:r>
              <a:rPr lang="en-US" dirty="0"/>
              <a:t>Security groups 1 and 2 are authorized for inbound, group 3 is not!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F31E2B-0587-EBC9-03F2-E5569D075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0" y="2664491"/>
            <a:ext cx="9412013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21070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F8AF6-2D21-06D7-AE00-E22CABEF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ports to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0A7AC-5D7C-62D8-5447-8C2DC2D28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22 = SSH (secure shell) – log into a </a:t>
            </a:r>
            <a:r>
              <a:rPr lang="en-US" dirty="0" err="1"/>
              <a:t>linux</a:t>
            </a:r>
            <a:r>
              <a:rPr lang="en-US" dirty="0"/>
              <a:t> instance</a:t>
            </a:r>
          </a:p>
          <a:p>
            <a:r>
              <a:rPr lang="en-US" dirty="0"/>
              <a:t>21 = FTP (file transfer protocol) – upload files into a file share</a:t>
            </a:r>
          </a:p>
          <a:p>
            <a:r>
              <a:rPr lang="en-US" dirty="0"/>
              <a:t>22 = SFTP (secure shell transfer protocol) – upload files using SSH</a:t>
            </a:r>
          </a:p>
          <a:p>
            <a:r>
              <a:rPr lang="en-US" dirty="0"/>
              <a:t>80 = HTTP – access unsecured websites</a:t>
            </a:r>
          </a:p>
          <a:p>
            <a:r>
              <a:rPr lang="en-US" dirty="0"/>
              <a:t>443 = HTTPS – access secured websites</a:t>
            </a:r>
          </a:p>
          <a:p>
            <a:r>
              <a:rPr lang="en-US" dirty="0"/>
              <a:t>3389 = RDP (remote desktop protocol) – log into a windows instance</a:t>
            </a:r>
          </a:p>
        </p:txBody>
      </p:sp>
    </p:spTree>
    <p:extLst>
      <p:ext uri="{BB962C8B-B14F-4D97-AF65-F5344CB8AC3E}">
        <p14:creationId xmlns:p14="http://schemas.microsoft.com/office/powerpoint/2010/main" val="62694795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BFA18-4C1A-006A-B188-731ED7D6F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 EC2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1403E-797A-50E1-0ECE-8A3C7B778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78615"/>
            <a:ext cx="11029615" cy="708781"/>
          </a:xfrm>
        </p:spPr>
        <p:txBody>
          <a:bodyPr/>
          <a:lstStyle/>
          <a:p>
            <a:r>
              <a:rPr lang="en-US" dirty="0"/>
              <a:t>EC2 &gt; Network &amp; Security &gt; Security Groups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DFC3EB-C040-F105-9884-5EE3BBECE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16" y="2687396"/>
            <a:ext cx="10042566" cy="376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2648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1F49-2E78-6340-D0DC-2077F2698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the security group on the primary </a:t>
            </a:r>
            <a:r>
              <a:rPr lang="en-US" dirty="0" err="1"/>
              <a:t>emr</a:t>
            </a:r>
            <a:r>
              <a:rPr lang="en-US" dirty="0"/>
              <a:t> node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3C886-A285-C5A7-B114-74DA9C52F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2061"/>
          </a:xfrm>
        </p:spPr>
        <p:txBody>
          <a:bodyPr/>
          <a:lstStyle/>
          <a:p>
            <a:r>
              <a:rPr lang="en-US" dirty="0"/>
              <a:t>On the security group attached to our primary node, we add a new inbound rule</a:t>
            </a:r>
          </a:p>
          <a:p>
            <a:r>
              <a:rPr lang="en-US" dirty="0"/>
              <a:t>Use ‘SSH’ port ‘22’ so we can get SSH access to our primary node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A40958-5DE1-BC3F-6968-853F3B28C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459" y="4188185"/>
            <a:ext cx="10565081" cy="173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47232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C3E0C-B95D-D52F-C4A2-57B53D0C4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Options - summary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D6A83A-B715-101A-FB86-0F631198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547" y="2059522"/>
            <a:ext cx="8106906" cy="409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313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1F873-5214-D97D-8C44-E2A9646BC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– Windows 10+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1B9B19-4298-D82A-8C35-0039705E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14" y="3040167"/>
            <a:ext cx="6644527" cy="28439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76A834-2004-10F2-0835-5D6FE066C3D2}"/>
              </a:ext>
            </a:extLst>
          </p:cNvPr>
          <p:cNvSpPr txBox="1"/>
          <p:nvPr/>
        </p:nvSpPr>
        <p:spPr>
          <a:xfrm>
            <a:off x="1527634" y="1974333"/>
            <a:ext cx="9924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should use the ‘</a:t>
            </a:r>
            <a:r>
              <a:rPr lang="en-US" dirty="0" err="1"/>
              <a:t>hadoop</a:t>
            </a:r>
            <a:r>
              <a:rPr lang="en-US" dirty="0"/>
              <a:t>’ user instead of ‘ec2-user’ when connecting to spark primary nodes!</a:t>
            </a:r>
          </a:p>
          <a:p>
            <a:endParaRPr lang="en-US" dirty="0"/>
          </a:p>
          <a:p>
            <a:r>
              <a:rPr lang="en-US" dirty="0"/>
              <a:t>We can get the instance connection information by clicking the ‘primary’ instance ID on the cluster page!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C5B022-70F1-5DB7-B920-C7AC4C84D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381" y="3960338"/>
            <a:ext cx="6090308" cy="282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64873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07D17-9C3D-DE37-9986-39947ADF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0A29B-ACAA-164E-E3B9-BE800F69F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073619"/>
            <a:ext cx="11029615" cy="552071"/>
          </a:xfrm>
        </p:spPr>
        <p:txBody>
          <a:bodyPr/>
          <a:lstStyle/>
          <a:p>
            <a:r>
              <a:rPr lang="en-US" dirty="0"/>
              <a:t>EC2 &gt; Click ‘Connect’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2A2053-4120-703D-FCEC-768164215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8" y="2785729"/>
            <a:ext cx="1165070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12169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38305-D2A6-D801-F5FC-7DA5A01E0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4A88D-614C-00B6-FF75-C928267EA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693333"/>
          </a:xfrm>
        </p:spPr>
        <p:txBody>
          <a:bodyPr/>
          <a:lstStyle/>
          <a:p>
            <a:r>
              <a:rPr lang="en-US" dirty="0"/>
              <a:t>Log in, submit the job, get results!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E85D64-E4A6-28F3-F03C-280D3363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761" y="3112323"/>
            <a:ext cx="11398473" cy="2715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43568D-C4B5-010B-3808-261E90D20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05" y="3480376"/>
            <a:ext cx="11811990" cy="2594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63AE5DB-A683-97F7-B456-F12465FAB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027" y="3863612"/>
            <a:ext cx="10101943" cy="2808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77777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9829-7C26-88D2-7E8A-E5CA27B3A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F5C69-93C2-E242-5B42-FE2004B49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212" y="2010375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See ‘bucketingExample.py’ in course materials</a:t>
            </a:r>
          </a:p>
          <a:p>
            <a:r>
              <a:rPr lang="en-US" dirty="0"/>
              <a:t>Only works with </a:t>
            </a:r>
            <a:r>
              <a:rPr lang="en-US" dirty="0" err="1"/>
              <a:t>saveAsTable</a:t>
            </a:r>
            <a:r>
              <a:rPr lang="en-US" dirty="0"/>
              <a:t>(), you can NOT use it when savings files directly. i.e. </a:t>
            </a:r>
            <a:r>
              <a:rPr lang="en-US" dirty="0" err="1">
                <a:solidFill>
                  <a:srgbClr val="FF0000"/>
                </a:solidFill>
              </a:rPr>
              <a:t>df.write.bucketBy</a:t>
            </a:r>
            <a:r>
              <a:rPr lang="en-US" dirty="0">
                <a:solidFill>
                  <a:srgbClr val="FF0000"/>
                </a:solidFill>
              </a:rPr>
              <a:t>(4, ‘something’).parquet(‘something’)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 will not work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If both tables are bucketed by ‘</a:t>
            </a:r>
            <a:r>
              <a:rPr lang="en-US" dirty="0" err="1"/>
              <a:t>customer_id</a:t>
            </a:r>
            <a:r>
              <a:rPr lang="en-US" dirty="0"/>
              <a:t>’ into 8 buckets, then</a:t>
            </a:r>
          </a:p>
          <a:p>
            <a:pPr lvl="1"/>
            <a:r>
              <a:rPr lang="en-US" dirty="0"/>
              <a:t>Customer 101 always goes to the same bucket for both tables</a:t>
            </a:r>
          </a:p>
          <a:p>
            <a:pPr lvl="1"/>
            <a:r>
              <a:rPr lang="en-US" dirty="0"/>
              <a:t>Customer 102 also goes into the corresponding bucket for both tables</a:t>
            </a:r>
          </a:p>
          <a:p>
            <a:r>
              <a:rPr lang="en-US" dirty="0"/>
              <a:t>When spark performs a join, it can match corresponding buckets directly instead of shuffling all the data across the cluster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C02F12-93E5-9931-87CC-0BDBBE2D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790" y="3429000"/>
            <a:ext cx="4372585" cy="32198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9BB0C0F-528F-A506-788C-0235F9643F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7291" y="1916988"/>
            <a:ext cx="4191585" cy="14003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B688CE-AA24-911A-39AE-2F108FDB53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452" y="5827161"/>
            <a:ext cx="3439961" cy="80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2212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22192-2858-62D7-C7BF-0FFEFAB03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Bucketing vs Partitioning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FC524E-1D3F-884C-B8CE-6FB90A8F77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0865077"/>
              </p:ext>
            </p:extLst>
          </p:nvPr>
        </p:nvGraphicFramePr>
        <p:xfrm>
          <a:off x="580858" y="4467941"/>
          <a:ext cx="11029950" cy="2194560"/>
        </p:xfrm>
        <a:graphic>
          <a:graphicData uri="http://schemas.openxmlformats.org/drawingml/2006/table">
            <a:tbl>
              <a:tblPr/>
              <a:tblGrid>
                <a:gridCol w="3676650">
                  <a:extLst>
                    <a:ext uri="{9D8B030D-6E8A-4147-A177-3AD203B41FA5}">
                      <a16:colId xmlns:a16="http://schemas.microsoft.com/office/drawing/2014/main" val="1250539990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960554239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7427431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Partitioning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Bucketing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1834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Based 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Column values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Hash of column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2351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Directory 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37898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Number decided by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Distinct values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Fixed number of buckets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7692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Good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Filtering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Joins and aggregations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557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Handles high-cardinality columns well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412868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AEFC8EEA-35CC-103D-F304-34B6E1FBA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3768" y="2515384"/>
            <a:ext cx="3267531" cy="2667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9944D4-DC81-EFE9-E9EB-80B27E4AA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042" y="3349234"/>
            <a:ext cx="1371791" cy="8383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F26FBEC-FDE7-130B-9410-4C66ACF86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457" y="3314814"/>
            <a:ext cx="666843" cy="752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309D28-13F6-A09A-7E63-84197A55A8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3354" y="1990199"/>
            <a:ext cx="2971047" cy="105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372583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29433</TotalTime>
  <Words>6750</Words>
  <Application>Microsoft Office PowerPoint</Application>
  <PresentationFormat>Widescreen</PresentationFormat>
  <Paragraphs>782</Paragraphs>
  <Slides>141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141</vt:i4>
      </vt:variant>
    </vt:vector>
  </HeadingPairs>
  <TitlesOfParts>
    <vt:vector size="147" baseType="lpstr">
      <vt:lpstr>Arial</vt:lpstr>
      <vt:lpstr>Courier New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VSCODE – Recommended Extensions</vt:lpstr>
      <vt:lpstr>PySpark Example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Shuffling</vt:lpstr>
      <vt:lpstr>Shuffling</vt:lpstr>
      <vt:lpstr>Narrow vs wide transformations</vt:lpstr>
      <vt:lpstr>Repartition vs coalesce</vt:lpstr>
      <vt:lpstr>Spark SQL</vt:lpstr>
      <vt:lpstr>Using Spark SQL in Python</vt:lpstr>
      <vt:lpstr>Other stuff you can do with dataframes</vt:lpstr>
      <vt:lpstr>DataFrames vs Datasets</vt:lpstr>
      <vt:lpstr>I/o – RDDs &amp; DataFrames</vt:lpstr>
      <vt:lpstr>Parquet</vt:lpstr>
      <vt:lpstr>Parquet – optimizing filters</vt:lpstr>
      <vt:lpstr>CSV, compression, headers, schemas</vt:lpstr>
      <vt:lpstr>Csv, compression, headers, &amp; Schemas</vt:lpstr>
      <vt:lpstr>Json</vt:lpstr>
      <vt:lpstr>ORC</vt:lpstr>
      <vt:lpstr>Dataframe reader options</vt:lpstr>
      <vt:lpstr>So what format is used most often?</vt:lpstr>
      <vt:lpstr>User-Defined Functions - udf</vt:lpstr>
      <vt:lpstr>Cache() - 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SQL Endpoint for jdbc/odbc</vt:lpstr>
      <vt:lpstr>Spark Connect</vt:lpstr>
      <vt:lpstr>Why Spark connect</vt:lpstr>
      <vt:lpstr>Using Spark Connect</vt:lpstr>
      <vt:lpstr>Amazon EMR – elastic Map Reduce</vt:lpstr>
      <vt:lpstr>Partitions ON clusters</vt:lpstr>
      <vt:lpstr>Choosing a partition size</vt:lpstr>
      <vt:lpstr>Specifying Memory per executor</vt:lpstr>
      <vt:lpstr>Specifying a cluster manager</vt:lpstr>
      <vt:lpstr>Running on a cluster</vt:lpstr>
      <vt:lpstr>AWS - IAM Guidelines &amp; Best Practices</vt:lpstr>
      <vt:lpstr>AWS - IAM Summary</vt:lpstr>
      <vt:lpstr>AWS - IAM Billing Access</vt:lpstr>
      <vt:lpstr>Stop here</vt:lpstr>
      <vt:lpstr>Various ways to access AWS</vt:lpstr>
      <vt:lpstr>What is the AWS CLI?</vt:lpstr>
      <vt:lpstr>Create Access Keys</vt:lpstr>
      <vt:lpstr>Setup AWS CLI</vt:lpstr>
      <vt:lpstr>S3</vt:lpstr>
      <vt:lpstr>S3 – uploading files</vt:lpstr>
      <vt:lpstr>EC2 Instance Types</vt:lpstr>
      <vt:lpstr>EC2 Instance Types – General Purpose</vt:lpstr>
      <vt:lpstr>EC2 Instance Types – Compute Optimized</vt:lpstr>
      <vt:lpstr>EC2 Instance types – memory optimized</vt:lpstr>
      <vt:lpstr>EC2 Instance Types – Storage Optimized</vt:lpstr>
      <vt:lpstr>Aws – Key Pair</vt:lpstr>
      <vt:lpstr>AWS - Creating Roles (we will instead create roles automatically when creating the cluster; this is here for edification) – what is a role???</vt:lpstr>
      <vt:lpstr>EMR</vt:lpstr>
      <vt:lpstr>Emr setup</vt:lpstr>
      <vt:lpstr>Emr setup</vt:lpstr>
      <vt:lpstr>Intro To security Groups</vt:lpstr>
      <vt:lpstr>Intro to Security Groups</vt:lpstr>
      <vt:lpstr>Security Groups Diagram</vt:lpstr>
      <vt:lpstr>Security Groups – Things to keep in mind</vt:lpstr>
      <vt:lpstr>Referencing other security groups</vt:lpstr>
      <vt:lpstr>Standard ports to know</vt:lpstr>
      <vt:lpstr>Manage EC2 Security Groups</vt:lpstr>
      <vt:lpstr>Edit the security group on the primary emr node</vt:lpstr>
      <vt:lpstr>SSH Options - summary</vt:lpstr>
      <vt:lpstr>SSH – Windows 10+</vt:lpstr>
      <vt:lpstr>EC2 Instance Connect</vt:lpstr>
      <vt:lpstr>Putting it all together…</vt:lpstr>
      <vt:lpstr>Bucketing</vt:lpstr>
      <vt:lpstr>Bucketing vs Partitioning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648</cp:revision>
  <dcterms:created xsi:type="dcterms:W3CDTF">2025-02-12T19:53:45Z</dcterms:created>
  <dcterms:modified xsi:type="dcterms:W3CDTF">2026-07-14T17:29:24Z</dcterms:modified>
</cp:coreProperties>
</file>