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sldIdLst>
    <p:sldId id="256" r:id="rId2"/>
    <p:sldId id="263" r:id="rId3"/>
    <p:sldId id="277" r:id="rId4"/>
    <p:sldId id="278" r:id="rId5"/>
    <p:sldId id="279" r:id="rId6"/>
    <p:sldId id="264" r:id="rId7"/>
    <p:sldId id="265" r:id="rId8"/>
    <p:sldId id="266" r:id="rId9"/>
    <p:sldId id="267" r:id="rId10"/>
    <p:sldId id="269" r:id="rId11"/>
    <p:sldId id="268" r:id="rId12"/>
    <p:sldId id="270" r:id="rId13"/>
    <p:sldId id="271" r:id="rId14"/>
    <p:sldId id="272" r:id="rId15"/>
    <p:sldId id="273" r:id="rId16"/>
    <p:sldId id="274" r:id="rId17"/>
    <p:sldId id="275" r:id="rId18"/>
    <p:sldId id="276" r:id="rId19"/>
    <p:sldId id="314" r:id="rId20"/>
    <p:sldId id="280" r:id="rId21"/>
    <p:sldId id="281" r:id="rId22"/>
    <p:sldId id="282" r:id="rId23"/>
    <p:sldId id="283" r:id="rId24"/>
    <p:sldId id="284" r:id="rId25"/>
    <p:sldId id="285" r:id="rId26"/>
    <p:sldId id="286" r:id="rId27"/>
    <p:sldId id="287" r:id="rId28"/>
    <p:sldId id="288" r:id="rId29"/>
    <p:sldId id="289" r:id="rId30"/>
    <p:sldId id="290" r:id="rId31"/>
    <p:sldId id="291" r:id="rId32"/>
    <p:sldId id="292" r:id="rId33"/>
    <p:sldId id="294" r:id="rId34"/>
    <p:sldId id="293" r:id="rId35"/>
    <p:sldId id="295" r:id="rId36"/>
    <p:sldId id="296" r:id="rId37"/>
    <p:sldId id="297" r:id="rId38"/>
    <p:sldId id="299" r:id="rId39"/>
    <p:sldId id="298" r:id="rId40"/>
    <p:sldId id="300" r:id="rId41"/>
    <p:sldId id="301" r:id="rId42"/>
    <p:sldId id="302" r:id="rId43"/>
    <p:sldId id="303" r:id="rId44"/>
    <p:sldId id="304" r:id="rId45"/>
    <p:sldId id="306" r:id="rId46"/>
    <p:sldId id="347" r:id="rId47"/>
    <p:sldId id="348" r:id="rId48"/>
    <p:sldId id="349" r:id="rId49"/>
    <p:sldId id="350" r:id="rId50"/>
    <p:sldId id="305" r:id="rId51"/>
    <p:sldId id="307" r:id="rId52"/>
    <p:sldId id="308" r:id="rId53"/>
    <p:sldId id="309" r:id="rId54"/>
    <p:sldId id="353" r:id="rId55"/>
    <p:sldId id="354" r:id="rId56"/>
    <p:sldId id="359" r:id="rId57"/>
    <p:sldId id="355" r:id="rId58"/>
    <p:sldId id="356" r:id="rId59"/>
    <p:sldId id="357" r:id="rId60"/>
    <p:sldId id="358" r:id="rId61"/>
    <p:sldId id="360" r:id="rId62"/>
    <p:sldId id="399" r:id="rId63"/>
    <p:sldId id="311" r:id="rId64"/>
    <p:sldId id="312" r:id="rId65"/>
    <p:sldId id="313" r:id="rId66"/>
    <p:sldId id="316" r:id="rId67"/>
    <p:sldId id="315" r:id="rId68"/>
    <p:sldId id="317" r:id="rId69"/>
    <p:sldId id="318" r:id="rId70"/>
    <p:sldId id="319" r:id="rId71"/>
    <p:sldId id="321" r:id="rId72"/>
    <p:sldId id="320" r:id="rId73"/>
    <p:sldId id="322" r:id="rId74"/>
    <p:sldId id="323" r:id="rId75"/>
    <p:sldId id="324" r:id="rId76"/>
    <p:sldId id="325" r:id="rId77"/>
    <p:sldId id="327" r:id="rId78"/>
    <p:sldId id="328" r:id="rId79"/>
    <p:sldId id="326" r:id="rId80"/>
    <p:sldId id="329" r:id="rId81"/>
    <p:sldId id="330" r:id="rId82"/>
    <p:sldId id="331" r:id="rId83"/>
    <p:sldId id="332" r:id="rId84"/>
    <p:sldId id="334" r:id="rId85"/>
    <p:sldId id="333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10" r:id="rId94"/>
    <p:sldId id="342" r:id="rId95"/>
    <p:sldId id="343" r:id="rId96"/>
    <p:sldId id="344" r:id="rId97"/>
    <p:sldId id="345" r:id="rId98"/>
    <p:sldId id="351" r:id="rId99"/>
    <p:sldId id="352" r:id="rId100"/>
    <p:sldId id="361" r:id="rId101"/>
    <p:sldId id="362" r:id="rId102"/>
    <p:sldId id="363" r:id="rId103"/>
    <p:sldId id="365" r:id="rId104"/>
    <p:sldId id="366" r:id="rId105"/>
    <p:sldId id="367" r:id="rId106"/>
    <p:sldId id="369" r:id="rId107"/>
    <p:sldId id="378" r:id="rId108"/>
    <p:sldId id="379" r:id="rId109"/>
    <p:sldId id="381" r:id="rId110"/>
    <p:sldId id="382" r:id="rId111"/>
    <p:sldId id="383" r:id="rId112"/>
    <p:sldId id="384" r:id="rId113"/>
    <p:sldId id="370" r:id="rId114"/>
    <p:sldId id="371" r:id="rId115"/>
    <p:sldId id="372" r:id="rId116"/>
    <p:sldId id="373" r:id="rId117"/>
    <p:sldId id="374" r:id="rId118"/>
    <p:sldId id="346" r:id="rId119"/>
    <p:sldId id="368" r:id="rId120"/>
    <p:sldId id="375" r:id="rId121"/>
    <p:sldId id="364" r:id="rId122"/>
    <p:sldId id="376" r:id="rId123"/>
    <p:sldId id="385" r:id="rId124"/>
    <p:sldId id="386" r:id="rId125"/>
    <p:sldId id="387" r:id="rId126"/>
    <p:sldId id="388" r:id="rId127"/>
    <p:sldId id="389" r:id="rId128"/>
    <p:sldId id="390" r:id="rId129"/>
    <p:sldId id="391" r:id="rId130"/>
    <p:sldId id="396" r:id="rId131"/>
    <p:sldId id="392" r:id="rId132"/>
    <p:sldId id="393" r:id="rId133"/>
    <p:sldId id="394" r:id="rId134"/>
    <p:sldId id="377" r:id="rId135"/>
    <p:sldId id="398" r:id="rId136"/>
    <p:sldId id="397" r:id="rId13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D3D3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C8EF453-3095-AE8A-2F6D-B0378CA79EC1}" v="28" dt="2025-06-02T16:07:27.587"/>
    <p1510:client id="{DEF17522-F9FC-8578-697D-16CF15692E13}" v="5" dt="2025-06-03T14:51:56.48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9972" autoAdjust="0"/>
    <p:restoredTop sz="94660"/>
  </p:normalViewPr>
  <p:slideViewPr>
    <p:cSldViewPr snapToGrid="0">
      <p:cViewPr varScale="1">
        <p:scale>
          <a:sx n="60" d="100"/>
          <a:sy n="60" d="100"/>
        </p:scale>
        <p:origin x="648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presProps" Target="presProps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28" Type="http://schemas.openxmlformats.org/officeDocument/2006/relationships/slide" Target="slides/slide127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18" Type="http://schemas.openxmlformats.org/officeDocument/2006/relationships/slide" Target="slides/slide117.xml"/><Relationship Id="rId134" Type="http://schemas.openxmlformats.org/officeDocument/2006/relationships/slide" Target="slides/slide133.xml"/><Relationship Id="rId139" Type="http://schemas.openxmlformats.org/officeDocument/2006/relationships/viewProps" Target="viewProps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124" Type="http://schemas.openxmlformats.org/officeDocument/2006/relationships/slide" Target="slides/slide123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4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35" Type="http://schemas.openxmlformats.org/officeDocument/2006/relationships/slide" Target="slides/slide134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slide" Target="slides/slide124.xml"/><Relationship Id="rId141" Type="http://schemas.openxmlformats.org/officeDocument/2006/relationships/tableStyles" Target="tableStyle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slide" Target="slides/slide130.xml"/><Relationship Id="rId136" Type="http://schemas.openxmlformats.org/officeDocument/2006/relationships/slide" Target="slides/slide135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microsoft.com/office/2015/10/relationships/revisionInfo" Target="revisionInfo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6" Type="http://schemas.openxmlformats.org/officeDocument/2006/relationships/slide" Target="slides/slide15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effectLst/>
        </p:spPr>
        <p:txBody>
          <a:bodyPr anchor="b">
            <a:normAutofit/>
          </a:bodyPr>
          <a:lstStyle>
            <a:lvl1pPr>
              <a:defRPr sz="360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</p:spPr>
        <p:txBody>
          <a:bodyPr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605951" y="5956137"/>
            <a:ext cx="284480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7/19/2026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81192" y="5951811"/>
            <a:ext cx="691721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1644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81139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367830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7/19/2026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08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158775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</p:spPr>
        <p:txBody>
          <a:bodyPr anchor="b">
            <a:normAutofit/>
          </a:bodyPr>
          <a:lstStyle>
            <a:lvl1pPr algn="l">
              <a:defRPr sz="3600" b="0" cap="all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7/19/2026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73755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5422390" cy="3633047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8417" y="2228003"/>
            <a:ext cx="5422392" cy="3633047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7/19/2026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65091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7219" y="2250892"/>
            <a:ext cx="5087075" cy="536005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194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3735" y="2250892"/>
            <a:ext cx="5087073" cy="553373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709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7/19/2026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22488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7/19/2026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599881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7/19/2026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82994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</p:spPr>
        <p:txBody>
          <a:bodyPr anchor="ctr"/>
          <a:lstStyle>
            <a:lvl1pPr algn="l">
              <a:defRPr sz="2000" b="0"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7816" y="601200"/>
            <a:ext cx="11292840" cy="4204800"/>
          </a:xfrm>
        </p:spPr>
        <p:txBody>
          <a:bodyPr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740823" y="5262296"/>
            <a:ext cx="5869987" cy="689515"/>
          </a:xfrm>
        </p:spPr>
        <p:txBody>
          <a:bodyPr anchor="ctr">
            <a:normAutofit/>
          </a:bodyPr>
          <a:lstStyle>
            <a:lvl1pPr marL="0" indent="0" algn="r">
              <a:buNone/>
              <a:defRPr sz="1100">
                <a:solidFill>
                  <a:schemeClr val="bg1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7/19/2026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137106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7817" y="599725"/>
            <a:ext cx="11290859" cy="3557252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192" y="5260127"/>
            <a:ext cx="11029617" cy="598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7/19/2026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97160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7/19/2026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090617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1" y="675726"/>
            <a:ext cx="2004164" cy="5183073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4923" y="675726"/>
            <a:ext cx="7896279" cy="5183073"/>
          </a:xfrm>
        </p:spPr>
        <p:txBody>
          <a:bodyPr vert="eaVert" anchor="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93673" y="5956137"/>
            <a:ext cx="1328141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7/19/2026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74923" y="5951811"/>
            <a:ext cx="7896279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46615" y="5956137"/>
            <a:ext cx="1164195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8553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dirty="0"/>
              <a:t>Six</a:t>
            </a:r>
          </a:p>
          <a:p>
            <a:pPr lvl="6"/>
            <a:r>
              <a:rPr lang="en-US" dirty="0"/>
              <a:t>Seven</a:t>
            </a:r>
          </a:p>
          <a:p>
            <a:pPr lvl="7"/>
            <a:r>
              <a:rPr lang="en-US" dirty="0"/>
              <a:t>Eight</a:t>
            </a:r>
          </a:p>
          <a:p>
            <a:pPr lvl="8"/>
            <a:r>
              <a:rPr lang="en-US" dirty="0"/>
              <a:t>ni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7/19/2026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accent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66156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457200" rtl="0" eaLnBrk="1" latinLnBrk="0" hangingPunct="1">
        <a:spcBef>
          <a:spcPct val="0"/>
        </a:spcBef>
        <a:buNone/>
        <a:defRPr sz="280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hyperlink" Target="https://grouplens.org/datasets/movielens/" TargetMode="Externa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1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youtube.com/watch?v=5NA57Pfpdr4" TargetMode="Externa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.png"/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4.png"/><Relationship Id="rId5" Type="http://schemas.openxmlformats.org/officeDocument/2006/relationships/image" Target="../media/image83.png"/><Relationship Id="rId4" Type="http://schemas.openxmlformats.org/officeDocument/2006/relationships/image" Target="../media/image82.png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5.png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7.png"/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9.png"/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1.png"/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4.png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5.png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6.png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8.png"/><Relationship Id="rId2" Type="http://schemas.openxmlformats.org/officeDocument/2006/relationships/image" Target="../media/image9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1.png"/><Relationship Id="rId5" Type="http://schemas.openxmlformats.org/officeDocument/2006/relationships/image" Target="../media/image100.png"/><Relationship Id="rId4" Type="http://schemas.openxmlformats.org/officeDocument/2006/relationships/image" Target="../media/image99.png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3.png"/><Relationship Id="rId2" Type="http://schemas.openxmlformats.org/officeDocument/2006/relationships/image" Target="../media/image10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4.png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6.png"/><Relationship Id="rId2" Type="http://schemas.openxmlformats.org/officeDocument/2006/relationships/image" Target="../media/image105.png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8.png"/><Relationship Id="rId2" Type="http://schemas.openxmlformats.org/officeDocument/2006/relationships/image" Target="../media/image107.png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9.png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1.png"/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2.png"/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3.png"/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4.png"/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6.png"/><Relationship Id="rId2" Type="http://schemas.openxmlformats.org/officeDocument/2006/relationships/image" Target="../media/image11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8.png"/><Relationship Id="rId4" Type="http://schemas.openxmlformats.org/officeDocument/2006/relationships/image" Target="../media/image117.png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9.png"/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9.png"/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1.png"/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2.png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3.png"/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4.png"/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5.png"/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6.png"/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7.png"/><Relationship Id="rId2" Type="http://schemas.openxmlformats.org/officeDocument/2006/relationships/hyperlink" Target="http://github.com/aws/aws-cli" TargetMode="External"/><Relationship Id="rId1" Type="http://schemas.openxmlformats.org/officeDocument/2006/relationships/slideLayout" Target="../slideLayouts/slideLayout2.xml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8.png"/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0.png"/><Relationship Id="rId2" Type="http://schemas.openxmlformats.org/officeDocument/2006/relationships/image" Target="../media/image12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1.png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2.png"/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4.png"/><Relationship Id="rId2" Type="http://schemas.openxmlformats.org/officeDocument/2006/relationships/image" Target="../media/image13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5.png"/></Relationships>
</file>

<file path=ppt/slides/_rels/slide1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6.png"/><Relationship Id="rId2" Type="http://schemas.openxmlformats.org/officeDocument/2006/relationships/hyperlink" Target="https://aws.amazon.com/ec2/instance-types/" TargetMode="External"/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7.png"/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8.png"/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9.png"/><Relationship Id="rId1" Type="http://schemas.openxmlformats.org/officeDocument/2006/relationships/slideLayout" Target="../slideLayouts/slideLayout2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0.png"/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2.png"/><Relationship Id="rId2" Type="http://schemas.openxmlformats.org/officeDocument/2006/relationships/image" Target="../media/image14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3.png"/></Relationships>
</file>

<file path=ppt/slides/_rels/slide1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4.png"/><Relationship Id="rId1" Type="http://schemas.openxmlformats.org/officeDocument/2006/relationships/slideLayout" Target="../slideLayouts/slideLayout2.xml"/></Relationships>
</file>

<file path=ppt/slides/_rels/slide1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6.png"/><Relationship Id="rId2" Type="http://schemas.openxmlformats.org/officeDocument/2006/relationships/image" Target="../media/image145.png"/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8.png"/><Relationship Id="rId2" Type="http://schemas.openxmlformats.org/officeDocument/2006/relationships/image" Target="../media/image147.png"/><Relationship Id="rId1" Type="http://schemas.openxmlformats.org/officeDocument/2006/relationships/slideLayout" Target="../slideLayouts/slideLayout2.xml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9.png"/><Relationship Id="rId1" Type="http://schemas.openxmlformats.org/officeDocument/2006/relationships/slideLayout" Target="../slideLayouts/slideLayout2.xml"/></Relationships>
</file>

<file path=ppt/slides/_rels/slide1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0.png"/><Relationship Id="rId1" Type="http://schemas.openxmlformats.org/officeDocument/2006/relationships/slideLayout" Target="../slideLayouts/slideLayout2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1.png"/><Relationship Id="rId1" Type="http://schemas.openxmlformats.org/officeDocument/2006/relationships/slideLayout" Target="../slideLayouts/slideLayout2.xml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2.png"/><Relationship Id="rId1" Type="http://schemas.openxmlformats.org/officeDocument/2006/relationships/slideLayout" Target="../slideLayouts/slideLayout2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3.png"/><Relationship Id="rId1" Type="http://schemas.openxmlformats.org/officeDocument/2006/relationships/slideLayout" Target="../slideLayouts/slideLayout2.xml"/></Relationships>
</file>

<file path=ppt/slides/_rels/slide1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4.png"/><Relationship Id="rId1" Type="http://schemas.openxmlformats.org/officeDocument/2006/relationships/slideLayout" Target="../slideLayouts/slideLayout2.xml"/></Relationships>
</file>

<file path=ppt/slides/_rels/slide1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5.png"/><Relationship Id="rId1" Type="http://schemas.openxmlformats.org/officeDocument/2006/relationships/slideLayout" Target="../slideLayouts/slideLayout2.xml"/></Relationships>
</file>

<file path=ppt/slides/_rels/slide1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7.png"/><Relationship Id="rId2" Type="http://schemas.openxmlformats.org/officeDocument/2006/relationships/image" Target="../media/image156.png"/><Relationship Id="rId1" Type="http://schemas.openxmlformats.org/officeDocument/2006/relationships/slideLayout" Target="../slideLayouts/slideLayout2.xml"/></Relationships>
</file>

<file path=ppt/slides/_rels/slide1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8.png"/><Relationship Id="rId1" Type="http://schemas.openxmlformats.org/officeDocument/2006/relationships/slideLayout" Target="../slideLayouts/slideLayout2.xml"/></Relationships>
</file>

<file path=ppt/slides/_rels/slide1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0.png"/><Relationship Id="rId2" Type="http://schemas.openxmlformats.org/officeDocument/2006/relationships/image" Target="../media/image15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1.png"/></Relationships>
</file>

<file path=ppt/slides/_rels/slide1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3.png"/><Relationship Id="rId2" Type="http://schemas.openxmlformats.org/officeDocument/2006/relationships/image" Target="../media/image16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4.png"/></Relationships>
</file>

<file path=ppt/slides/_rels/slide1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6.png"/><Relationship Id="rId2" Type="http://schemas.openxmlformats.org/officeDocument/2006/relationships/image" Target="../media/image16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8.png"/><Relationship Id="rId4" Type="http://schemas.openxmlformats.org/officeDocument/2006/relationships/image" Target="../media/image16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/>
              <a:t>pySpark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783C39-E077-D887-4D88-664F8CD866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Curriculum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6C300644-BCAA-DA4E-1D0B-F8CCC69423D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55384490"/>
              </p:ext>
            </p:extLst>
          </p:nvPr>
        </p:nvGraphicFramePr>
        <p:xfrm>
          <a:off x="581025" y="2194560"/>
          <a:ext cx="11029950" cy="3140130"/>
        </p:xfrm>
        <a:graphic>
          <a:graphicData uri="http://schemas.openxmlformats.org/drawingml/2006/table">
            <a:tbl>
              <a:tblPr/>
              <a:tblGrid>
                <a:gridCol w="1354246">
                  <a:extLst>
                    <a:ext uri="{9D8B030D-6E8A-4147-A177-3AD203B41FA5}">
                      <a16:colId xmlns:a16="http://schemas.microsoft.com/office/drawing/2014/main" val="3212514221"/>
                    </a:ext>
                  </a:extLst>
                </a:gridCol>
                <a:gridCol w="3839228">
                  <a:extLst>
                    <a:ext uri="{9D8B030D-6E8A-4147-A177-3AD203B41FA5}">
                      <a16:colId xmlns:a16="http://schemas.microsoft.com/office/drawing/2014/main" val="3821317148"/>
                    </a:ext>
                  </a:extLst>
                </a:gridCol>
                <a:gridCol w="5836476">
                  <a:extLst>
                    <a:ext uri="{9D8B030D-6E8A-4147-A177-3AD203B41FA5}">
                      <a16:colId xmlns:a16="http://schemas.microsoft.com/office/drawing/2014/main" val="4134838666"/>
                    </a:ext>
                  </a:extLst>
                </a:gridCol>
              </a:tblGrid>
              <a:tr h="5000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Week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Topic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What it solves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28070585"/>
                  </a:ext>
                </a:extLst>
              </a:tr>
              <a:tr h="5000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1-2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 err="1"/>
                        <a:t>PySpark</a:t>
                      </a:r>
                      <a:endParaRPr lang="en-US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Transform/Process Data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24875430"/>
                  </a:ext>
                </a:extLst>
              </a:tr>
              <a:tr h="5000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3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Snowflake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Store and Query Data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67043587"/>
                  </a:ext>
                </a:extLst>
              </a:tr>
              <a:tr h="5000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4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Airflow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Orchestration for Data Pipelines (batch processing)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83749573"/>
                  </a:ext>
                </a:extLst>
              </a:tr>
              <a:tr h="5000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5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Kafka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Real-Time Processing (streaming processing)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47241806"/>
                  </a:ext>
                </a:extLst>
              </a:tr>
              <a:tr h="5000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6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Power BI + </a:t>
                      </a:r>
                      <a:r>
                        <a:rPr lang="en-US" dirty="0" err="1"/>
                        <a:t>DataOps</a:t>
                      </a:r>
                      <a:r>
                        <a:rPr lang="en-US" dirty="0"/>
                        <a:t> + Governance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Turns data into viewable/actionable insights for decision makers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8862593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574760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7A99BE-C68A-2C05-D277-09837017F7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SPARK vs </a:t>
            </a:r>
            <a:r>
              <a:rPr lang="en-US" dirty="0" err="1"/>
              <a:t>PySpark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4C4BC5-5C55-B1B0-F75F-39663AACA7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1088" y="2129425"/>
            <a:ext cx="11029615" cy="4352794"/>
          </a:xfrm>
        </p:spPr>
        <p:txBody>
          <a:bodyPr>
            <a:normAutofit fontScale="92500" lnSpcReduction="20000"/>
          </a:bodyPr>
          <a:lstStyle/>
          <a:p>
            <a:r>
              <a:rPr lang="en-US" b="1" dirty="0"/>
              <a:t>Apache Spark</a:t>
            </a:r>
          </a:p>
          <a:p>
            <a:pPr lvl="1"/>
            <a:r>
              <a:rPr lang="en-US" dirty="0"/>
              <a:t>Apache Spark is an open-source distributed computing framework designed for processing large datasets across clusters of computers.</a:t>
            </a:r>
          </a:p>
          <a:p>
            <a:pPr lvl="1"/>
            <a:r>
              <a:rPr lang="en-US" dirty="0"/>
              <a:t>Key features:</a:t>
            </a:r>
          </a:p>
          <a:p>
            <a:pPr lvl="2"/>
            <a:r>
              <a:rPr lang="en-US" dirty="0"/>
              <a:t>Distributed data processing </a:t>
            </a:r>
          </a:p>
          <a:p>
            <a:pPr lvl="2"/>
            <a:r>
              <a:rPr lang="en-US" dirty="0"/>
              <a:t>In-memory computation for speed </a:t>
            </a:r>
          </a:p>
          <a:p>
            <a:pPr lvl="2"/>
            <a:r>
              <a:rPr lang="en-US" dirty="0"/>
              <a:t>Supports batch processing, streaming, machine learning, and graph analytics </a:t>
            </a:r>
          </a:p>
          <a:p>
            <a:pPr lvl="2"/>
            <a:r>
              <a:rPr lang="en-US" dirty="0"/>
              <a:t>Runs on clusters managed by systems like Hadoop YARN, Kubernetes, or standalone Spark clusters </a:t>
            </a:r>
          </a:p>
          <a:p>
            <a:pPr lvl="2"/>
            <a:r>
              <a:rPr lang="en-US" dirty="0"/>
              <a:t>Core APIs are written in Scala and Java</a:t>
            </a:r>
          </a:p>
          <a:p>
            <a:pPr lvl="2"/>
            <a:r>
              <a:rPr lang="en-US" dirty="0"/>
              <a:t>Scala is most popular and new features/libraries tend to be Scala-first </a:t>
            </a:r>
          </a:p>
          <a:p>
            <a:pPr lvl="1"/>
            <a:r>
              <a:rPr lang="en-US" dirty="0"/>
              <a:t>Example Spark use cases:</a:t>
            </a:r>
          </a:p>
          <a:p>
            <a:pPr lvl="2"/>
            <a:r>
              <a:rPr lang="en-US" dirty="0"/>
              <a:t>ETL (Extract, Transform, Load) pipelines </a:t>
            </a:r>
          </a:p>
          <a:p>
            <a:pPr lvl="2"/>
            <a:r>
              <a:rPr lang="en-US" dirty="0"/>
              <a:t>Data warehousing </a:t>
            </a:r>
          </a:p>
          <a:p>
            <a:pPr lvl="2"/>
            <a:r>
              <a:rPr lang="en-US" dirty="0"/>
              <a:t>Real-time analytics </a:t>
            </a:r>
          </a:p>
          <a:p>
            <a:pPr lvl="2"/>
            <a:r>
              <a:rPr lang="en-US" dirty="0"/>
              <a:t>Machine learning at scale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118243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51F3D8-F841-8A8C-0F48-9F9D4D955B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Spark vs </a:t>
            </a:r>
            <a:r>
              <a:rPr lang="en-US" dirty="0" err="1"/>
              <a:t>PySpark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961A6F-C65A-954C-3606-0D6F4BB93A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4207778"/>
          </a:xfrm>
        </p:spPr>
        <p:txBody>
          <a:bodyPr/>
          <a:lstStyle/>
          <a:p>
            <a:r>
              <a:rPr lang="en-US" b="1" dirty="0" err="1"/>
              <a:t>PySpark</a:t>
            </a:r>
            <a:endParaRPr lang="en-US" b="1" dirty="0"/>
          </a:p>
          <a:p>
            <a:pPr lvl="1"/>
            <a:r>
              <a:rPr lang="en-US" dirty="0" err="1"/>
              <a:t>PySpark</a:t>
            </a:r>
            <a:r>
              <a:rPr lang="en-US" dirty="0"/>
              <a:t> is the Python API for Apache Spark.</a:t>
            </a:r>
          </a:p>
          <a:p>
            <a:pPr lvl="1"/>
            <a:r>
              <a:rPr lang="en-US" dirty="0"/>
              <a:t>It allows Python developers to write Spark applications using Python instead of Scala or Java.</a:t>
            </a:r>
          </a:p>
          <a:p>
            <a:pPr lvl="1"/>
            <a:r>
              <a:rPr lang="en-US" dirty="0"/>
              <a:t>Under the hood:</a:t>
            </a:r>
          </a:p>
          <a:p>
            <a:pPr lvl="2"/>
            <a:r>
              <a:rPr lang="en-US" dirty="0"/>
              <a:t>You write Python code. </a:t>
            </a:r>
          </a:p>
          <a:p>
            <a:pPr lvl="2"/>
            <a:r>
              <a:rPr lang="en-US" dirty="0" err="1"/>
              <a:t>PySpark</a:t>
            </a:r>
            <a:r>
              <a:rPr lang="en-US" dirty="0"/>
              <a:t> translates operations to Spark's execution engine. </a:t>
            </a:r>
          </a:p>
          <a:p>
            <a:pPr lvl="2"/>
            <a:r>
              <a:rPr lang="en-US" dirty="0"/>
              <a:t>Spark executes the work across the cluster. </a:t>
            </a:r>
          </a:p>
          <a:p>
            <a:pPr lvl="2"/>
            <a:r>
              <a:rPr lang="en-US" dirty="0"/>
              <a:t>Results are returned to Python.</a:t>
            </a:r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76FF4AF-66DB-0DCA-DD75-B68AA5E070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45474" y="4851932"/>
            <a:ext cx="4676384" cy="161357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CF1A238-5B62-B823-B2E4-2FD6D7EE2B19}"/>
              </a:ext>
            </a:extLst>
          </p:cNvPr>
          <p:cNvSpPr txBox="1"/>
          <p:nvPr/>
        </p:nvSpPr>
        <p:spPr>
          <a:xfrm>
            <a:off x="5931073" y="4390267"/>
            <a:ext cx="507930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00150" lvl="2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sz="1200" dirty="0"/>
              <a:t>This Python code creates a spark job that may execute across dozens or hundreds of machines</a:t>
            </a:r>
          </a:p>
        </p:txBody>
      </p:sp>
    </p:spTree>
    <p:extLst>
      <p:ext uri="{BB962C8B-B14F-4D97-AF65-F5344CB8AC3E}">
        <p14:creationId xmlns:p14="http://schemas.microsoft.com/office/powerpoint/2010/main" val="355121486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F1DFC8-EB33-1409-27E4-946C56ACB9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Apache Hadoop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C00017-767E-F9C5-B3C8-52067E28AD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4251619"/>
          </a:xfrm>
        </p:spPr>
        <p:txBody>
          <a:bodyPr/>
          <a:lstStyle/>
          <a:p>
            <a:r>
              <a:rPr lang="en-US" dirty="0"/>
              <a:t>Apache Hadoop is an open-source software framework for distributed storage and large-scale data processing. Developed by Apache Software Foundation, it enables reliable, fault-tolerant computation across clusters of commodity servers.</a:t>
            </a:r>
          </a:p>
          <a:p>
            <a:r>
              <a:rPr lang="en-US" dirty="0"/>
              <a:t>Apache Hadoop is not just one thing. Historically it included:</a:t>
            </a:r>
          </a:p>
          <a:p>
            <a:pPr lvl="1"/>
            <a:r>
              <a:rPr lang="en-US" dirty="0"/>
              <a:t>Storage: Hadoop Distributed File System (HDFS) </a:t>
            </a:r>
          </a:p>
          <a:p>
            <a:pPr lvl="1"/>
            <a:r>
              <a:rPr lang="en-US" dirty="0"/>
              <a:t>Resource management (job scheduling layer): Yet Another Resource Negotiator (YARN) </a:t>
            </a:r>
          </a:p>
          <a:p>
            <a:pPr lvl="1"/>
            <a:r>
              <a:rPr lang="en-US" dirty="0"/>
              <a:t>Processing (compute engine): Hadoop MapReduce</a:t>
            </a:r>
          </a:p>
          <a:p>
            <a:r>
              <a:rPr lang="en-US" dirty="0"/>
              <a:t>In modern workflows, Spark has come to replace Hadoop MapReduce as the compute engine layer, but will still make use of the HDFS, and can run on YARN </a:t>
            </a:r>
          </a:p>
          <a:p>
            <a:pPr lvl="1"/>
            <a:r>
              <a:rPr lang="en-US" dirty="0"/>
              <a:t>“Run programs up to 100x faster than Hadoop MapReduce in memory, or 10x faster on disk.”</a:t>
            </a:r>
          </a:p>
          <a:p>
            <a:pPr lvl="1"/>
            <a:r>
              <a:rPr lang="en-US" dirty="0"/>
              <a:t>Under the hood: DAG Engine (directed acyclic graph) optimizes workflows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577757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E6EEC0-F842-6794-3731-B88DD4390B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PySpark</a:t>
            </a:r>
            <a:r>
              <a:rPr lang="en-US" dirty="0"/>
              <a:t> Setup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A75B85-9198-042E-6792-596357DD2C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89" y="1970918"/>
            <a:ext cx="11029615" cy="944748"/>
          </a:xfrm>
        </p:spPr>
        <p:txBody>
          <a:bodyPr/>
          <a:lstStyle/>
          <a:p>
            <a:r>
              <a:rPr lang="en-US" dirty="0"/>
              <a:t>Install </a:t>
            </a:r>
            <a:r>
              <a:rPr lang="en-US" dirty="0" err="1"/>
              <a:t>wsl</a:t>
            </a:r>
            <a:r>
              <a:rPr lang="en-US" dirty="0"/>
              <a:t> </a:t>
            </a:r>
          </a:p>
          <a:p>
            <a:r>
              <a:rPr lang="en-US" dirty="0"/>
              <a:t>‘</a:t>
            </a:r>
            <a:r>
              <a:rPr lang="en-US" dirty="0" err="1"/>
              <a:t>wsl</a:t>
            </a:r>
            <a:r>
              <a:rPr lang="en-US" dirty="0"/>
              <a:t>’ to start ‘logout’ to exit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835C4A9-4C12-DA8F-C847-E6DB531217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29156" y="2896614"/>
            <a:ext cx="1333686" cy="19052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3080D00-88B9-E479-E364-E4D9D56870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86339" y="3190842"/>
            <a:ext cx="1019317" cy="20957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208B98D-44AF-420C-E3B1-8F79ED42DF2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23888" y="3990775"/>
            <a:ext cx="5144218" cy="19052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EF2DAE9-FC9C-5C27-9FF7-8AEE7026567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23886" y="4247112"/>
            <a:ext cx="5420481" cy="228632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C090FB0E-D132-8FFE-6EEE-4207CD7F9E2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18753" y="5849309"/>
            <a:ext cx="8230749" cy="228632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0EE01050-69EF-CC76-D530-317C168463B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199990" y="5576492"/>
            <a:ext cx="6068272" cy="228632"/>
          </a:xfrm>
          <a:prstGeom prst="rect">
            <a:avLst/>
          </a:prstGeom>
        </p:spPr>
      </p:pic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270A5561-D471-0B86-D809-42B1B611EC9B}"/>
              </a:ext>
            </a:extLst>
          </p:cNvPr>
          <p:cNvSpPr txBox="1">
            <a:spLocks/>
          </p:cNvSpPr>
          <p:nvPr/>
        </p:nvSpPr>
        <p:spPr>
          <a:xfrm>
            <a:off x="483071" y="3190842"/>
            <a:ext cx="11029615" cy="94474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Update refreshes package index; upgrade installs all packages to latest versions </a:t>
            </a:r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CF5B1193-3075-0DF6-2F1C-43824B2F577A}"/>
              </a:ext>
            </a:extLst>
          </p:cNvPr>
          <p:cNvSpPr txBox="1">
            <a:spLocks/>
          </p:cNvSpPr>
          <p:nvPr/>
        </p:nvSpPr>
        <p:spPr>
          <a:xfrm>
            <a:off x="524488" y="4517863"/>
            <a:ext cx="11029615" cy="94474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You can search for available packages / install packages</a:t>
            </a:r>
          </a:p>
          <a:p>
            <a:r>
              <a:rPr lang="en-US" dirty="0"/>
              <a:t>Let’s also install the JDK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A4FD380E-68CF-3A18-9C39-AF23F629106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847516" y="6154153"/>
            <a:ext cx="6773220" cy="2095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22495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684F79-B6C5-4DA2-CD79-B8F60313FC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Other Apt Commands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8A4398-DE83-2DAF-5DC8-62A293E6A6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7"/>
            <a:ext cx="11029615" cy="475022"/>
          </a:xfrm>
        </p:spPr>
        <p:txBody>
          <a:bodyPr/>
          <a:lstStyle/>
          <a:p>
            <a:r>
              <a:rPr lang="en-US" dirty="0"/>
              <a:t>Remove uninstalls packages; purge uninstalls and deletes any config files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F4722C8-33EC-4903-511A-C68D921273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3234" y="2920007"/>
            <a:ext cx="2905530" cy="40010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3296792-9310-BD02-EE3A-779A3F4377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4679" y="3525512"/>
            <a:ext cx="2762636" cy="40963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B4CF638-B797-3C83-A8CD-67142D01FE7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33809" y="5219910"/>
            <a:ext cx="2124371" cy="371527"/>
          </a:xfrm>
          <a:prstGeom prst="rect">
            <a:avLst/>
          </a:prstGeom>
        </p:spPr>
      </p:pic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0B936B17-94E2-D188-24CE-EAB2127547EF}"/>
              </a:ext>
            </a:extLst>
          </p:cNvPr>
          <p:cNvSpPr txBox="1">
            <a:spLocks/>
          </p:cNvSpPr>
          <p:nvPr/>
        </p:nvSpPr>
        <p:spPr>
          <a:xfrm>
            <a:off x="581192" y="4140542"/>
            <a:ext cx="11029615" cy="9763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List can show installed packages</a:t>
            </a:r>
          </a:p>
          <a:p>
            <a:r>
              <a:rPr lang="en-US" dirty="0" err="1"/>
              <a:t>Autoclean</a:t>
            </a:r>
            <a:r>
              <a:rPr lang="en-US" dirty="0"/>
              <a:t> will delete downloaded package data only needed during installation </a:t>
            </a:r>
          </a:p>
          <a:p>
            <a:r>
              <a:rPr lang="en-US" dirty="0"/>
              <a:t>Auto remove will remove any packages that were previously needed as dependencies, but are no longer required 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FA4CB191-9D0D-469E-4335-643BB76822F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05257" y="5694466"/>
            <a:ext cx="1981477" cy="7049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32985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5A4BAA-EAD7-1212-50C6-CB9CD53F8C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PySpark</a:t>
            </a:r>
            <a:r>
              <a:rPr lang="en-US" dirty="0"/>
              <a:t> Setup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E0A938-83DB-4D18-421D-0D49F8D6F4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7"/>
            <a:ext cx="11029615" cy="713016"/>
          </a:xfrm>
        </p:spPr>
        <p:txBody>
          <a:bodyPr>
            <a:normAutofit fontScale="92500" lnSpcReduction="10000"/>
          </a:bodyPr>
          <a:lstStyle/>
          <a:p>
            <a:r>
              <a:rPr lang="en-US" dirty="0" err="1"/>
              <a:t>Mkdir</a:t>
            </a:r>
            <a:r>
              <a:rPr lang="en-US" dirty="0"/>
              <a:t> = create directory/folder</a:t>
            </a:r>
          </a:p>
          <a:p>
            <a:r>
              <a:rPr lang="en-US" dirty="0"/>
              <a:t>Cd = change directory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02B106C-5A86-FDAF-A967-47B6B8587C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24419" y="3029848"/>
            <a:ext cx="1143160" cy="20957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626D07D-AFC3-E260-CF34-4F79CC5227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81154" y="3335750"/>
            <a:ext cx="4229690" cy="62873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FA7C0A3-5DAF-9F0E-19D1-C219588730C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62392" y="4798754"/>
            <a:ext cx="2067213" cy="266737"/>
          </a:xfrm>
          <a:prstGeom prst="rect">
            <a:avLst/>
          </a:prstGeom>
        </p:spPr>
      </p:pic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373917D8-705C-4B9A-B653-A5675BE89469}"/>
              </a:ext>
            </a:extLst>
          </p:cNvPr>
          <p:cNvSpPr txBox="1">
            <a:spLocks/>
          </p:cNvSpPr>
          <p:nvPr/>
        </p:nvSpPr>
        <p:spPr>
          <a:xfrm>
            <a:off x="652173" y="4025113"/>
            <a:ext cx="11029615" cy="7130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Create a python3 virtual environment with latest installed version / create </a:t>
            </a:r>
            <a:r>
              <a:rPr lang="en-US" dirty="0" err="1"/>
              <a:t>venv</a:t>
            </a:r>
            <a:r>
              <a:rPr lang="en-US" dirty="0"/>
              <a:t> from specific version: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1867F64F-FD05-D9E3-BF2C-32598A2B450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61899" y="5126116"/>
            <a:ext cx="2410161" cy="314369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BC1F194F-33BF-660C-2585-F055D656C47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33425" y="6155844"/>
            <a:ext cx="1667108" cy="276264"/>
          </a:xfrm>
          <a:prstGeom prst="rect">
            <a:avLst/>
          </a:prstGeom>
        </p:spPr>
      </p:pic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D5CE6119-CC81-A773-2C93-0F9DE04BD2FF}"/>
              </a:ext>
            </a:extLst>
          </p:cNvPr>
          <p:cNvSpPr txBox="1">
            <a:spLocks/>
          </p:cNvSpPr>
          <p:nvPr/>
        </p:nvSpPr>
        <p:spPr>
          <a:xfrm>
            <a:off x="652171" y="5449878"/>
            <a:ext cx="11029615" cy="7130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We can use </a:t>
            </a:r>
            <a:r>
              <a:rPr lang="en-US" dirty="0" err="1"/>
              <a:t>chmod</a:t>
            </a:r>
            <a:r>
              <a:rPr lang="en-US" dirty="0"/>
              <a:t> to make ‘activate’ executable:</a:t>
            </a:r>
          </a:p>
        </p:txBody>
      </p:sp>
    </p:spTree>
    <p:extLst>
      <p:ext uri="{BB962C8B-B14F-4D97-AF65-F5344CB8AC3E}">
        <p14:creationId xmlns:p14="http://schemas.microsoft.com/office/powerpoint/2010/main" val="356527267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2C76FA-3B6B-4EC9-B55F-28E964A875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PySpark</a:t>
            </a:r>
            <a:r>
              <a:rPr lang="en-US" dirty="0"/>
              <a:t> Setup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25BC3B-DD0C-5610-A265-0FAAC27059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7"/>
            <a:ext cx="11029615" cy="932222"/>
          </a:xfrm>
        </p:spPr>
        <p:txBody>
          <a:bodyPr/>
          <a:lstStyle/>
          <a:p>
            <a:r>
              <a:rPr lang="en-US" dirty="0"/>
              <a:t>Activate the </a:t>
            </a:r>
            <a:r>
              <a:rPr lang="en-US" dirty="0" err="1"/>
              <a:t>venv</a:t>
            </a:r>
            <a:r>
              <a:rPr lang="en-US" dirty="0"/>
              <a:t> before installing any packages (deactivate to exit </a:t>
            </a:r>
            <a:r>
              <a:rPr lang="en-US" dirty="0" err="1"/>
              <a:t>venv</a:t>
            </a:r>
            <a:r>
              <a:rPr lang="en-US" dirty="0"/>
              <a:t>):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C1ED018-766A-A77B-6B77-9FDAEA7097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23785" y="3343865"/>
            <a:ext cx="5944430" cy="46679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DEE9C5B-A9CC-C8A9-C0C8-B46D1E7EFD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42916" y="3913195"/>
            <a:ext cx="5306165" cy="25721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0A49CE2-3782-20A3-FE71-0E5915689F2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66624" y="5338955"/>
            <a:ext cx="6058746" cy="21910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0A4874D-4667-0EC4-5B19-D284E09E697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99755" y="5698706"/>
            <a:ext cx="7592485" cy="247685"/>
          </a:xfrm>
          <a:prstGeom prst="rect">
            <a:avLst/>
          </a:prstGeom>
        </p:spPr>
      </p:pic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BB490755-4DD0-EA29-C3E7-DE4905E3662F}"/>
              </a:ext>
            </a:extLst>
          </p:cNvPr>
          <p:cNvSpPr txBox="1">
            <a:spLocks/>
          </p:cNvSpPr>
          <p:nvPr/>
        </p:nvSpPr>
        <p:spPr>
          <a:xfrm>
            <a:off x="581192" y="4230051"/>
            <a:ext cx="11029615" cy="9322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Install packages via pip</a:t>
            </a:r>
          </a:p>
          <a:p>
            <a:r>
              <a:rPr lang="en-US" dirty="0" err="1"/>
              <a:t>Jupyter</a:t>
            </a:r>
            <a:r>
              <a:rPr lang="en-US" dirty="0"/>
              <a:t> provides UI / workspace for taking notes and testing code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700E4556-CBF5-7353-8DC8-675BBCEC1D8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85756" y="6133923"/>
            <a:ext cx="5420481" cy="2572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298777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04E796-5DC0-12E8-D680-47CC82886A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VSCODE – Recommended Extensions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0184B40-7045-C6A9-036F-053A8A7716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34669" y="1874457"/>
            <a:ext cx="5322662" cy="171477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CAC3259-C24A-D1BD-F1B8-A54023DADD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67836" y="3664575"/>
            <a:ext cx="7856327" cy="142015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3721C1E-096B-29CA-58BB-004E7D347EE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70354" y="5243809"/>
            <a:ext cx="9251290" cy="1327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46114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DC410E-BE96-E76A-7D7E-AABFBC9E56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PySpark</a:t>
            </a:r>
            <a:r>
              <a:rPr lang="en-US" dirty="0"/>
              <a:t>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192607-9575-8E97-6786-0E780D5A3E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7"/>
            <a:ext cx="11029615" cy="932222"/>
          </a:xfrm>
        </p:spPr>
        <p:txBody>
          <a:bodyPr/>
          <a:lstStyle/>
          <a:p>
            <a:r>
              <a:rPr lang="en-US" dirty="0"/>
              <a:t>Uses data from </a:t>
            </a:r>
            <a:r>
              <a:rPr lang="en-US" dirty="0" err="1">
                <a:hlinkClick r:id="rId2"/>
              </a:rPr>
              <a:t>grouplens</a:t>
            </a:r>
            <a:endParaRPr lang="en-US" dirty="0"/>
          </a:p>
          <a:p>
            <a:r>
              <a:rPr lang="en-US" dirty="0" err="1"/>
              <a:t>MovieLens</a:t>
            </a:r>
            <a:r>
              <a:rPr lang="en-US" dirty="0"/>
              <a:t> 100k Dataset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49CC73F-9BD1-75FB-8D86-0B0E7EEA76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3904" y="2113919"/>
            <a:ext cx="7363968" cy="424155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87BB68B-5767-8C47-EA38-3D2F1AF54E14}"/>
              </a:ext>
            </a:extLst>
          </p:cNvPr>
          <p:cNvSpPr txBox="1"/>
          <p:nvPr/>
        </p:nvSpPr>
        <p:spPr>
          <a:xfrm>
            <a:off x="419827" y="4589929"/>
            <a:ext cx="322524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u.data</a:t>
            </a:r>
            <a:r>
              <a:rPr lang="en-US" dirty="0"/>
              <a:t> columns:</a:t>
            </a:r>
          </a:p>
          <a:p>
            <a:endParaRPr lang="en-US" dirty="0"/>
          </a:p>
          <a:p>
            <a:r>
              <a:rPr lang="en-US" dirty="0" err="1"/>
              <a:t>userId</a:t>
            </a:r>
            <a:r>
              <a:rPr lang="en-US" dirty="0"/>
              <a:t>, </a:t>
            </a:r>
            <a:r>
              <a:rPr lang="en-US" dirty="0" err="1"/>
              <a:t>ItemId</a:t>
            </a:r>
            <a:r>
              <a:rPr lang="en-US" dirty="0"/>
              <a:t>, Rating, Timestamp</a:t>
            </a:r>
          </a:p>
        </p:txBody>
      </p:sp>
    </p:spTree>
    <p:extLst>
      <p:ext uri="{BB962C8B-B14F-4D97-AF65-F5344CB8AC3E}">
        <p14:creationId xmlns:p14="http://schemas.microsoft.com/office/powerpoint/2010/main" val="312033613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31E6FC-01A6-E38C-2B23-BF1E1FE409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Spark 3.5 features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88BE92-1299-01A7-F551-5CCC8DAD6A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1" y="2023920"/>
            <a:ext cx="11029615" cy="4514666"/>
          </a:xfrm>
        </p:spPr>
        <p:txBody>
          <a:bodyPr>
            <a:normAutofit lnSpcReduction="10000"/>
          </a:bodyPr>
          <a:lstStyle/>
          <a:p>
            <a:r>
              <a:rPr lang="en-US" dirty="0"/>
              <a:t>Spark connect</a:t>
            </a:r>
          </a:p>
          <a:p>
            <a:pPr lvl="1"/>
            <a:r>
              <a:rPr lang="en-US" dirty="0"/>
              <a:t>Client / server architecture for Apache Spark</a:t>
            </a:r>
          </a:p>
          <a:p>
            <a:r>
              <a:rPr lang="en-US" dirty="0"/>
              <a:t>Expanded SQL functionality </a:t>
            </a:r>
          </a:p>
          <a:p>
            <a:pPr lvl="1"/>
            <a:r>
              <a:rPr lang="en-US" dirty="0"/>
              <a:t>User-Defined table functions (UDTFs)</a:t>
            </a:r>
          </a:p>
          <a:p>
            <a:pPr lvl="1"/>
            <a:r>
              <a:rPr lang="en-US" dirty="0"/>
              <a:t>Apache Arrow-optimized UDFs</a:t>
            </a:r>
          </a:p>
          <a:p>
            <a:pPr lvl="1"/>
            <a:r>
              <a:rPr lang="en-US" dirty="0"/>
              <a:t>More SQL functions supported (150+) in </a:t>
            </a:r>
            <a:r>
              <a:rPr lang="en-US" dirty="0" err="1"/>
              <a:t>DataFrames</a:t>
            </a:r>
            <a:r>
              <a:rPr lang="en-US" dirty="0"/>
              <a:t> APIs</a:t>
            </a:r>
          </a:p>
          <a:p>
            <a:r>
              <a:rPr lang="en-US" dirty="0"/>
              <a:t>English SDK for Apache Spark</a:t>
            </a:r>
          </a:p>
          <a:p>
            <a:r>
              <a:rPr lang="en-US" dirty="0"/>
              <a:t>Debugging features </a:t>
            </a:r>
          </a:p>
          <a:p>
            <a:pPr lvl="1"/>
            <a:r>
              <a:rPr lang="en-US" dirty="0"/>
              <a:t>Enhanced error messages</a:t>
            </a:r>
          </a:p>
          <a:p>
            <a:pPr lvl="1"/>
            <a:r>
              <a:rPr lang="en-US" dirty="0"/>
              <a:t>Testing API (</a:t>
            </a:r>
            <a:r>
              <a:rPr lang="en-US" dirty="0" err="1"/>
              <a:t>DataFrame</a:t>
            </a:r>
            <a:r>
              <a:rPr lang="en-US" dirty="0"/>
              <a:t> equality testing)</a:t>
            </a:r>
          </a:p>
          <a:p>
            <a:r>
              <a:rPr lang="en-US" dirty="0" err="1"/>
              <a:t>DeepSpeed</a:t>
            </a:r>
            <a:r>
              <a:rPr lang="en-US" dirty="0"/>
              <a:t> Distributor</a:t>
            </a:r>
          </a:p>
          <a:p>
            <a:pPr lvl="1"/>
            <a:r>
              <a:rPr lang="en-US" dirty="0"/>
              <a:t>Distributed training or </a:t>
            </a:r>
            <a:r>
              <a:rPr lang="en-US" dirty="0" err="1"/>
              <a:t>PyTorch</a:t>
            </a:r>
            <a:r>
              <a:rPr lang="en-US" dirty="0"/>
              <a:t> models on Spark clusters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6AC181F-14DC-8B82-56B8-2B2C84A993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61688" y="3343644"/>
            <a:ext cx="2981741" cy="12479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066662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F3F4BB-C4DD-CB85-5B61-3BD4BB7FE0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SPARK 4 features – Ansi mode by default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355735-6236-B9E9-C7DB-671F65BFC9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4151411"/>
          </a:xfrm>
        </p:spPr>
        <p:txBody>
          <a:bodyPr>
            <a:normAutofit/>
          </a:bodyPr>
          <a:lstStyle/>
          <a:p>
            <a:r>
              <a:rPr lang="en-US" dirty="0"/>
              <a:t>Better error handling in SQL-style queries</a:t>
            </a:r>
          </a:p>
          <a:p>
            <a:r>
              <a:rPr lang="en-US" dirty="0"/>
              <a:t>Invalid casts, division by zero, </a:t>
            </a:r>
            <a:r>
              <a:rPr lang="en-US" dirty="0" err="1"/>
              <a:t>ect</a:t>
            </a:r>
            <a:r>
              <a:rPr lang="en-US" dirty="0"/>
              <a:t> will result in a detailed error</a:t>
            </a:r>
          </a:p>
          <a:p>
            <a:pPr lvl="1"/>
            <a:r>
              <a:rPr lang="en-US" dirty="0"/>
              <a:t>Before, things would silently proceed, usually with NULL values</a:t>
            </a:r>
          </a:p>
          <a:p>
            <a:r>
              <a:rPr lang="en-US" dirty="0"/>
              <a:t>Missing data might also trigger errors now</a:t>
            </a:r>
          </a:p>
          <a:p>
            <a:pPr lvl="1"/>
            <a:r>
              <a:rPr lang="en-US" dirty="0"/>
              <a:t>A None value where something is expected will raise an error</a:t>
            </a:r>
          </a:p>
          <a:p>
            <a:pPr lvl="1"/>
            <a:r>
              <a:rPr lang="en-US" dirty="0"/>
              <a:t>For example, the expression salary + 100 won’t be allowed at all if your salary column contains empty values</a:t>
            </a:r>
          </a:p>
          <a:p>
            <a:r>
              <a:rPr lang="en-US" dirty="0"/>
              <a:t>Example: SELECT CAST(‘some string’ AS FLOAT)</a:t>
            </a:r>
          </a:p>
          <a:p>
            <a:pPr lvl="1"/>
            <a:r>
              <a:rPr lang="en-US" dirty="0"/>
              <a:t>Spark 3: returns a NULL value</a:t>
            </a:r>
          </a:p>
          <a:p>
            <a:pPr lvl="1"/>
            <a:r>
              <a:rPr lang="en-US" dirty="0"/>
              <a:t>Spark 4: Error: Cannot cast ‘some string’ to FLOAT</a:t>
            </a:r>
          </a:p>
          <a:p>
            <a:r>
              <a:rPr lang="en-US" dirty="0"/>
              <a:t>You can set </a:t>
            </a:r>
            <a:r>
              <a:rPr lang="en-US" dirty="0" err="1"/>
              <a:t>spark.sql.ansi.enabled</a:t>
            </a:r>
            <a:r>
              <a:rPr lang="en-US" dirty="0"/>
              <a:t> to ‘false’ if you need backwards compatibility </a:t>
            </a:r>
          </a:p>
        </p:txBody>
      </p:sp>
    </p:spTree>
    <p:extLst>
      <p:ext uri="{BB962C8B-B14F-4D97-AF65-F5344CB8AC3E}">
        <p14:creationId xmlns:p14="http://schemas.microsoft.com/office/powerpoint/2010/main" val="120221074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C8D7BB-9046-4547-DD83-326AE9D2DF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SPARK 4 features – Variant data type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B47CBB-5076-DCBC-129D-AF4BF9476E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5380696" cy="3678303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Better support for semi-structured data: JSON, XML</a:t>
            </a:r>
          </a:p>
          <a:p>
            <a:r>
              <a:rPr lang="en-US" dirty="0" err="1"/>
              <a:t>parse_json</a:t>
            </a:r>
            <a:r>
              <a:rPr lang="en-US" dirty="0"/>
              <a:t> functions allows you to convert raw </a:t>
            </a:r>
            <a:r>
              <a:rPr lang="en-US" dirty="0" err="1"/>
              <a:t>json</a:t>
            </a:r>
            <a:r>
              <a:rPr lang="en-US" dirty="0"/>
              <a:t> to VARIANTs</a:t>
            </a:r>
          </a:p>
          <a:p>
            <a:r>
              <a:rPr lang="en-US" dirty="0" err="1"/>
              <a:t>variant_get</a:t>
            </a:r>
            <a:r>
              <a:rPr lang="en-US" dirty="0"/>
              <a:t>, </a:t>
            </a:r>
            <a:r>
              <a:rPr lang="en-US" dirty="0" err="1"/>
              <a:t>try_variant_get</a:t>
            </a:r>
            <a:r>
              <a:rPr lang="en-US" dirty="0"/>
              <a:t>, cast lets us extract them</a:t>
            </a:r>
          </a:p>
          <a:p>
            <a:r>
              <a:rPr lang="en-US" dirty="0"/>
              <a:t>Or just use VARIANT SQL syntax:</a:t>
            </a:r>
          </a:p>
          <a:p>
            <a:pPr marL="0" indent="0">
              <a:buNone/>
            </a:pPr>
            <a:r>
              <a:rPr lang="en-US" dirty="0"/>
              <a:t>CREATE TABLE customers (</a:t>
            </a:r>
          </a:p>
          <a:p>
            <a:pPr marL="0" indent="0">
              <a:buNone/>
            </a:pPr>
            <a:r>
              <a:rPr lang="en-US" dirty="0"/>
              <a:t>id INT,</a:t>
            </a:r>
          </a:p>
          <a:p>
            <a:pPr marL="0" indent="0">
              <a:buNone/>
            </a:pPr>
            <a:r>
              <a:rPr lang="en-US" dirty="0"/>
              <a:t>name STRING,</a:t>
            </a:r>
          </a:p>
          <a:p>
            <a:pPr marL="0" indent="0">
              <a:buNone/>
            </a:pPr>
            <a:r>
              <a:rPr lang="en-US" dirty="0"/>
              <a:t>data VARIANT</a:t>
            </a:r>
          </a:p>
          <a:p>
            <a:pPr marL="0" indent="0">
              <a:buNone/>
            </a:pPr>
            <a:r>
              <a:rPr lang="en-US" dirty="0"/>
              <a:t>);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2EA1BF6-7671-149C-801C-3DB788A003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1949255"/>
            <a:ext cx="4377940" cy="46650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334443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C4ED1F-4FB5-DD77-0BE7-1A9B4896B9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SPARK 4 features – Collation support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E0116B-29A3-9E86-2E34-ACCA3B17A4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Collations bring SQL-standard string comparisons to Spark</a:t>
            </a:r>
          </a:p>
          <a:p>
            <a:r>
              <a:rPr lang="en-US" dirty="0"/>
              <a:t>Case-insensitive </a:t>
            </a:r>
            <a:r>
              <a:rPr lang="en-US" dirty="0" err="1"/>
              <a:t>comparisions</a:t>
            </a:r>
            <a:r>
              <a:rPr lang="en-US" dirty="0"/>
              <a:t> without LOWER() everywhere</a:t>
            </a:r>
          </a:p>
          <a:p>
            <a:r>
              <a:rPr lang="en-US" dirty="0"/>
              <a:t>Locale-aware sorting and </a:t>
            </a:r>
            <a:r>
              <a:rPr lang="en-US" dirty="0" err="1"/>
              <a:t>comparisions</a:t>
            </a:r>
            <a:r>
              <a:rPr lang="en-US" dirty="0"/>
              <a:t>, build into Spark SQL</a:t>
            </a:r>
          </a:p>
          <a:p>
            <a:r>
              <a:rPr lang="en-US" dirty="0"/>
              <a:t>Choose how strings compare, not just what they contain</a:t>
            </a:r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898DB03-77E1-7F4D-E23A-25C6B70C70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02692" y="2517113"/>
            <a:ext cx="2621341" cy="182377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8192B68-9645-C78F-E61E-95B8EF20F9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34385" y="2341860"/>
            <a:ext cx="876422" cy="206721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78EE8F8-C86C-7841-2872-4451144ED2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27264" y="4531426"/>
            <a:ext cx="2347824" cy="22611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209306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DDAF80-4D5D-C613-4E76-25028E47B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SPARK 4 features – Data Source API’s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F33DC5-0DDC-9257-BE74-1B276A3BDF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20436" y="2477541"/>
            <a:ext cx="8362392" cy="3678303"/>
          </a:xfrm>
        </p:spPr>
        <p:txBody>
          <a:bodyPr/>
          <a:lstStyle/>
          <a:p>
            <a:r>
              <a:rPr lang="en-US" dirty="0"/>
              <a:t>The Data Source API is a JVM (Java/Scala) API only </a:t>
            </a:r>
          </a:p>
          <a:p>
            <a:r>
              <a:rPr lang="en-US" dirty="0"/>
              <a:t>A data source is simply anything spark can read from or write to: CSV, Parquet, JDBC, Kafka, Snowflake, etc. </a:t>
            </a:r>
          </a:p>
          <a:p>
            <a:r>
              <a:rPr lang="en-US" dirty="0"/>
              <a:t>We typically only use these in </a:t>
            </a:r>
            <a:r>
              <a:rPr lang="en-US" dirty="0" err="1"/>
              <a:t>PySpark</a:t>
            </a:r>
            <a:r>
              <a:rPr lang="en-US" dirty="0"/>
              <a:t>, we won’t make our own: ‘</a:t>
            </a:r>
            <a:r>
              <a:rPr lang="en-US" dirty="0" err="1"/>
              <a:t>spark.read.format</a:t>
            </a:r>
            <a:r>
              <a:rPr lang="en-US" dirty="0"/>
              <a:t>()’ </a:t>
            </a:r>
          </a:p>
          <a:p>
            <a:r>
              <a:rPr lang="en-US" dirty="0"/>
              <a:t>The new Data Source APIs are primarily for developers who want to build custom data sources (connectors for databases, APIs, cloud storage, proprietary formats, etc.)</a:t>
            </a:r>
          </a:p>
        </p:txBody>
      </p:sp>
    </p:spTree>
    <p:extLst>
      <p:ext uri="{BB962C8B-B14F-4D97-AF65-F5344CB8AC3E}">
        <p14:creationId xmlns:p14="http://schemas.microsoft.com/office/powerpoint/2010/main" val="61195882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0CD29E-95B3-7F35-D6D3-821956A841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Spark Architecture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D85E892-0A91-3F8D-C047-4EF16A7C1C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1639" y="2140612"/>
            <a:ext cx="7306695" cy="411537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ECF11C3-B6BB-E143-0DB6-A5E43A938215}"/>
              </a:ext>
            </a:extLst>
          </p:cNvPr>
          <p:cNvSpPr txBox="1"/>
          <p:nvPr/>
        </p:nvSpPr>
        <p:spPr>
          <a:xfrm>
            <a:off x="8198285" y="3015641"/>
            <a:ext cx="3645074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Spark takes our driver program, i.e. our scripts, and figures how best to distribute the work</a:t>
            </a:r>
          </a:p>
          <a:p>
            <a:endParaRPr lang="en-US" dirty="0"/>
          </a:p>
          <a:p>
            <a:r>
              <a:rPr lang="en-US" dirty="0"/>
              <a:t>Has built-in cluster manager, but we can also use Amazon EMR (Elastic MapReduce)  </a:t>
            </a:r>
          </a:p>
        </p:txBody>
      </p:sp>
    </p:spTree>
    <p:extLst>
      <p:ext uri="{BB962C8B-B14F-4D97-AF65-F5344CB8AC3E}">
        <p14:creationId xmlns:p14="http://schemas.microsoft.com/office/powerpoint/2010/main" val="301138215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68DE1D-6A30-759A-692A-234158B93C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Components of Spark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5426E4-B24C-807F-5B61-B12FFEAE2B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1916482"/>
            <a:ext cx="11029615" cy="1221287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Spark streaming: analyze real-time data streams</a:t>
            </a:r>
          </a:p>
          <a:p>
            <a:r>
              <a:rPr lang="en-US" dirty="0"/>
              <a:t>Spark SQL: run SQL on top of Spark </a:t>
            </a:r>
          </a:p>
          <a:p>
            <a:r>
              <a:rPr lang="en-US" dirty="0" err="1"/>
              <a:t>MlLib</a:t>
            </a:r>
            <a:r>
              <a:rPr lang="en-US" dirty="0"/>
              <a:t>: library for simplifying machine learning tasks</a:t>
            </a:r>
          </a:p>
          <a:p>
            <a:r>
              <a:rPr lang="en-US" dirty="0" err="1"/>
              <a:t>GraphX</a:t>
            </a:r>
            <a:r>
              <a:rPr lang="en-US" dirty="0"/>
              <a:t>: Gain insights in data with many relationships/correlations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9CB127A-4736-F529-FE41-110FD84BAE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6782" y="3297945"/>
            <a:ext cx="8478433" cy="28578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444659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03C59B-621F-050B-2726-2F77511966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Components of </a:t>
            </a:r>
            <a:r>
              <a:rPr lang="en-US" dirty="0" err="1"/>
              <a:t>Pyspark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CE86BC-BF7C-EA47-516D-F00FE82A39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4495877"/>
          </a:xfrm>
        </p:spPr>
        <p:txBody>
          <a:bodyPr>
            <a:normAutofit fontScale="92500" lnSpcReduction="20000"/>
          </a:bodyPr>
          <a:lstStyle/>
          <a:p>
            <a:pPr marL="342900" indent="-342900">
              <a:buFont typeface="+mj-lt"/>
              <a:buAutoNum type="arabicParenR"/>
            </a:pPr>
            <a:r>
              <a:rPr lang="en-US" dirty="0"/>
              <a:t>Your python code (the driver)</a:t>
            </a:r>
          </a:p>
          <a:p>
            <a:pPr marL="342900" indent="-342900">
              <a:buFont typeface="+mj-lt"/>
              <a:buAutoNum type="arabicParenR"/>
            </a:pPr>
            <a:r>
              <a:rPr lang="en-US" dirty="0" err="1"/>
              <a:t>PySpark</a:t>
            </a:r>
            <a:r>
              <a:rPr lang="en-US" dirty="0"/>
              <a:t> API (</a:t>
            </a:r>
            <a:r>
              <a:rPr lang="en-US" dirty="0" err="1"/>
              <a:t>DataFrame</a:t>
            </a:r>
            <a:r>
              <a:rPr lang="en-US" dirty="0"/>
              <a:t>, SQL, RDD APIs)</a:t>
            </a:r>
          </a:p>
          <a:p>
            <a:pPr marL="342900" indent="-342900">
              <a:buFont typeface="+mj-lt"/>
              <a:buAutoNum type="arabicParenR"/>
            </a:pPr>
            <a:r>
              <a:rPr lang="en-US" dirty="0"/>
              <a:t>Py4J Bridge (Python-to-Java Communication)</a:t>
            </a:r>
          </a:p>
          <a:p>
            <a:pPr marL="342900" indent="-342900">
              <a:buFont typeface="+mj-lt"/>
              <a:buAutoNum type="arabicParenR"/>
            </a:pPr>
            <a:r>
              <a:rPr lang="en-US" dirty="0"/>
              <a:t>Spark JVM</a:t>
            </a:r>
          </a:p>
          <a:p>
            <a:pPr marL="666900" lvl="1" indent="-342900">
              <a:buFont typeface="+mj-lt"/>
              <a:buAutoNum type="arabicParenR"/>
            </a:pPr>
            <a:r>
              <a:rPr lang="en-US" dirty="0"/>
              <a:t>Optimizes queries via the Catalyst by building logical plans</a:t>
            </a:r>
          </a:p>
          <a:p>
            <a:pPr marL="666900" lvl="1" indent="-342900">
              <a:buFont typeface="+mj-lt"/>
              <a:buAutoNum type="arabicParenR"/>
            </a:pPr>
            <a:r>
              <a:rPr lang="en-US" dirty="0"/>
              <a:t>Schedules tasks</a:t>
            </a:r>
          </a:p>
          <a:p>
            <a:pPr marL="342900" indent="-342900">
              <a:buFont typeface="+mj-lt"/>
              <a:buAutoNum type="arabicParenR"/>
            </a:pPr>
            <a:r>
              <a:rPr lang="en-US" dirty="0"/>
              <a:t>Cluster Manager (optional but important)</a:t>
            </a:r>
          </a:p>
          <a:p>
            <a:pPr marL="666900" lvl="1" indent="-342900">
              <a:buFont typeface="+mj-lt"/>
              <a:buAutoNum type="arabicParenR"/>
            </a:pPr>
            <a:r>
              <a:rPr lang="en-US" dirty="0"/>
              <a:t>Standalone, YARN, Kubernetes</a:t>
            </a:r>
          </a:p>
          <a:p>
            <a:pPr marL="342900" indent="-342900">
              <a:buFont typeface="+mj-lt"/>
              <a:buAutoNum type="arabicParenR"/>
            </a:pPr>
            <a:r>
              <a:rPr lang="en-US" dirty="0"/>
              <a:t>Spark Executors (JVMs on the worker nodes)</a:t>
            </a:r>
          </a:p>
          <a:p>
            <a:pPr marL="666900" lvl="1" indent="-342900">
              <a:buFont typeface="+mj-lt"/>
              <a:buAutoNum type="arabicParenR"/>
            </a:pPr>
            <a:r>
              <a:rPr lang="en-US" dirty="0"/>
              <a:t>Execute tasks</a:t>
            </a:r>
          </a:p>
          <a:p>
            <a:pPr marL="666900" lvl="1" indent="-342900">
              <a:buFont typeface="+mj-lt"/>
              <a:buAutoNum type="arabicParenR"/>
            </a:pPr>
            <a:r>
              <a:rPr lang="en-US" dirty="0"/>
              <a:t>Store cached data</a:t>
            </a:r>
          </a:p>
          <a:p>
            <a:pPr marL="342900" indent="-342900">
              <a:buFont typeface="+mj-lt"/>
              <a:buAutoNum type="arabicParenR"/>
            </a:pPr>
            <a:r>
              <a:rPr lang="en-US" dirty="0"/>
              <a:t>Python workers (for Python UDFs and RDD operations)</a:t>
            </a:r>
          </a:p>
          <a:p>
            <a:pPr marL="666900" lvl="1" indent="-342900">
              <a:buFont typeface="+mj-lt"/>
              <a:buAutoNum type="arabicParenR"/>
            </a:pPr>
            <a:r>
              <a:rPr lang="en-US" dirty="0"/>
              <a:t>Spawned by executors when Python code must run </a:t>
            </a:r>
          </a:p>
          <a:p>
            <a:pPr marL="342900" indent="-342900">
              <a:buFont typeface="+mj-lt"/>
              <a:buAutoNum type="arabicParenR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1401714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33674B-0283-2556-4220-31738C4D16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RDD – The Resilient Distributed Dataset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ACFED0-C127-20DA-C21B-9DDE976230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1" y="2010428"/>
            <a:ext cx="11029615" cy="4753628"/>
          </a:xfrm>
        </p:spPr>
        <p:txBody>
          <a:bodyPr>
            <a:normAutofit fontScale="85000" lnSpcReduction="10000"/>
          </a:bodyPr>
          <a:lstStyle/>
          <a:p>
            <a:r>
              <a:rPr lang="en-US" dirty="0"/>
              <a:t>A </a:t>
            </a:r>
            <a:r>
              <a:rPr lang="en-US" b="1" dirty="0"/>
              <a:t>Resilient Distributed Dataset (RDD)</a:t>
            </a:r>
            <a:r>
              <a:rPr lang="en-US" dirty="0"/>
              <a:t> is the fundamental data structure in </a:t>
            </a:r>
            <a:r>
              <a:rPr lang="en-US" b="1" dirty="0"/>
              <a:t>Apache Spark</a:t>
            </a:r>
            <a:r>
              <a:rPr lang="en-US" dirty="0"/>
              <a:t>. It is an </a:t>
            </a:r>
            <a:r>
              <a:rPr lang="en-US" b="1" dirty="0"/>
              <a:t>immutable, distributed collection of objects</a:t>
            </a:r>
            <a:r>
              <a:rPr lang="en-US" dirty="0"/>
              <a:t> that can be processed in parallel across a cluster of computers. (</a:t>
            </a:r>
            <a:r>
              <a:rPr lang="en-US" dirty="0" err="1"/>
              <a:t>DataFrame</a:t>
            </a:r>
            <a:r>
              <a:rPr lang="en-US" dirty="0"/>
              <a:t> API is typically </a:t>
            </a:r>
            <a:r>
              <a:rPr lang="en-US" dirty="0" err="1"/>
              <a:t>prefferred</a:t>
            </a:r>
            <a:r>
              <a:rPr lang="en-US" dirty="0"/>
              <a:t>)</a:t>
            </a:r>
          </a:p>
          <a:p>
            <a:pPr lvl="1"/>
            <a:r>
              <a:rPr lang="en-US" b="1" dirty="0"/>
              <a:t>Resilient</a:t>
            </a:r>
            <a:endParaRPr lang="en-US" dirty="0"/>
          </a:p>
          <a:p>
            <a:pPr lvl="2"/>
            <a:r>
              <a:rPr lang="en-US" dirty="0"/>
              <a:t>RDDs are fault-tolerant. </a:t>
            </a:r>
          </a:p>
          <a:p>
            <a:pPr lvl="2"/>
            <a:r>
              <a:rPr lang="en-US" dirty="0"/>
              <a:t>If a partition is lost due to a node failure, Spark can automatically reconstruct it using the lineage (the sequence of transformations used to create the RDD).</a:t>
            </a:r>
          </a:p>
          <a:p>
            <a:pPr lvl="1"/>
            <a:r>
              <a:rPr lang="en-US" b="1" dirty="0"/>
              <a:t>Distributed</a:t>
            </a:r>
            <a:endParaRPr lang="en-US" dirty="0"/>
          </a:p>
          <a:p>
            <a:pPr lvl="2"/>
            <a:r>
              <a:rPr lang="en-US" dirty="0"/>
              <a:t>Data is split into partitions and stored across multiple nodes in a cluster. </a:t>
            </a:r>
          </a:p>
          <a:p>
            <a:pPr lvl="2"/>
            <a:r>
              <a:rPr lang="en-US" dirty="0"/>
              <a:t>This enables parallel processing of large datasets.</a:t>
            </a:r>
          </a:p>
          <a:p>
            <a:pPr lvl="1"/>
            <a:r>
              <a:rPr lang="en-US" b="1" dirty="0"/>
              <a:t>Immutable</a:t>
            </a:r>
            <a:endParaRPr lang="en-US" dirty="0"/>
          </a:p>
          <a:p>
            <a:pPr lvl="2"/>
            <a:r>
              <a:rPr lang="en-US" dirty="0"/>
              <a:t>Once an RDD is created, it cannot be modified. </a:t>
            </a:r>
          </a:p>
          <a:p>
            <a:pPr lvl="2"/>
            <a:r>
              <a:rPr lang="en-US" dirty="0"/>
              <a:t>Operations on an RDD create a new RDD rather than changing the existing one.</a:t>
            </a:r>
          </a:p>
          <a:p>
            <a:pPr lvl="1"/>
            <a:r>
              <a:rPr lang="en-US" b="1" dirty="0"/>
              <a:t>Lazy Evaluation</a:t>
            </a:r>
            <a:endParaRPr lang="en-US" dirty="0"/>
          </a:p>
          <a:p>
            <a:pPr lvl="2"/>
            <a:r>
              <a:rPr lang="en-US" dirty="0"/>
              <a:t>Transformations (such as map() and filter()) are not executed immediately. </a:t>
            </a:r>
          </a:p>
          <a:p>
            <a:pPr lvl="2"/>
            <a:r>
              <a:rPr lang="en-US" dirty="0"/>
              <a:t>Spark builds a logical execution plan and performs the computation only when an action is called.</a:t>
            </a:r>
          </a:p>
          <a:p>
            <a:pPr lvl="1"/>
            <a:r>
              <a:rPr lang="en-US" b="1" dirty="0"/>
              <a:t>Parallel Processing</a:t>
            </a:r>
            <a:endParaRPr lang="en-US" dirty="0"/>
          </a:p>
          <a:p>
            <a:pPr lvl="2"/>
            <a:r>
              <a:rPr lang="en-US" dirty="0"/>
              <a:t>Multiple partitions can be processed simultaneously, improving performance for big data workloads.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241556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8655E0-0B21-93C2-496F-D369BA4DDA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</a:t>
            </a:r>
            <a:r>
              <a:rPr lang="en-US" dirty="0" err="1"/>
              <a:t>Sparkcontext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4F0370-5519-D24C-E40E-CC51864877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5368962" cy="3678303"/>
          </a:xfrm>
        </p:spPr>
        <p:txBody>
          <a:bodyPr/>
          <a:lstStyle/>
          <a:p>
            <a:r>
              <a:rPr lang="en-US" dirty="0"/>
              <a:t>Created by our driver program</a:t>
            </a:r>
          </a:p>
          <a:p>
            <a:r>
              <a:rPr lang="en-US" dirty="0"/>
              <a:t>Is responsible for making RDDs resilient and distributed</a:t>
            </a:r>
          </a:p>
          <a:p>
            <a:r>
              <a:rPr lang="en-US" dirty="0"/>
              <a:t>Creates RDDs</a:t>
            </a:r>
          </a:p>
          <a:p>
            <a:r>
              <a:rPr lang="en-US" dirty="0"/>
              <a:t>The spark shell creates an ‘</a:t>
            </a:r>
            <a:r>
              <a:rPr lang="en-US" dirty="0" err="1"/>
              <a:t>sc</a:t>
            </a:r>
            <a:r>
              <a:rPr lang="en-US" dirty="0"/>
              <a:t>’ object for us</a:t>
            </a:r>
          </a:p>
          <a:p>
            <a:pPr lvl="1"/>
            <a:r>
              <a:rPr lang="en-US" dirty="0"/>
              <a:t>I.e. when we run ‘</a:t>
            </a:r>
            <a:r>
              <a:rPr lang="en-US" dirty="0" err="1"/>
              <a:t>pyspark</a:t>
            </a:r>
            <a:r>
              <a:rPr lang="en-US" dirty="0"/>
              <a:t>’ from our CLI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52F2DE8-2403-4F1A-3015-D05FAE5768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8286" y="2962872"/>
            <a:ext cx="5982521" cy="21791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912137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050B94-9370-5F85-FFC4-2B2030F098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</a:t>
            </a:r>
            <a:r>
              <a:rPr lang="en-US" dirty="0" err="1"/>
              <a:t>Rdd’s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568FBA-A328-7D02-CA62-BD4F67E52B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1960324"/>
            <a:ext cx="11029615" cy="4521896"/>
          </a:xfrm>
        </p:spPr>
        <p:txBody>
          <a:bodyPr>
            <a:normAutofit/>
          </a:bodyPr>
          <a:lstStyle/>
          <a:p>
            <a:r>
              <a:rPr lang="en-US" dirty="0" err="1"/>
              <a:t>nums</a:t>
            </a:r>
            <a:r>
              <a:rPr lang="en-US" dirty="0"/>
              <a:t> = parallelize([1, 2, 3, 4])</a:t>
            </a:r>
          </a:p>
          <a:p>
            <a:r>
              <a:rPr lang="en-US" dirty="0" err="1"/>
              <a:t>sc.textFile</a:t>
            </a:r>
            <a:r>
              <a:rPr lang="en-US" dirty="0"/>
              <a:t>(“file:///c:/users/ethan/something.txt”)</a:t>
            </a:r>
          </a:p>
          <a:p>
            <a:pPr lvl="1"/>
            <a:r>
              <a:rPr lang="en-US" dirty="0"/>
              <a:t>OR: s3n:// OR hdfs://</a:t>
            </a:r>
          </a:p>
          <a:p>
            <a:r>
              <a:rPr lang="en-US" dirty="0" err="1"/>
              <a:t>hiveCtx</a:t>
            </a:r>
            <a:r>
              <a:rPr lang="en-US" dirty="0"/>
              <a:t> = </a:t>
            </a:r>
            <a:r>
              <a:rPr lang="en-US" dirty="0" err="1"/>
              <a:t>HiveContext</a:t>
            </a:r>
            <a:r>
              <a:rPr lang="en-US" dirty="0"/>
              <a:t>(</a:t>
            </a:r>
            <a:r>
              <a:rPr lang="en-US" dirty="0" err="1"/>
              <a:t>sc</a:t>
            </a:r>
            <a:r>
              <a:rPr lang="en-US" dirty="0"/>
              <a:t>) rows = </a:t>
            </a:r>
            <a:r>
              <a:rPr lang="en-US" dirty="0" err="1"/>
              <a:t>hiveCtx.sql</a:t>
            </a:r>
            <a:r>
              <a:rPr lang="en-US" dirty="0"/>
              <a:t>(“SELECT name, age FROM users”)</a:t>
            </a:r>
          </a:p>
          <a:p>
            <a:r>
              <a:rPr lang="en-US" dirty="0"/>
              <a:t>Can also create from:</a:t>
            </a:r>
          </a:p>
          <a:p>
            <a:pPr lvl="1"/>
            <a:r>
              <a:rPr lang="en-US" dirty="0"/>
              <a:t>JDBC</a:t>
            </a:r>
          </a:p>
          <a:p>
            <a:pPr lvl="1"/>
            <a:r>
              <a:rPr lang="en-US" dirty="0"/>
              <a:t>Cassandra</a:t>
            </a:r>
          </a:p>
          <a:p>
            <a:pPr lvl="1"/>
            <a:r>
              <a:rPr lang="en-US" dirty="0" err="1"/>
              <a:t>Hbase</a:t>
            </a:r>
            <a:endParaRPr lang="en-US" dirty="0"/>
          </a:p>
          <a:p>
            <a:pPr lvl="1"/>
            <a:r>
              <a:rPr lang="en-US" dirty="0" err="1"/>
              <a:t>Elastisearch</a:t>
            </a:r>
            <a:endParaRPr lang="en-US" dirty="0"/>
          </a:p>
          <a:p>
            <a:pPr lvl="1"/>
            <a:r>
              <a:rPr lang="en-US" dirty="0"/>
              <a:t>JSON, CSV, sequence files, object files, various compressed formats</a:t>
            </a:r>
          </a:p>
        </p:txBody>
      </p:sp>
    </p:spTree>
    <p:extLst>
      <p:ext uri="{BB962C8B-B14F-4D97-AF65-F5344CB8AC3E}">
        <p14:creationId xmlns:p14="http://schemas.microsoft.com/office/powerpoint/2010/main" val="225302298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D154E8-B8BE-A0B9-570E-CA8D7B2697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Transforming RDD’s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6A28A6-1DF1-1398-EB8D-1056F34B70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7266364" cy="3678303"/>
          </a:xfrm>
        </p:spPr>
        <p:txBody>
          <a:bodyPr>
            <a:normAutofit lnSpcReduction="10000"/>
          </a:bodyPr>
          <a:lstStyle/>
          <a:p>
            <a:r>
              <a:rPr lang="en-US" dirty="0"/>
              <a:t>Transformations will produce a new RDD </a:t>
            </a:r>
          </a:p>
          <a:p>
            <a:r>
              <a:rPr lang="en-US" dirty="0"/>
              <a:t>Not a complete list (but most common):</a:t>
            </a:r>
          </a:p>
          <a:p>
            <a:pPr lvl="1"/>
            <a:r>
              <a:rPr lang="en-US" dirty="0"/>
              <a:t>map – give a function that transforms each entry in RDD</a:t>
            </a:r>
          </a:p>
          <a:p>
            <a:pPr lvl="1"/>
            <a:r>
              <a:rPr lang="en-US" dirty="0" err="1"/>
              <a:t>mapValues</a:t>
            </a:r>
            <a:r>
              <a:rPr lang="en-US" dirty="0"/>
              <a:t> – same as above but may only act on the values, keys unaffected (but still returned)</a:t>
            </a:r>
          </a:p>
          <a:p>
            <a:pPr lvl="1"/>
            <a:r>
              <a:rPr lang="en-US" dirty="0" err="1"/>
              <a:t>flatmap</a:t>
            </a:r>
            <a:r>
              <a:rPr lang="en-US" dirty="0"/>
              <a:t> /</a:t>
            </a:r>
            <a:r>
              <a:rPr lang="en-US" dirty="0" err="1"/>
              <a:t>flatMapValues</a:t>
            </a:r>
            <a:r>
              <a:rPr lang="en-US" dirty="0"/>
              <a:t> – similar to map, but can produce multiple values or none for every entry</a:t>
            </a:r>
          </a:p>
          <a:p>
            <a:pPr lvl="1"/>
            <a:r>
              <a:rPr lang="en-US" dirty="0"/>
              <a:t>filter – get an RDD with values filtered out </a:t>
            </a:r>
          </a:p>
          <a:p>
            <a:pPr lvl="1"/>
            <a:r>
              <a:rPr lang="en-US" dirty="0"/>
              <a:t>distinct – get unique values in RDD and throw away duplicates</a:t>
            </a:r>
          </a:p>
          <a:p>
            <a:pPr lvl="1"/>
            <a:r>
              <a:rPr lang="en-US" dirty="0"/>
              <a:t>sample – get smaller sub-dataset from RDD</a:t>
            </a:r>
          </a:p>
          <a:p>
            <a:pPr lvl="1"/>
            <a:r>
              <a:rPr lang="en-US" dirty="0"/>
              <a:t>union, intersection, subtract, cartesian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6A83484-039B-24F3-A4D0-5140ACEF81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41752" y="3069935"/>
            <a:ext cx="3543795" cy="1657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622471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AF3A55-4E45-E201-2C5D-5A08C19E99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Lambdas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07FBC5C-22BB-5F7D-4CE1-31098616A3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3864" y="2434531"/>
            <a:ext cx="5344271" cy="2486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054422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0C1B9A-7880-3637-6AB1-600F1E7DE9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Actions on </a:t>
            </a:r>
            <a:r>
              <a:rPr lang="en-US" dirty="0" err="1"/>
              <a:t>Rdd’s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DA63BC-2B38-E7F7-D96F-2AA3847B80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collect – returns all data from the RDD to the driver as a list.</a:t>
            </a:r>
          </a:p>
          <a:p>
            <a:r>
              <a:rPr lang="en-US" dirty="0"/>
              <a:t>count – returns the total number of elements in the RDD.</a:t>
            </a:r>
          </a:p>
          <a:p>
            <a:r>
              <a:rPr lang="en-US" dirty="0" err="1"/>
              <a:t>countByValue</a:t>
            </a:r>
            <a:r>
              <a:rPr lang="en-US" dirty="0"/>
              <a:t> – returns a dictionary of {value: count} showing how many times each unique value appears in the RDD.</a:t>
            </a:r>
          </a:p>
          <a:p>
            <a:r>
              <a:rPr lang="en-US" dirty="0"/>
              <a:t>take – returns the first n elements of the RDD as a list.</a:t>
            </a:r>
          </a:p>
          <a:p>
            <a:r>
              <a:rPr lang="en-US" dirty="0"/>
              <a:t>top – returns the largest n elements in the RDD according to the default or specified ordering.</a:t>
            </a:r>
          </a:p>
          <a:p>
            <a:r>
              <a:rPr lang="en-US" dirty="0"/>
              <a:t>reduce – aggregates all elements of the RDD into a single value by repeatedly applying a user-defined binary function (e.g., summing all numbers)</a:t>
            </a:r>
          </a:p>
        </p:txBody>
      </p:sp>
    </p:spTree>
    <p:extLst>
      <p:ext uri="{BB962C8B-B14F-4D97-AF65-F5344CB8AC3E}">
        <p14:creationId xmlns:p14="http://schemas.microsoft.com/office/powerpoint/2010/main" val="98552231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812179-6242-16D0-EFCE-D7A6F9B789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Sample Breakdown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FE20D5-86F9-8D78-DC1E-C47A7A71CA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73952" y="2187811"/>
            <a:ext cx="4705258" cy="4425931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We import what we need </a:t>
            </a:r>
          </a:p>
          <a:p>
            <a:r>
              <a:rPr lang="en-US" dirty="0" err="1"/>
              <a:t>SparkConf</a:t>
            </a:r>
            <a:r>
              <a:rPr lang="en-US" dirty="0"/>
              <a:t> helps setup our configuration for the </a:t>
            </a:r>
            <a:r>
              <a:rPr lang="en-US" dirty="0" err="1"/>
              <a:t>SparkContext</a:t>
            </a:r>
            <a:endParaRPr lang="en-US" dirty="0"/>
          </a:p>
          <a:p>
            <a:pPr lvl="1"/>
            <a:r>
              <a:rPr lang="en-US" dirty="0" err="1"/>
              <a:t>setMaster</a:t>
            </a:r>
            <a:r>
              <a:rPr lang="en-US" dirty="0"/>
              <a:t>(“local”) – run locally as opposed to in a cluster in the cloud for example </a:t>
            </a:r>
          </a:p>
          <a:p>
            <a:pPr lvl="1"/>
            <a:r>
              <a:rPr lang="en-US" dirty="0" err="1"/>
              <a:t>setAppName</a:t>
            </a:r>
            <a:r>
              <a:rPr lang="en-US" dirty="0"/>
              <a:t>() – gives our process a name; best practice</a:t>
            </a:r>
          </a:p>
          <a:p>
            <a:r>
              <a:rPr lang="en-US" dirty="0"/>
              <a:t>lines = RDD made from </a:t>
            </a:r>
            <a:r>
              <a:rPr lang="en-US" dirty="0" err="1"/>
              <a:t>sc.textFile</a:t>
            </a:r>
            <a:r>
              <a:rPr lang="en-US" dirty="0"/>
              <a:t>()</a:t>
            </a:r>
          </a:p>
          <a:p>
            <a:r>
              <a:rPr lang="en-US" dirty="0"/>
              <a:t>ratings = RDD made from </a:t>
            </a:r>
            <a:r>
              <a:rPr lang="en-US" dirty="0" err="1"/>
              <a:t>lines.map</a:t>
            </a:r>
            <a:r>
              <a:rPr lang="en-US" dirty="0"/>
              <a:t>()</a:t>
            </a:r>
          </a:p>
          <a:p>
            <a:pPr lvl="1"/>
            <a:r>
              <a:rPr lang="en-US" dirty="0"/>
              <a:t>Split() returns list of elements in-between whitespace/tabs/newlines/etc. </a:t>
            </a:r>
          </a:p>
          <a:p>
            <a:pPr lvl="1"/>
            <a:r>
              <a:rPr lang="en-US" dirty="0"/>
              <a:t>lines (each row) = </a:t>
            </a:r>
            <a:r>
              <a:rPr lang="en-US" dirty="0" err="1"/>
              <a:t>UserId</a:t>
            </a:r>
            <a:r>
              <a:rPr lang="en-US" dirty="0"/>
              <a:t>, </a:t>
            </a:r>
            <a:r>
              <a:rPr lang="en-US" dirty="0" err="1"/>
              <a:t>MovieId</a:t>
            </a:r>
            <a:r>
              <a:rPr lang="en-US" dirty="0"/>
              <a:t>, Rating, Timestamp </a:t>
            </a:r>
          </a:p>
          <a:p>
            <a:r>
              <a:rPr lang="en-US" dirty="0"/>
              <a:t>result is a python </a:t>
            </a:r>
            <a:r>
              <a:rPr lang="en-US" dirty="0" err="1"/>
              <a:t>dict</a:t>
            </a:r>
            <a:r>
              <a:rPr lang="en-US" dirty="0"/>
              <a:t>, so we can call items() against it</a:t>
            </a:r>
          </a:p>
          <a:p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CA5D859-CACB-3CBC-C9EE-0ED0F03703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5" y="4415986"/>
            <a:ext cx="4902245" cy="238145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77969E8-43C9-E836-A2FD-65439B43BC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9404" y="2127176"/>
            <a:ext cx="5859086" cy="21342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955997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1C08FA-D042-8238-DC15-36E244C436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8B8F00-1A6F-88E1-FC05-DD1C7B18B7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Sample Breakdown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34F4DED-2BA8-B201-0B18-7FDDF4F7FC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70561" y="2894043"/>
            <a:ext cx="4229690" cy="242921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1EED5EF5-6A4B-5573-EFC4-3DD03B6B9C3E}"/>
              </a:ext>
            </a:extLst>
          </p:cNvPr>
          <p:cNvSpPr txBox="1"/>
          <p:nvPr/>
        </p:nvSpPr>
        <p:spPr>
          <a:xfrm>
            <a:off x="6708944" y="2150669"/>
            <a:ext cx="49018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This is an Action, NOT a transformation, so we don’t get back an RDD, we get values </a:t>
            </a:r>
            <a:r>
              <a:rPr lang="en-US" dirty="0" err="1"/>
              <a:t>Dict</a:t>
            </a:r>
            <a:r>
              <a:rPr lang="en-US" dirty="0"/>
              <a:t>[str, int]: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6557ADFF-8993-E860-A165-2319F6E04E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149" y="2965753"/>
            <a:ext cx="6275228" cy="22857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896224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4A1754-EF5A-C139-CFAA-D750CEB405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E06D83-F0BF-39A3-F2ED-8B93E726CA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Sample Breakdown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42DE0F8-1CD7-FE62-2C94-BFB657FD21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366" y="2836886"/>
            <a:ext cx="6707650" cy="244330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229FC5E-E09C-3D0A-80FF-EE001E3A9DF3}"/>
              </a:ext>
            </a:extLst>
          </p:cNvPr>
          <p:cNvSpPr txBox="1"/>
          <p:nvPr/>
        </p:nvSpPr>
        <p:spPr>
          <a:xfrm>
            <a:off x="7221688" y="3100233"/>
            <a:ext cx="4593946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Items() returns a set of tuples: (rating, count)</a:t>
            </a:r>
          </a:p>
          <a:p>
            <a:endParaRPr lang="en-US" dirty="0"/>
          </a:p>
          <a:p>
            <a:r>
              <a:rPr lang="en-US" dirty="0"/>
              <a:t>key: provided lambda to sort on the second column (rating counts)</a:t>
            </a:r>
          </a:p>
          <a:p>
            <a:endParaRPr lang="en-US" dirty="0"/>
          </a:p>
          <a:p>
            <a:r>
              <a:rPr lang="en-US" dirty="0"/>
              <a:t>reverse: set to true to sort in descending order</a:t>
            </a:r>
          </a:p>
        </p:txBody>
      </p:sp>
    </p:spTree>
    <p:extLst>
      <p:ext uri="{BB962C8B-B14F-4D97-AF65-F5344CB8AC3E}">
        <p14:creationId xmlns:p14="http://schemas.microsoft.com/office/powerpoint/2010/main" val="88506496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F1D961-9397-0E16-E31A-8C9698A795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Spark-submit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D41B4E0-5C9F-5A9B-53D1-5C4F2C10B3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0030" y="2871707"/>
            <a:ext cx="7106642" cy="25721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C8337B6-A206-C9EE-F211-A288F9AAB1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46596" y="2443023"/>
            <a:ext cx="828791" cy="111458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68D890F-3D7E-D42D-C066-C2D16B5AE2C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04600" y="4048638"/>
            <a:ext cx="6982799" cy="24768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048481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63ABE6-62BC-5FFE-2A0C-F7D92E1986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/ Value RDD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F6CC7C-5A38-B044-4C76-C9316122B1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4264220"/>
            <a:ext cx="11029615" cy="2534717"/>
          </a:xfrm>
        </p:spPr>
        <p:txBody>
          <a:bodyPr/>
          <a:lstStyle/>
          <a:p>
            <a:r>
              <a:rPr lang="en-US" dirty="0" err="1"/>
              <a:t>reduceByKey</a:t>
            </a:r>
            <a:r>
              <a:rPr lang="en-US" dirty="0"/>
              <a:t>(): combine values with the same key using some function</a:t>
            </a:r>
          </a:p>
          <a:p>
            <a:pPr lvl="1"/>
            <a:r>
              <a:rPr lang="en-US" dirty="0" err="1"/>
              <a:t>rdd.reduceByKey</a:t>
            </a:r>
            <a:r>
              <a:rPr lang="en-US" dirty="0"/>
              <a:t>(lambda x, y: x + y) </a:t>
            </a:r>
            <a:r>
              <a:rPr lang="en-US" dirty="0">
                <a:sym typeface="Wingdings" panose="05000000000000000000" pitchFamily="2" charset="2"/>
              </a:rPr>
              <a:t> x is the accumulator; y is current value</a:t>
            </a:r>
            <a:endParaRPr lang="en-US" dirty="0"/>
          </a:p>
          <a:p>
            <a:r>
              <a:rPr lang="en-US" dirty="0" err="1"/>
              <a:t>groupByKey</a:t>
            </a:r>
            <a:r>
              <a:rPr lang="en-US" dirty="0"/>
              <a:t>(): group values with the same key (no reduction/accumulation)</a:t>
            </a:r>
          </a:p>
          <a:p>
            <a:r>
              <a:rPr lang="en-US" dirty="0" err="1"/>
              <a:t>sortByKey</a:t>
            </a:r>
            <a:r>
              <a:rPr lang="en-US" dirty="0"/>
              <a:t>(): sort RDD by key values</a:t>
            </a:r>
          </a:p>
          <a:p>
            <a:r>
              <a:rPr lang="en-US" dirty="0"/>
              <a:t>keys(), values(): create an RDD of just the keys, or just the values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FC741B7-5FE4-F9D0-E4C7-DFE8C13F82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7601" y="2428691"/>
            <a:ext cx="5068007" cy="150516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020BCA6-4E8E-672E-1114-72A1C3E0F9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2016" y="2721299"/>
            <a:ext cx="2295845" cy="154326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68FB4B3-18D7-A368-0A51-D4F88E2BDDE4}"/>
              </a:ext>
            </a:extLst>
          </p:cNvPr>
          <p:cNvSpPr txBox="1"/>
          <p:nvPr/>
        </p:nvSpPr>
        <p:spPr>
          <a:xfrm>
            <a:off x="7268283" y="2020591"/>
            <a:ext cx="35362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Key / Value RDDs are a list of tuples that have at least 2 elements:</a:t>
            </a:r>
          </a:p>
        </p:txBody>
      </p:sp>
    </p:spTree>
    <p:extLst>
      <p:ext uri="{BB962C8B-B14F-4D97-AF65-F5344CB8AC3E}">
        <p14:creationId xmlns:p14="http://schemas.microsoft.com/office/powerpoint/2010/main" val="133828911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FBF23E-EC58-CB61-43F3-943F3DEB94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SQL-style Joins on 2 key/value RDD’s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963C91-2419-D7EA-18D0-3A6D1776DD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join, </a:t>
            </a:r>
            <a:r>
              <a:rPr lang="en-US" dirty="0" err="1"/>
              <a:t>rightOuterJoin</a:t>
            </a:r>
            <a:r>
              <a:rPr lang="en-US" dirty="0"/>
              <a:t>, </a:t>
            </a:r>
            <a:r>
              <a:rPr lang="en-US" dirty="0" err="1"/>
              <a:t>leftOuterJoin</a:t>
            </a:r>
            <a:r>
              <a:rPr lang="en-US" dirty="0"/>
              <a:t>, cogroup, </a:t>
            </a:r>
            <a:r>
              <a:rPr lang="en-US" dirty="0" err="1"/>
              <a:t>subtractByKey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1807256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AF7AE5-BD1D-9A58-144C-A0E91B3C74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RDD Best Practices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D19C3A-CE1F-0FF6-CADD-6849436BC0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With key/value data, use </a:t>
            </a:r>
            <a:r>
              <a:rPr lang="en-US" dirty="0" err="1"/>
              <a:t>mapValues</a:t>
            </a:r>
            <a:r>
              <a:rPr lang="en-US" dirty="0"/>
              <a:t>() and </a:t>
            </a:r>
            <a:r>
              <a:rPr lang="en-US" dirty="0" err="1"/>
              <a:t>flatMapValues</a:t>
            </a:r>
            <a:r>
              <a:rPr lang="en-US" dirty="0"/>
              <a:t>() if your transformation doesn’t affect the keys</a:t>
            </a:r>
          </a:p>
          <a:p>
            <a:r>
              <a:rPr lang="en-US" dirty="0"/>
              <a:t>The key will still exist, we just won’t have edit access</a:t>
            </a:r>
          </a:p>
          <a:p>
            <a:r>
              <a:rPr lang="en-US" dirty="0"/>
              <a:t>It’s more performant under the hood</a:t>
            </a:r>
          </a:p>
        </p:txBody>
      </p:sp>
    </p:spTree>
    <p:extLst>
      <p:ext uri="{BB962C8B-B14F-4D97-AF65-F5344CB8AC3E}">
        <p14:creationId xmlns:p14="http://schemas.microsoft.com/office/powerpoint/2010/main" val="203784107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B86527-7131-2338-6F4C-31F6DFA928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PrettyTable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077D500-9BFF-563C-07B2-0D7EBDEF17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2537" y="2371930"/>
            <a:ext cx="8206924" cy="317125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A8A8F5E-884E-F631-FCCC-D3D8EDEE88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66574" y="5917686"/>
            <a:ext cx="6458851" cy="2381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033815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75D198-B1EC-B48F-0BE9-DEC9F87490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Friends by Age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6919EE-395C-644A-EE2B-2CE53C4BAD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37147" y="2202442"/>
            <a:ext cx="5300229" cy="3678303"/>
          </a:xfrm>
        </p:spPr>
        <p:txBody>
          <a:bodyPr/>
          <a:lstStyle/>
          <a:p>
            <a:r>
              <a:rPr lang="en-US" dirty="0"/>
              <a:t>Input data: ID, name, age, number of friends</a:t>
            </a:r>
          </a:p>
          <a:p>
            <a:r>
              <a:rPr lang="en-US" dirty="0"/>
              <a:t>0,Will,33,385</a:t>
            </a:r>
          </a:p>
          <a:p>
            <a:r>
              <a:rPr lang="en-US" dirty="0"/>
              <a:t>1,Jean-Luc,33,2</a:t>
            </a:r>
          </a:p>
          <a:p>
            <a:r>
              <a:rPr lang="en-US" dirty="0"/>
              <a:t>2,Hugh,55,221</a:t>
            </a:r>
          </a:p>
          <a:p>
            <a:r>
              <a:rPr lang="en-US" dirty="0"/>
              <a:t>3,Deanna,40,465</a:t>
            </a:r>
          </a:p>
          <a:p>
            <a:r>
              <a:rPr lang="en-US" dirty="0"/>
              <a:t>4,Quark,68,21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141E1B5-7C02-E077-9877-043711BF2F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6148" y="2301386"/>
            <a:ext cx="3748589" cy="36783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119497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181CB1-41C8-E2C2-C98E-EC4BC527D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Friends by age Example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DE7AA68-792B-9592-6BB2-89FCF09642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6347" y="2114092"/>
            <a:ext cx="4083502" cy="427470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0F24D4F-1068-F559-42CC-7CB241F75B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0862" y="2556094"/>
            <a:ext cx="5889946" cy="33906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747985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2F3729-60D9-F4E4-6078-0B22E91916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Filter() – 1800s </a:t>
            </a:r>
            <a:r>
              <a:rPr lang="en-US" dirty="0" err="1"/>
              <a:t>weatherstation</a:t>
            </a:r>
            <a:r>
              <a:rPr lang="en-US" dirty="0"/>
              <a:t>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F63D6B-B5E2-FE96-7657-4D84FF9876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5651358" cy="3678303"/>
          </a:xfrm>
        </p:spPr>
        <p:txBody>
          <a:bodyPr/>
          <a:lstStyle/>
          <a:p>
            <a:r>
              <a:rPr lang="en-US" dirty="0"/>
              <a:t>filter() removes data from your RDD</a:t>
            </a:r>
          </a:p>
          <a:p>
            <a:r>
              <a:rPr lang="en-US" dirty="0"/>
              <a:t>Takes a function that returns a Boolean</a:t>
            </a:r>
          </a:p>
          <a:p>
            <a:endParaRPr lang="en-US" dirty="0"/>
          </a:p>
          <a:p>
            <a:r>
              <a:rPr lang="en-US" dirty="0" err="1"/>
              <a:t>minTemps</a:t>
            </a:r>
            <a:r>
              <a:rPr lang="en-US" dirty="0"/>
              <a:t> = </a:t>
            </a:r>
            <a:r>
              <a:rPr lang="en-US" dirty="0" err="1"/>
              <a:t>parsedLines.filter</a:t>
            </a:r>
            <a:r>
              <a:rPr lang="en-US" dirty="0"/>
              <a:t>(lambda x: ‘TMIN’ in x[1])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63ACD95-6294-8F7C-850D-B78E4F0AC3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4887" y="2867284"/>
            <a:ext cx="4474969" cy="229636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DDB9AEF-8D52-C2EC-C7ED-D105E0A23760}"/>
              </a:ext>
            </a:extLst>
          </p:cNvPr>
          <p:cNvSpPr txBox="1"/>
          <p:nvPr/>
        </p:nvSpPr>
        <p:spPr>
          <a:xfrm>
            <a:off x="5926238" y="2550020"/>
            <a:ext cx="568456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 err="1"/>
              <a:t>WeatherStationID</a:t>
            </a:r>
            <a:r>
              <a:rPr lang="en-US" sz="1100" dirty="0"/>
              <a:t>, Date, </a:t>
            </a:r>
            <a:r>
              <a:rPr lang="en-US" sz="1100" dirty="0" err="1"/>
              <a:t>ObservationType</a:t>
            </a:r>
            <a:r>
              <a:rPr lang="en-US" sz="1100" dirty="0"/>
              <a:t>, </a:t>
            </a:r>
            <a:r>
              <a:rPr lang="en-US" sz="1100" dirty="0" err="1"/>
              <a:t>ObservationValue</a:t>
            </a:r>
            <a:r>
              <a:rPr lang="en-US" sz="1100" dirty="0"/>
              <a:t> (tenth degree C), (ignore others)</a:t>
            </a:r>
          </a:p>
        </p:txBody>
      </p:sp>
    </p:spTree>
    <p:extLst>
      <p:ext uri="{BB962C8B-B14F-4D97-AF65-F5344CB8AC3E}">
        <p14:creationId xmlns:p14="http://schemas.microsoft.com/office/powerpoint/2010/main" val="310676000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11C12E-EE03-07B6-628A-F5D68830EC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Measure Minimum Temps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33D1F8F-3DC3-74CB-AE6B-71E84C8203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04977" y="2040940"/>
            <a:ext cx="4182046" cy="45943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125467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BC0702-1701-2863-CE2B-3366125CED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90AA22-6468-A7F3-80E5-29ABD48554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 – Find Maximum temps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8DDB70-8B3E-348A-6D43-660332CC39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475925"/>
            <a:ext cx="5317584" cy="1681246"/>
          </a:xfrm>
        </p:spPr>
        <p:txBody>
          <a:bodyPr/>
          <a:lstStyle/>
          <a:p>
            <a:r>
              <a:rPr lang="en-US" dirty="0"/>
              <a:t>Find Maximum temps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56EF4AB-9166-6AC8-72C1-9D230A48CF2B}"/>
              </a:ext>
            </a:extLst>
          </p:cNvPr>
          <p:cNvSpPr txBox="1"/>
          <p:nvPr/>
        </p:nvSpPr>
        <p:spPr>
          <a:xfrm>
            <a:off x="1228165" y="2402747"/>
            <a:ext cx="7569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Goal: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B4BC2A5-694F-6A1A-4A92-31361BA9E2E5}"/>
              </a:ext>
            </a:extLst>
          </p:cNvPr>
          <p:cNvSpPr txBox="1"/>
          <p:nvPr/>
        </p:nvSpPr>
        <p:spPr>
          <a:xfrm>
            <a:off x="6949165" y="2402747"/>
            <a:ext cx="46616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Scenario:  			   5 min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6838C9BE-8917-3014-CD8A-F83E7439D1DF}"/>
              </a:ext>
            </a:extLst>
          </p:cNvPr>
          <p:cNvSpPr txBox="1">
            <a:spLocks/>
          </p:cNvSpPr>
          <p:nvPr/>
        </p:nvSpPr>
        <p:spPr>
          <a:xfrm>
            <a:off x="6545749" y="2772079"/>
            <a:ext cx="4661642" cy="168124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Find maximum temps for each station</a:t>
            </a:r>
          </a:p>
        </p:txBody>
      </p:sp>
    </p:spTree>
    <p:extLst>
      <p:ext uri="{BB962C8B-B14F-4D97-AF65-F5344CB8AC3E}">
        <p14:creationId xmlns:p14="http://schemas.microsoft.com/office/powerpoint/2010/main" val="65062345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DBFC18-8A71-D8CF-BCC9-B3B622C134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Map vs </a:t>
            </a:r>
            <a:r>
              <a:rPr lang="en-US" dirty="0" err="1"/>
              <a:t>Flatmap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7E3009E-B480-AC20-D2C2-E532C26A6FC8}"/>
              </a:ext>
            </a:extLst>
          </p:cNvPr>
          <p:cNvSpPr txBox="1"/>
          <p:nvPr/>
        </p:nvSpPr>
        <p:spPr>
          <a:xfrm>
            <a:off x="3459271" y="3003114"/>
            <a:ext cx="5273457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Map – returns single item for each entry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Wouldn’t be the choice here, each line is a single entry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dirty="0"/>
          </a:p>
          <a:p>
            <a:r>
              <a:rPr lang="en-US" dirty="0" err="1"/>
              <a:t>flatmap</a:t>
            </a:r>
            <a:r>
              <a:rPr lang="en-US" dirty="0"/>
              <a:t> – possibly returns many items for each entry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For each entry (line), we can split() and get each word (multiple values per entry)</a:t>
            </a:r>
          </a:p>
        </p:txBody>
      </p:sp>
    </p:spTree>
    <p:extLst>
      <p:ext uri="{BB962C8B-B14F-4D97-AF65-F5344CB8AC3E}">
        <p14:creationId xmlns:p14="http://schemas.microsoft.com/office/powerpoint/2010/main" val="386790024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1B0E96-8DD0-A449-28F0-044794CF7B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Word Count Example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C4C72E5-FDB2-DDF2-9576-FEE0E449A1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8183" y="2352214"/>
            <a:ext cx="5420481" cy="378195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D878FD9-5C0A-4096-66B7-E680570D61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1510" y="2522980"/>
            <a:ext cx="4001058" cy="33151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357382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6FB6D2-A83F-5614-5D9A-F3714BD64A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Text Normalization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9812A0-B40A-0816-7599-1123184F66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963372"/>
            <a:ext cx="11029615" cy="1333055"/>
          </a:xfrm>
        </p:spPr>
        <p:txBody>
          <a:bodyPr/>
          <a:lstStyle/>
          <a:p>
            <a:r>
              <a:rPr lang="en-US" dirty="0"/>
              <a:t>Problem: word variants with different capitalization, punctuation, </a:t>
            </a:r>
            <a:r>
              <a:rPr lang="en-US" dirty="0" err="1"/>
              <a:t>etc</a:t>
            </a:r>
            <a:r>
              <a:rPr lang="en-US" dirty="0"/>
              <a:t> </a:t>
            </a:r>
          </a:p>
          <a:p>
            <a:r>
              <a:rPr lang="en-US" dirty="0"/>
              <a:t>There are fancy natural language processing toolkits like: natural language toolkit (NLTK)</a:t>
            </a:r>
          </a:p>
          <a:p>
            <a:r>
              <a:rPr lang="en-US" dirty="0"/>
              <a:t>But we’ll keep it simple, and use a regular expression to fix this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D8A0461-CD21-6E07-0F3F-970F076615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47838" y="4993090"/>
            <a:ext cx="4096322" cy="4667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290353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093DD0-54B0-4856-82AD-CB95C1C325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Improved Word Count Example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4FC630F-FE35-EE84-B335-8D77DC78F3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7440" y="1976769"/>
            <a:ext cx="4060712" cy="476484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7FC6124-9272-841A-1271-8E660DFB0CE0}"/>
              </a:ext>
            </a:extLst>
          </p:cNvPr>
          <p:cNvSpPr txBox="1"/>
          <p:nvPr/>
        </p:nvSpPr>
        <p:spPr>
          <a:xfrm>
            <a:off x="6842819" y="2318317"/>
            <a:ext cx="4235501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Creating a tokenized regex via compile() is ideal for performance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We include Unicode support so we can also catch words with unique letters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á: U+00E1 (Alt + 0225)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é: U+00E9 (Alt + 0233)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í: U+00ED (Alt + 0237)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ó: U+00F3 (Alt + 0243)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ú: U+00FA (Alt + 0250)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ü: U+00FC (Alt + 0252)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ñ: U+00F1 (Alt + 0241)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Ñ: U+00D1 (Alt + 0209)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¡: U+00A1 (Alt + 0161)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¿: U+00BF (Alt + 0191) </a:t>
            </a:r>
          </a:p>
        </p:txBody>
      </p:sp>
    </p:spTree>
    <p:extLst>
      <p:ext uri="{BB962C8B-B14F-4D97-AF65-F5344CB8AC3E}">
        <p14:creationId xmlns:p14="http://schemas.microsoft.com/office/powerpoint/2010/main" val="389082467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517F64-EE97-52A6-F4EB-27C9995E5B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Sort Word Count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70C2E5-5645-9EF6-E5F4-4FA855A674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077242"/>
            <a:ext cx="11029615" cy="3064803"/>
          </a:xfrm>
        </p:spPr>
        <p:txBody>
          <a:bodyPr/>
          <a:lstStyle/>
          <a:p>
            <a:r>
              <a:rPr lang="en-US" dirty="0" err="1"/>
              <a:t>countByValue</a:t>
            </a:r>
            <a:r>
              <a:rPr lang="en-US" dirty="0"/>
              <a:t>() returns a python </a:t>
            </a:r>
            <a:r>
              <a:rPr lang="en-US" dirty="0" err="1"/>
              <a:t>dict</a:t>
            </a:r>
            <a:r>
              <a:rPr lang="en-US" dirty="0"/>
              <a:t>, we could do sorting in-memory, but this isn’t scalable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Let’s instead use map() and </a:t>
            </a:r>
            <a:r>
              <a:rPr lang="en-US" dirty="0" err="1"/>
              <a:t>reduceByKey</a:t>
            </a:r>
            <a:r>
              <a:rPr lang="en-US" dirty="0"/>
              <a:t>() to recreate the same data in a RDD instead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F40C816-C181-BA14-84F4-B70434AE67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3261" y="5278375"/>
            <a:ext cx="6496957" cy="27626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3691A49-C777-A88C-F97B-8A9EAA2316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51342" y="3476274"/>
            <a:ext cx="3000794" cy="2667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922955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EE1D92-9404-0C1F-C7D1-6157353945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Sort Word Count Example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035D9D0-7211-EA9F-D685-0A4D1B6BB9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22536" y="1881033"/>
            <a:ext cx="4346927" cy="49111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837242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A4AD96-FEFB-A57B-FC1A-293ACEC3DA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72D6CB-733F-49D3-182B-33189F14F3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 – Customer totals sorted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1A0C62-D78C-21DE-CE4B-C51B00F131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28165" y="3245299"/>
            <a:ext cx="5317584" cy="1681246"/>
          </a:xfrm>
        </p:spPr>
        <p:txBody>
          <a:bodyPr/>
          <a:lstStyle/>
          <a:p>
            <a:r>
              <a:rPr lang="en-US" dirty="0"/>
              <a:t>Find and sort customer IDs and the total spent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CB66207-A9BF-4842-8A2E-5EAE38B44463}"/>
              </a:ext>
            </a:extLst>
          </p:cNvPr>
          <p:cNvSpPr txBox="1"/>
          <p:nvPr/>
        </p:nvSpPr>
        <p:spPr>
          <a:xfrm>
            <a:off x="1228165" y="3429000"/>
            <a:ext cx="7569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Goal: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01760ED-2D71-F681-2A15-8A547EF0DA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43466" y="2828248"/>
            <a:ext cx="2553056" cy="26578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761155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376BB2-5769-992C-B4B2-8B6CDDC1EF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Shuffling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F80823-6ED8-8A08-CD61-F782015FF6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6202380" cy="3678303"/>
          </a:xfrm>
        </p:spPr>
        <p:txBody>
          <a:bodyPr/>
          <a:lstStyle/>
          <a:p>
            <a:r>
              <a:rPr lang="en-US" b="1" dirty="0"/>
              <a:t>Shuffling</a:t>
            </a:r>
            <a:r>
              <a:rPr lang="en-US" dirty="0"/>
              <a:t> in </a:t>
            </a:r>
            <a:r>
              <a:rPr lang="en-US" b="1" dirty="0"/>
              <a:t>Apache Spark</a:t>
            </a:r>
            <a:r>
              <a:rPr lang="en-US" dirty="0"/>
              <a:t> is the process of </a:t>
            </a:r>
            <a:r>
              <a:rPr lang="en-US" b="1" dirty="0"/>
              <a:t>redistributing data across partitions</a:t>
            </a:r>
            <a:r>
              <a:rPr lang="en-US" dirty="0"/>
              <a:t> so that records with the same key (or related data) end up on the same executor or partition</a:t>
            </a:r>
          </a:p>
          <a:p>
            <a:r>
              <a:rPr lang="en-US" dirty="0"/>
              <a:t>It is one of the most expensive operations in Spark because it involves moving data over the network, writing intermediate data to disk, and sorting.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4E6AFCB-E873-D9AE-EFE5-6A4BC2EC4C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47749" y="2751953"/>
            <a:ext cx="4363059" cy="152421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4F99FDB-483A-B97A-34B8-6D5F91B084F1}"/>
              </a:ext>
            </a:extLst>
          </p:cNvPr>
          <p:cNvSpPr txBox="1"/>
          <p:nvPr/>
        </p:nvSpPr>
        <p:spPr>
          <a:xfrm>
            <a:off x="7247749" y="4573499"/>
            <a:ext cx="4579088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Initially, records with key </a:t>
            </a:r>
            <a:r>
              <a:rPr lang="en-US" dirty="0">
                <a:latin typeface="Courier New" panose="02070309020205020404" pitchFamily="49" charset="0"/>
              </a:rPr>
              <a:t>"A"</a:t>
            </a:r>
            <a:r>
              <a:rPr lang="en-US" dirty="0"/>
              <a:t> and </a:t>
            </a:r>
            <a:r>
              <a:rPr lang="en-US" dirty="0">
                <a:latin typeface="Courier New" panose="02070309020205020404" pitchFamily="49" charset="0"/>
              </a:rPr>
              <a:t>"B"</a:t>
            </a:r>
            <a:r>
              <a:rPr lang="en-US" dirty="0"/>
              <a:t> may be spread across different partitions. Spark shuffles the data so all </a:t>
            </a:r>
            <a:r>
              <a:rPr lang="en-US" dirty="0">
                <a:latin typeface="Courier New" panose="02070309020205020404" pitchFamily="49" charset="0"/>
              </a:rPr>
              <a:t>"A"</a:t>
            </a:r>
            <a:r>
              <a:rPr lang="en-US" dirty="0"/>
              <a:t> records are together and all </a:t>
            </a:r>
            <a:r>
              <a:rPr lang="en-US" dirty="0">
                <a:latin typeface="Courier New" panose="02070309020205020404" pitchFamily="49" charset="0"/>
              </a:rPr>
              <a:t>"B"</a:t>
            </a:r>
            <a:r>
              <a:rPr lang="en-US" dirty="0"/>
              <a:t> records are together before performing the reduction.</a:t>
            </a:r>
          </a:p>
        </p:txBody>
      </p:sp>
    </p:spTree>
    <p:extLst>
      <p:ext uri="{BB962C8B-B14F-4D97-AF65-F5344CB8AC3E}">
        <p14:creationId xmlns:p14="http://schemas.microsoft.com/office/powerpoint/2010/main" val="213436994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27D644-9700-CEBE-0461-20C0E9EA73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Shuffling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6186D7-0CC2-C478-050A-816A1053E3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5968464" cy="3678303"/>
          </a:xfrm>
        </p:spPr>
        <p:txBody>
          <a:bodyPr/>
          <a:lstStyle/>
          <a:p>
            <a:r>
              <a:rPr lang="en-US" dirty="0"/>
              <a:t>Each executor processes its local partition. </a:t>
            </a:r>
          </a:p>
          <a:p>
            <a:r>
              <a:rPr lang="en-US" dirty="0"/>
              <a:t>Spark partitions the output based on a partitioning function (typically a hash of the key). </a:t>
            </a:r>
          </a:p>
          <a:p>
            <a:r>
              <a:rPr lang="en-US" dirty="0"/>
              <a:t>Data is written to local disk as intermediate shuffle files. </a:t>
            </a:r>
          </a:p>
          <a:p>
            <a:r>
              <a:rPr lang="en-US" dirty="0"/>
              <a:t>Executors transfer the appropriate data to other executors over the network. </a:t>
            </a:r>
          </a:p>
          <a:p>
            <a:r>
              <a:rPr lang="en-US" dirty="0"/>
              <a:t>The receiving executors merge, sort (if necessary), and process the shuffled data.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D88CDF2-CCE4-AD1E-83A6-4A2B24D245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36466" y="2329584"/>
            <a:ext cx="2846440" cy="38562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092543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CC7C16-6EC0-3C82-641E-41118E8EAB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Narrow vs wide transformations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102165AF-2DD4-F91F-0216-B8601B501E5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91009544"/>
              </p:ext>
            </p:extLst>
          </p:nvPr>
        </p:nvGraphicFramePr>
        <p:xfrm>
          <a:off x="1799559" y="4692787"/>
          <a:ext cx="11029950" cy="1828800"/>
        </p:xfrm>
        <a:graphic>
          <a:graphicData uri="http://schemas.openxmlformats.org/drawingml/2006/table">
            <a:tbl>
              <a:tblPr/>
              <a:tblGrid>
                <a:gridCol w="5514975">
                  <a:extLst>
                    <a:ext uri="{9D8B030D-6E8A-4147-A177-3AD203B41FA5}">
                      <a16:colId xmlns:a16="http://schemas.microsoft.com/office/drawing/2014/main" val="1143201161"/>
                    </a:ext>
                  </a:extLst>
                </a:gridCol>
                <a:gridCol w="5514975">
                  <a:extLst>
                    <a:ext uri="{9D8B030D-6E8A-4147-A177-3AD203B41FA5}">
                      <a16:colId xmlns:a16="http://schemas.microsoft.com/office/drawing/2014/main" val="203291812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Narrow Transformation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Wide Transformation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464154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ourier New" panose="02070309020205020404" pitchFamily="49" charset="0"/>
                        </a:rPr>
                        <a:t>map()</a:t>
                      </a: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ourier New" panose="02070309020205020404" pitchFamily="49" charset="0"/>
                        </a:rPr>
                        <a:t>groupByKey()</a:t>
                      </a: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4641054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latin typeface="Courier New" panose="02070309020205020404" pitchFamily="49" charset="0"/>
                        </a:rPr>
                        <a:t>filter()</a:t>
                      </a:r>
                      <a:endParaRPr lang="en-US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ourier New" panose="02070309020205020404" pitchFamily="49" charset="0"/>
                        </a:rPr>
                        <a:t>reduceByKey()</a:t>
                      </a: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8787599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ourier New" panose="02070309020205020404" pitchFamily="49" charset="0"/>
                        </a:rPr>
                        <a:t>flatMap()</a:t>
                      </a: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ourier New" panose="02070309020205020404" pitchFamily="49" charset="0"/>
                        </a:rPr>
                        <a:t>join()</a:t>
                      </a: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797102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 err="1">
                          <a:latin typeface="Courier New" panose="02070309020205020404" pitchFamily="49" charset="0"/>
                        </a:rPr>
                        <a:t>mapValues</a:t>
                      </a:r>
                      <a:r>
                        <a:rPr lang="en-US" dirty="0">
                          <a:latin typeface="Courier New" panose="02070309020205020404" pitchFamily="49" charset="0"/>
                        </a:rPr>
                        <a:t>()</a:t>
                      </a:r>
                      <a:endParaRPr lang="en-US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latin typeface="Courier New" panose="02070309020205020404" pitchFamily="49" charset="0"/>
                        </a:rPr>
                        <a:t>distinct()</a:t>
                      </a:r>
                      <a:endParaRPr lang="en-US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78034479"/>
                  </a:ext>
                </a:extLst>
              </a:tr>
            </a:tbl>
          </a:graphicData>
        </a:graphic>
      </p:graphicFrame>
      <p:pic>
        <p:nvPicPr>
          <p:cNvPr id="8" name="Picture 7">
            <a:extLst>
              <a:ext uri="{FF2B5EF4-FFF2-40B4-BE49-F238E27FC236}">
                <a16:creationId xmlns:a16="http://schemas.microsoft.com/office/drawing/2014/main" id="{FDB801C3-7B97-96A0-B990-C6A8ACBFFB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1112" y="2245894"/>
            <a:ext cx="7069776" cy="23662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0815295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7F8A83-9167-C2C5-75C1-38C29937D9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Repartition vs coalesce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B423329-7A8B-612F-27E4-462CCC9C085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881128" y="2500894"/>
            <a:ext cx="4429743" cy="30388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379055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67B0CF-2E57-30F0-E83D-05F3BB002F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Spark SQL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A7E7CB-1FB2-9CD9-9733-24D7333909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6064157" cy="4297312"/>
          </a:xfrm>
        </p:spPr>
        <p:txBody>
          <a:bodyPr>
            <a:normAutofit lnSpcReduction="10000"/>
          </a:bodyPr>
          <a:lstStyle/>
          <a:p>
            <a:r>
              <a:rPr lang="en-US" dirty="0"/>
              <a:t>Extends RDD to a </a:t>
            </a:r>
            <a:r>
              <a:rPr lang="en-US" dirty="0" err="1"/>
              <a:t>DataFrame</a:t>
            </a:r>
            <a:r>
              <a:rPr lang="en-US" dirty="0"/>
              <a:t> object</a:t>
            </a:r>
          </a:p>
          <a:p>
            <a:r>
              <a:rPr lang="en-US" dirty="0"/>
              <a:t>Can often write string SQL or use native Spark functions to complete the same task</a:t>
            </a:r>
          </a:p>
          <a:p>
            <a:pPr lvl="1"/>
            <a:r>
              <a:rPr lang="en-US" dirty="0"/>
              <a:t>Under the hood, the Catalyst Optimizer creates an execution plan (that will be the same for string SQL and native spark functions. i.e. same performance)</a:t>
            </a:r>
          </a:p>
          <a:p>
            <a:r>
              <a:rPr lang="en-US" dirty="0" err="1"/>
              <a:t>DataFrames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Contain Row objects</a:t>
            </a:r>
          </a:p>
          <a:p>
            <a:pPr lvl="1"/>
            <a:r>
              <a:rPr lang="en-US" dirty="0"/>
              <a:t>Can run SQL queries</a:t>
            </a:r>
          </a:p>
          <a:p>
            <a:pPr lvl="1"/>
            <a:r>
              <a:rPr lang="en-US" dirty="0"/>
              <a:t>Can have a schema (store as correct datatype instead of all strings)</a:t>
            </a:r>
          </a:p>
          <a:p>
            <a:pPr lvl="1"/>
            <a:r>
              <a:rPr lang="en-US" dirty="0"/>
              <a:t>Read and write to JSON, Hive, parquet, csv…</a:t>
            </a:r>
          </a:p>
          <a:p>
            <a:pPr lvl="1"/>
            <a:r>
              <a:rPr lang="en-US" dirty="0"/>
              <a:t>Communication with JDBC/ODBC, Tableau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2A2B11F-3489-2CC0-4ED7-943E067E4E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5349" y="2508903"/>
            <a:ext cx="4795338" cy="151074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7BC3CFF-0F7D-B5DC-61FB-FD0AB29478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8119" y="4348054"/>
            <a:ext cx="4032568" cy="21297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182475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5463D4-1EA0-7811-1996-6DFACEFBF6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Spark SQL in Python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9A74EC-E990-E570-D4A7-0B5857653A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from </a:t>
            </a:r>
            <a:r>
              <a:rPr lang="en-US" dirty="0" err="1"/>
              <a:t>pyspark.sql</a:t>
            </a:r>
            <a:r>
              <a:rPr lang="en-US" dirty="0"/>
              <a:t> import </a:t>
            </a:r>
            <a:r>
              <a:rPr lang="en-US" dirty="0" err="1"/>
              <a:t>SparkSession</a:t>
            </a:r>
            <a:r>
              <a:rPr lang="en-US" dirty="0"/>
              <a:t>, Row</a:t>
            </a:r>
          </a:p>
          <a:p>
            <a:r>
              <a:rPr lang="en-US" dirty="0"/>
              <a:t>spark = </a:t>
            </a:r>
            <a:r>
              <a:rPr lang="en-US" dirty="0" err="1"/>
              <a:t>SparkSession.builder.addName</a:t>
            </a:r>
            <a:r>
              <a:rPr lang="en-US" dirty="0"/>
              <a:t>(‘</a:t>
            </a:r>
            <a:r>
              <a:rPr lang="en-US" dirty="0" err="1"/>
              <a:t>SparkSQL</a:t>
            </a:r>
            <a:r>
              <a:rPr lang="en-US" dirty="0"/>
              <a:t>’).</a:t>
            </a:r>
            <a:r>
              <a:rPr lang="en-US" dirty="0" err="1"/>
              <a:t>getOrCreate</a:t>
            </a:r>
            <a:r>
              <a:rPr lang="en-US" dirty="0"/>
              <a:t>()</a:t>
            </a:r>
          </a:p>
          <a:p>
            <a:r>
              <a:rPr lang="en-US" dirty="0" err="1"/>
              <a:t>inputData</a:t>
            </a:r>
            <a:r>
              <a:rPr lang="en-US" dirty="0"/>
              <a:t> = </a:t>
            </a:r>
            <a:r>
              <a:rPr lang="en-US" dirty="0" err="1"/>
              <a:t>spark.read.json</a:t>
            </a:r>
            <a:r>
              <a:rPr lang="en-US" dirty="0"/>
              <a:t>(datafile)</a:t>
            </a:r>
          </a:p>
          <a:p>
            <a:r>
              <a:rPr lang="en-US" dirty="0" err="1"/>
              <a:t>inputData.createOrReplaceTempView</a:t>
            </a:r>
            <a:r>
              <a:rPr lang="en-US" dirty="0"/>
              <a:t>(‘</a:t>
            </a:r>
            <a:r>
              <a:rPr lang="en-US" dirty="0" err="1"/>
              <a:t>TableNameUsually</a:t>
            </a:r>
            <a:r>
              <a:rPr lang="en-US" dirty="0"/>
              <a:t>’) </a:t>
            </a:r>
          </a:p>
          <a:p>
            <a:r>
              <a:rPr lang="en-US" dirty="0" err="1"/>
              <a:t>myResultDataFrame</a:t>
            </a:r>
            <a:r>
              <a:rPr lang="en-US" dirty="0"/>
              <a:t> = </a:t>
            </a:r>
            <a:r>
              <a:rPr lang="en-US" dirty="0" err="1"/>
              <a:t>spark.sql</a:t>
            </a:r>
            <a:r>
              <a:rPr lang="en-US" dirty="0"/>
              <a:t>(‘SELECT ‘something’ FROM </a:t>
            </a:r>
            <a:r>
              <a:rPr lang="en-US" dirty="0" err="1"/>
              <a:t>tableName</a:t>
            </a:r>
            <a:r>
              <a:rPr lang="en-US" dirty="0"/>
              <a:t> ORDER BY ‘something’)</a:t>
            </a:r>
          </a:p>
        </p:txBody>
      </p:sp>
    </p:spTree>
    <p:extLst>
      <p:ext uri="{BB962C8B-B14F-4D97-AF65-F5344CB8AC3E}">
        <p14:creationId xmlns:p14="http://schemas.microsoft.com/office/powerpoint/2010/main" val="4245167052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C57C40-114E-CF70-94D2-5459E2CD1A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Other stuff you can do with </a:t>
            </a:r>
            <a:r>
              <a:rPr lang="en-US" dirty="0" err="1"/>
              <a:t>dataframes</a:t>
            </a:r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D7CC75A-1971-1E97-DB46-BD49051D149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495047" y="2696184"/>
            <a:ext cx="7201905" cy="2648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4718688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2BE4FB-743F-48BD-2400-A0A9A6702D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DataFrames</a:t>
            </a:r>
            <a:r>
              <a:rPr lang="en-US" dirty="0"/>
              <a:t> vs Datasets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80FDA26-B164-59B8-2EF5-249C5D590E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8975" y="2284707"/>
            <a:ext cx="8634049" cy="32090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0515333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C2A961-B042-47E9-EC89-07F797C311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I/o – RDDs &amp; </a:t>
            </a:r>
            <a:r>
              <a:rPr lang="en-US" dirty="0" err="1"/>
              <a:t>DataFrames</a:t>
            </a:r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91CDC74-A60E-2ABE-857B-29B21C0C236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433126" y="2479302"/>
            <a:ext cx="7325747" cy="33151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5017237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9265B4-F29A-0A92-0633-63656C0F1E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Parquet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772EC9A7-9303-2C96-C482-18BE393C0CC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959310" y="2478792"/>
            <a:ext cx="4429743" cy="335326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FE306D9-5EB4-AA7F-189A-50951D244D7F}"/>
              </a:ext>
            </a:extLst>
          </p:cNvPr>
          <p:cNvSpPr txBox="1"/>
          <p:nvPr/>
        </p:nvSpPr>
        <p:spPr>
          <a:xfrm>
            <a:off x="1163782" y="2660073"/>
            <a:ext cx="4094018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Often first choice for spark workflows</a:t>
            </a:r>
          </a:p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Stores data column by column</a:t>
            </a:r>
          </a:p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Column pruning: spark only reads columns needed for the query</a:t>
            </a:r>
          </a:p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Predicate pushdown: filters can be applied at the file level </a:t>
            </a:r>
          </a:p>
        </p:txBody>
      </p:sp>
    </p:spTree>
    <p:extLst>
      <p:ext uri="{BB962C8B-B14F-4D97-AF65-F5344CB8AC3E}">
        <p14:creationId xmlns:p14="http://schemas.microsoft.com/office/powerpoint/2010/main" val="3579665448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B3A7D2-0521-4905-D2AD-860F7B81C7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Parquet – optimizing filters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CB2D36-766E-346B-2CE0-290AA52B64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4610742" cy="1830395"/>
          </a:xfrm>
        </p:spPr>
        <p:txBody>
          <a:bodyPr/>
          <a:lstStyle/>
          <a:p>
            <a:r>
              <a:rPr lang="en-US" dirty="0"/>
              <a:t>Filters are optimized because we can jump straight to the folder that matches our condition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F98C16C-230A-5607-DA0B-052499FF7B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2163" y="2066196"/>
            <a:ext cx="4610743" cy="442021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3DECD8F-F147-C425-FD71-DA0A459482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32638" y="3922904"/>
            <a:ext cx="1533739" cy="11050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1002720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C3B0C1-0B15-D104-1775-99FCA6F126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CSV, compression, headers, schemas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61AE177D-A389-735B-BBEA-89DAEDEFD56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42602" y="2474619"/>
            <a:ext cx="6925642" cy="341042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DC803B1-BB9A-FFFA-CFFE-E538CB3464A7}"/>
              </a:ext>
            </a:extLst>
          </p:cNvPr>
          <p:cNvSpPr txBox="1"/>
          <p:nvPr/>
        </p:nvSpPr>
        <p:spPr>
          <a:xfrm>
            <a:off x="8208335" y="3025670"/>
            <a:ext cx="3306726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dirty="0"/>
              <a:t>(Header = True) = Skip the first line because there is header information</a:t>
            </a:r>
          </a:p>
          <a:p>
            <a:pPr marL="285750" indent="-285750">
              <a:buFontTx/>
              <a:buChar char="-"/>
            </a:pPr>
            <a:r>
              <a:rPr lang="en-US" dirty="0"/>
              <a:t>(</a:t>
            </a:r>
            <a:r>
              <a:rPr lang="en-US" dirty="0" err="1"/>
              <a:t>inferSchema</a:t>
            </a:r>
            <a:r>
              <a:rPr lang="en-US" dirty="0"/>
              <a:t>=True) = infer the datatypes of each column so they won’t all be strings; </a:t>
            </a:r>
            <a:r>
              <a:rPr lang="en-US" dirty="0">
                <a:solidFill>
                  <a:srgbClr val="92D050"/>
                </a:solidFill>
              </a:rPr>
              <a:t>we should just use a schema object instead</a:t>
            </a:r>
          </a:p>
        </p:txBody>
      </p:sp>
    </p:spTree>
    <p:extLst>
      <p:ext uri="{BB962C8B-B14F-4D97-AF65-F5344CB8AC3E}">
        <p14:creationId xmlns:p14="http://schemas.microsoft.com/office/powerpoint/2010/main" val="3280092111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97061B-074C-2A3E-B028-33A448701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Csv, compression, headers, &amp; Schemas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90888508-568F-E8C9-E030-A51BF06EFA8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146999" y="2307276"/>
            <a:ext cx="5898002" cy="36782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0408576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9F0EB9-4286-1946-ED4E-CAA8EA854B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Json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5DE2317-26B0-83A4-F60C-6CBD2F23813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076418" y="2343710"/>
            <a:ext cx="4039164" cy="3353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0784092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5017B1-3A4C-8AFC-B10B-6079496CB9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ORC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C77810-3BD4-8090-3CED-A76472E557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5029899" cy="3678303"/>
          </a:xfrm>
        </p:spPr>
        <p:txBody>
          <a:bodyPr/>
          <a:lstStyle/>
          <a:p>
            <a:r>
              <a:rPr lang="en-US" dirty="0"/>
              <a:t>Optimized Row Columnar</a:t>
            </a:r>
          </a:p>
          <a:p>
            <a:r>
              <a:rPr lang="en-US" dirty="0"/>
              <a:t>Best in Hive-heavy environments </a:t>
            </a:r>
          </a:p>
          <a:p>
            <a:r>
              <a:rPr lang="en-US" dirty="0"/>
              <a:t>Predicate Pushdown – spark pushes filters down into ORC files, so filtering happens during scans, not after loading data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8A68C4D-A9E7-6FE4-3365-76F660E7CD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0911" y="2366829"/>
            <a:ext cx="3858163" cy="330563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EC71435-25AE-5776-741A-90CB98AA45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59408" y="5001298"/>
            <a:ext cx="3181794" cy="6192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260194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2EC1F5-02D9-986F-6E89-E295C0C5A8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Dataframe</a:t>
            </a:r>
            <a:r>
              <a:rPr lang="en-US" dirty="0"/>
              <a:t> reader options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291F45-BCA8-BB87-FAD2-7C54265A58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 more on syntax permutations, please see ‘DataFrameReaderOptions.md’ in your course materials</a:t>
            </a:r>
          </a:p>
        </p:txBody>
      </p:sp>
    </p:spTree>
    <p:extLst>
      <p:ext uri="{BB962C8B-B14F-4D97-AF65-F5344CB8AC3E}">
        <p14:creationId xmlns:p14="http://schemas.microsoft.com/office/powerpoint/2010/main" val="1272073946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63DA17-4164-2E87-A5C4-5F1F1C1FF5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 what format is used most often?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577980-490E-0DE2-BFA3-013F951CA2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See more here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50802991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336DB5-2077-68CF-F3C0-5277AA9BAF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User-Defined Functions - </a:t>
            </a:r>
            <a:r>
              <a:rPr lang="en-US" dirty="0" err="1"/>
              <a:t>udf</a:t>
            </a:r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F7B1C748-A3C1-EADD-DD7C-EBF25D2A71B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121674" y="2004401"/>
            <a:ext cx="5948651" cy="159091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BBD91E5-27E4-6D33-E498-4372025DED78}"/>
              </a:ext>
            </a:extLst>
          </p:cNvPr>
          <p:cNvSpPr txBox="1"/>
          <p:nvPr/>
        </p:nvSpPr>
        <p:spPr>
          <a:xfrm>
            <a:off x="3325483" y="3595319"/>
            <a:ext cx="57448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It’s recommended to use the decorator pattern with UDFs: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81D3134-85C5-54B8-C48F-4C2701E3B5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37844" y="3964651"/>
            <a:ext cx="4116308" cy="281325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7BA0739-5962-4189-A6A0-77A2B1747DB1}"/>
              </a:ext>
            </a:extLst>
          </p:cNvPr>
          <p:cNvSpPr txBox="1"/>
          <p:nvPr/>
        </p:nvSpPr>
        <p:spPr>
          <a:xfrm>
            <a:off x="9070325" y="4524893"/>
            <a:ext cx="2906522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Note that we need to ‘</a:t>
            </a:r>
            <a:r>
              <a:rPr lang="en-US" sz="1400" dirty="0" err="1"/>
              <a:t>spark.udf.register</a:t>
            </a:r>
            <a:r>
              <a:rPr lang="en-US" sz="1400" dirty="0"/>
              <a:t>’ only for spark </a:t>
            </a:r>
            <a:r>
              <a:rPr lang="en-US" sz="1400" dirty="0" err="1"/>
              <a:t>sql</a:t>
            </a:r>
            <a:r>
              <a:rPr lang="en-US" sz="1400" dirty="0"/>
              <a:t>, if calling the method on a </a:t>
            </a:r>
            <a:r>
              <a:rPr lang="en-US" sz="1400" dirty="0" err="1"/>
              <a:t>dataframe</a:t>
            </a:r>
            <a:r>
              <a:rPr lang="en-US" sz="1400" dirty="0"/>
              <a:t>, we do not</a:t>
            </a:r>
          </a:p>
        </p:txBody>
      </p:sp>
    </p:spTree>
    <p:extLst>
      <p:ext uri="{BB962C8B-B14F-4D97-AF65-F5344CB8AC3E}">
        <p14:creationId xmlns:p14="http://schemas.microsoft.com/office/powerpoint/2010/main" val="3955758231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349A55-C643-C09A-B7DE-37F043E0F7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Cache() - # of people by age example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64F7E0FA-FEA1-6004-49BC-6EC075E802D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00631" y="2754944"/>
            <a:ext cx="7506748" cy="34009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B1A3447-BFB7-6751-9410-BE60074621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76593" y="3276433"/>
            <a:ext cx="3334215" cy="223868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B7237380-276F-8E1B-7E31-395F7474D52A}"/>
              </a:ext>
            </a:extLst>
          </p:cNvPr>
          <p:cNvSpPr txBox="1"/>
          <p:nvPr/>
        </p:nvSpPr>
        <p:spPr>
          <a:xfrm>
            <a:off x="1278333" y="1982420"/>
            <a:ext cx="58466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Note here that we are creating a </a:t>
            </a:r>
            <a:r>
              <a:rPr lang="en-US" dirty="0" err="1"/>
              <a:t>dataframe</a:t>
            </a:r>
            <a:r>
              <a:rPr lang="en-US" dirty="0"/>
              <a:t> from an RDD (there are many other possible ways to create a </a:t>
            </a:r>
            <a:r>
              <a:rPr lang="en-US" dirty="0" err="1"/>
              <a:t>dataframe</a:t>
            </a:r>
            <a:r>
              <a:rPr lang="en-US" dirty="0"/>
              <a:t>):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D2AFFDD-BFC3-4845-40CD-8169553BBF61}"/>
              </a:ext>
            </a:extLst>
          </p:cNvPr>
          <p:cNvSpPr txBox="1"/>
          <p:nvPr/>
        </p:nvSpPr>
        <p:spPr>
          <a:xfrm>
            <a:off x="500631" y="6211669"/>
            <a:ext cx="941878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.cache() </a:t>
            </a:r>
            <a:r>
              <a:rPr lang="en-US" dirty="0">
                <a:sym typeface="Wingdings" panose="05000000000000000000" pitchFamily="2" charset="2"/>
              </a:rPr>
              <a:t> remember spark uses lazy evaluation, and computation only happens when an action occurs. If using multiple actions, caching improves performance by storing the </a:t>
            </a:r>
            <a:r>
              <a:rPr lang="en-US" dirty="0" err="1">
                <a:sym typeface="Wingdings" panose="05000000000000000000" pitchFamily="2" charset="2"/>
              </a:rPr>
              <a:t>dataframe</a:t>
            </a:r>
            <a:r>
              <a:rPr lang="en-US" dirty="0">
                <a:sym typeface="Wingdings" panose="05000000000000000000" pitchFamily="2" charset="2"/>
              </a:rPr>
              <a:t> in memory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05082201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B54985-3BD1-8B2B-460A-614CD67266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Inferring Schema datatypes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7B3B81EC-C4F4-29B9-5709-38411D9FD0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115" y="2903132"/>
            <a:ext cx="5383588" cy="3581406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B2A1C064-D334-44FE-0BD8-C6F4C36950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4816" y="2368120"/>
            <a:ext cx="1971902" cy="1994921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2520F97E-846F-10FA-506B-5A0B2531EDC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79298" y="2724051"/>
            <a:ext cx="1886213" cy="1409897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0910780A-72B0-3CD4-4BDE-FFE2EB7FA95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60100" y="4693835"/>
            <a:ext cx="1147631" cy="1627021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9BE6A112-915F-9109-FA1E-5B4E25BF52B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73262" y="4745947"/>
            <a:ext cx="1744514" cy="1574909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4A67C0A9-5DFF-95E4-98A9-DB6DF00081C0}"/>
              </a:ext>
            </a:extLst>
          </p:cNvPr>
          <p:cNvSpPr txBox="1"/>
          <p:nvPr/>
        </p:nvSpPr>
        <p:spPr>
          <a:xfrm>
            <a:off x="1354897" y="2077720"/>
            <a:ext cx="404530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Without ‘header = true’, spark would name columns like: _c0, _c1, _c2, etc. </a:t>
            </a:r>
          </a:p>
        </p:txBody>
      </p:sp>
    </p:spTree>
    <p:extLst>
      <p:ext uri="{BB962C8B-B14F-4D97-AF65-F5344CB8AC3E}">
        <p14:creationId xmlns:p14="http://schemas.microsoft.com/office/powerpoint/2010/main" val="779499832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124AC2-1E21-16F4-FF37-E12B2F4F41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A001EA-B6D3-E9AC-1F13-BA6847D038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 – Friends by age with </a:t>
            </a:r>
            <a:r>
              <a:rPr lang="en-US" dirty="0" err="1"/>
              <a:t>dataframes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C264E85-FB46-7EAA-0543-F7173B830597}"/>
              </a:ext>
            </a:extLst>
          </p:cNvPr>
          <p:cNvSpPr txBox="1"/>
          <p:nvPr/>
        </p:nvSpPr>
        <p:spPr>
          <a:xfrm>
            <a:off x="979448" y="3105834"/>
            <a:ext cx="5919506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Goal:</a:t>
            </a:r>
          </a:p>
          <a:p>
            <a:r>
              <a:rPr lang="en-US" b="1" dirty="0"/>
              <a:t>Print a </a:t>
            </a:r>
            <a:r>
              <a:rPr lang="en-US" b="1" dirty="0" err="1"/>
              <a:t>dataframe</a:t>
            </a:r>
            <a:r>
              <a:rPr lang="en-US" b="1" dirty="0"/>
              <a:t> of the name and age for each entry</a:t>
            </a:r>
          </a:p>
          <a:p>
            <a:r>
              <a:rPr lang="en-US" b="1" dirty="0"/>
              <a:t>of fakefriends-header.csv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8B158AE-3AF9-5FE1-40F7-51FB13E875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39501" y="2501797"/>
            <a:ext cx="1317861" cy="33281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4666437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7EC5A5-9216-9C26-C31E-5EF52F7494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Solution + Further Examples with AGG()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A46435C-4FBF-9C92-6D46-E91BDA7207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7289" y="2307805"/>
            <a:ext cx="6404801" cy="392474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2ED4C3A-BD12-F8AE-76C2-DD5CAC8AD9EA}"/>
              </a:ext>
            </a:extLst>
          </p:cNvPr>
          <p:cNvSpPr txBox="1"/>
          <p:nvPr/>
        </p:nvSpPr>
        <p:spPr>
          <a:xfrm>
            <a:off x="7272090" y="2670829"/>
            <a:ext cx="4626498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functions contains many spark SQL methods we can use with </a:t>
            </a:r>
            <a:r>
              <a:rPr lang="en-US" dirty="0" err="1"/>
              <a:t>agg</a:t>
            </a:r>
            <a:r>
              <a:rPr lang="en-US" dirty="0"/>
              <a:t>()</a:t>
            </a:r>
          </a:p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Use </a:t>
            </a:r>
            <a:r>
              <a:rPr lang="en-US" dirty="0" err="1"/>
              <a:t>agg</a:t>
            </a:r>
            <a:r>
              <a:rPr lang="en-US" dirty="0"/>
              <a:t>() when we need multiple aggregations in a result set </a:t>
            </a:r>
          </a:p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That is because the following is NOT VALID: </a:t>
            </a:r>
            <a:r>
              <a:rPr lang="en-US" dirty="0" err="1"/>
              <a:t>df.groupBy</a:t>
            </a:r>
            <a:r>
              <a:rPr lang="en-US" dirty="0"/>
              <a:t>(‘age’).avg(‘friends’).sum(‘friends’).show()</a:t>
            </a:r>
          </a:p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43CAEB6-7BD4-AD1D-40E4-375089260E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576" y="5158298"/>
            <a:ext cx="2848373" cy="14480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0267748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AA6410-08E4-FA57-04A7-79862F40A4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Word Count With </a:t>
            </a:r>
            <a:r>
              <a:rPr lang="en-US" dirty="0" err="1"/>
              <a:t>dataframes</a:t>
            </a:r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B0BFAABC-BFC1-1BA9-9F84-52E48037CE1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75374" y="2709625"/>
            <a:ext cx="6544588" cy="275310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B006710-9C66-AAF5-DD12-C0E9DA8570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6978" y="3194269"/>
            <a:ext cx="1686160" cy="15813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3019381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1C00C0-BAF5-9D21-0914-60F749260E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We can use both RDD and </a:t>
            </a:r>
            <a:r>
              <a:rPr lang="en-US" dirty="0" err="1"/>
              <a:t>DataFrames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F2181D-C80B-A29F-D7DE-FE91B0595A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RDDs are still around for a reason</a:t>
            </a:r>
          </a:p>
          <a:p>
            <a:r>
              <a:rPr lang="en-US" dirty="0"/>
              <a:t>As you have seen, we can use both </a:t>
            </a:r>
            <a:r>
              <a:rPr lang="en-US" dirty="0" err="1"/>
              <a:t>DataFrames</a:t>
            </a:r>
            <a:r>
              <a:rPr lang="en-US" dirty="0"/>
              <a:t> and RDDs for solutions</a:t>
            </a:r>
          </a:p>
          <a:p>
            <a:r>
              <a:rPr lang="en-US" dirty="0"/>
              <a:t>Use the tool best suited for the task</a:t>
            </a:r>
          </a:p>
          <a:p>
            <a:pPr lvl="1"/>
            <a:r>
              <a:rPr lang="en-US" dirty="0"/>
              <a:t>SQL style problem? </a:t>
            </a:r>
            <a:r>
              <a:rPr lang="en-US" dirty="0" err="1"/>
              <a:t>DataFrames</a:t>
            </a:r>
            <a:endParaRPr lang="en-US" dirty="0"/>
          </a:p>
          <a:p>
            <a:pPr lvl="1"/>
            <a:r>
              <a:rPr lang="en-US" dirty="0"/>
              <a:t>Map or Reduce type operations? RDD</a:t>
            </a:r>
          </a:p>
          <a:p>
            <a:r>
              <a:rPr lang="en-US" dirty="0"/>
              <a:t>We can convert between the two, as we have seen</a:t>
            </a:r>
          </a:p>
        </p:txBody>
      </p:sp>
    </p:spTree>
    <p:extLst>
      <p:ext uri="{BB962C8B-B14F-4D97-AF65-F5344CB8AC3E}">
        <p14:creationId xmlns:p14="http://schemas.microsoft.com/office/powerpoint/2010/main" val="130508592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D7D3E7-9741-CEF8-099C-8CCC1D2A1C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Min temps with </a:t>
            </a:r>
            <a:r>
              <a:rPr lang="en-US" dirty="0" err="1"/>
              <a:t>dataframes</a:t>
            </a:r>
            <a:r>
              <a:rPr lang="en-US" dirty="0"/>
              <a:t> &amp; Creating Schemas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17B9799-D077-D188-D08D-BCCCF7DEAE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2829" y="2104448"/>
            <a:ext cx="7068536" cy="451548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11295C4-1FF8-EE1F-2DCB-40EE6809BA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4626" y="2577665"/>
            <a:ext cx="2562583" cy="31055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6853803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098FA7-9136-2259-23A8-17E40A036B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E960FB-67D2-73E8-DEA5-91D3838997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 – Add up amount spent by customer Id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7C6EFFC-06CB-03B5-6912-FE6B094F0001}"/>
              </a:ext>
            </a:extLst>
          </p:cNvPr>
          <p:cNvSpPr txBox="1"/>
          <p:nvPr/>
        </p:nvSpPr>
        <p:spPr>
          <a:xfrm>
            <a:off x="1678652" y="2581539"/>
            <a:ext cx="883469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Goal:</a:t>
            </a:r>
          </a:p>
          <a:p>
            <a:r>
              <a:rPr lang="en-US" b="1" dirty="0"/>
              <a:t>Print the id for a customer and the total of all their orders from ‘customer-orders.csv’ in descending order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1C9962A-82E8-0604-4D87-F663D01528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17208" y="4698316"/>
            <a:ext cx="6744641" cy="145752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A47D057-9241-F9E7-E8F2-C5FEF26A7C3D}"/>
              </a:ext>
            </a:extLst>
          </p:cNvPr>
          <p:cNvSpPr txBox="1"/>
          <p:nvPr/>
        </p:nvSpPr>
        <p:spPr>
          <a:xfrm>
            <a:off x="1603331" y="4283901"/>
            <a:ext cx="30101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CustomerId</a:t>
            </a:r>
            <a:r>
              <a:rPr lang="en-US" dirty="0"/>
              <a:t>, </a:t>
            </a:r>
            <a:r>
              <a:rPr lang="en-US" dirty="0" err="1"/>
              <a:t>OrderId</a:t>
            </a:r>
            <a:r>
              <a:rPr lang="en-US" dirty="0"/>
              <a:t>, Amount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278448A-CE08-538E-E166-BA2A3E957178}"/>
              </a:ext>
            </a:extLst>
          </p:cNvPr>
          <p:cNvSpPr txBox="1"/>
          <p:nvPr/>
        </p:nvSpPr>
        <p:spPr>
          <a:xfrm>
            <a:off x="6258838" y="4328984"/>
            <a:ext cx="49594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(yeah this isn’t sorted like it’s asking for in the goal)</a:t>
            </a:r>
          </a:p>
        </p:txBody>
      </p:sp>
    </p:spTree>
    <p:extLst>
      <p:ext uri="{BB962C8B-B14F-4D97-AF65-F5344CB8AC3E}">
        <p14:creationId xmlns:p14="http://schemas.microsoft.com/office/powerpoint/2010/main" val="1623539309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E4F223-F516-7F84-D057-F63498A6C3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Pandas on Spark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0B1CDF-88BC-5450-9651-510127FB0A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Pandas – Python library for data manipulation and analysis</a:t>
            </a:r>
          </a:p>
          <a:p>
            <a:r>
              <a:rPr lang="en-US" dirty="0"/>
              <a:t>Pandas has its own </a:t>
            </a:r>
            <a:r>
              <a:rPr lang="en-US" dirty="0" err="1"/>
              <a:t>DataFrames</a:t>
            </a:r>
            <a:r>
              <a:rPr lang="en-US" dirty="0"/>
              <a:t>, apart from Spark </a:t>
            </a:r>
          </a:p>
          <a:p>
            <a:r>
              <a:rPr lang="en-US" dirty="0"/>
              <a:t>Pandas can do many of the thing's spark can do, many features overlap</a:t>
            </a:r>
          </a:p>
          <a:p>
            <a:r>
              <a:rPr lang="en-US" dirty="0"/>
              <a:t>Pandas will run on the same machine as your driver code, i.e. not scalable</a:t>
            </a:r>
          </a:p>
          <a:p>
            <a:r>
              <a:rPr lang="en-US" dirty="0"/>
              <a:t>We can use Pandas on </a:t>
            </a:r>
            <a:r>
              <a:rPr lang="en-US" dirty="0" err="1"/>
              <a:t>PySpark</a:t>
            </a:r>
            <a:r>
              <a:rPr lang="en-US" dirty="0"/>
              <a:t> to use Panda's syntax in a distributed environment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7930469-5D23-604B-48DD-2F32233E21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81154" y="6590503"/>
            <a:ext cx="4229690" cy="19052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E4ED167-D779-9D94-2871-B5BC400AD899}"/>
              </a:ext>
            </a:extLst>
          </p:cNvPr>
          <p:cNvSpPr txBox="1"/>
          <p:nvPr/>
        </p:nvSpPr>
        <p:spPr>
          <a:xfrm>
            <a:off x="1386056" y="6221171"/>
            <a:ext cx="94198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Note: as of 6/26 I had to downgrade pandas for interoperability with spark 4 (issues with pandas 3)</a:t>
            </a:r>
          </a:p>
        </p:txBody>
      </p:sp>
    </p:spTree>
    <p:extLst>
      <p:ext uri="{BB962C8B-B14F-4D97-AF65-F5344CB8AC3E}">
        <p14:creationId xmlns:p14="http://schemas.microsoft.com/office/powerpoint/2010/main" val="2718963164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969A3A-5A34-BC3B-1119-0FBBCB4850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Examples – provided materials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C503DA1-287A-C2C5-0174-A8D91688EF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3233" y="2844086"/>
            <a:ext cx="4585534" cy="17592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414038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D2FD7A-9D7E-7DD5-A5C2-95EFFD0322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Udf</a:t>
            </a:r>
            <a:r>
              <a:rPr lang="en-US" dirty="0"/>
              <a:t> – user defined functions -- Review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874920-53F8-6448-ABF8-D512D06157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5514808" cy="3678303"/>
          </a:xfrm>
        </p:spPr>
        <p:txBody>
          <a:bodyPr/>
          <a:lstStyle/>
          <a:p>
            <a:r>
              <a:rPr lang="en-US" dirty="0"/>
              <a:t>UDF’s allow custom logic to be applied row by row in Spark SQL/</a:t>
            </a:r>
            <a:r>
              <a:rPr lang="en-US" dirty="0" err="1"/>
              <a:t>DataFrames</a:t>
            </a:r>
            <a:endParaRPr lang="en-US" dirty="0"/>
          </a:p>
          <a:p>
            <a:pPr lvl="1"/>
            <a:r>
              <a:rPr lang="en-US" dirty="0"/>
              <a:t>One row at a time</a:t>
            </a:r>
          </a:p>
          <a:p>
            <a:pPr lvl="1"/>
            <a:r>
              <a:rPr lang="en-US" dirty="0"/>
              <a:t>Each row must be serialized/deserialized </a:t>
            </a:r>
          </a:p>
          <a:p>
            <a:pPr lvl="1"/>
            <a:r>
              <a:rPr lang="en-US" dirty="0"/>
              <a:t>Annotation syntax preferred</a:t>
            </a:r>
          </a:p>
          <a:p>
            <a:pPr lvl="1"/>
            <a:r>
              <a:rPr lang="en-US" dirty="0"/>
              <a:t>Need to register with spark using ‘</a:t>
            </a:r>
            <a:r>
              <a:rPr lang="en-US" dirty="0" err="1"/>
              <a:t>spark.udf.register</a:t>
            </a:r>
            <a:r>
              <a:rPr lang="en-US" dirty="0"/>
              <a:t>()’ only if used in spark </a:t>
            </a:r>
            <a:r>
              <a:rPr lang="en-US" dirty="0" err="1"/>
              <a:t>sql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77A615F-2542-4978-40FD-E79610C3E1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4270" y="2785482"/>
            <a:ext cx="3801005" cy="27150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8579411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AFAC32-F078-285F-AC14-B7EFD4E015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Udtf</a:t>
            </a:r>
            <a:r>
              <a:rPr lang="en-US" dirty="0"/>
              <a:t> – user defined table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56222C-8129-35D5-ADCF-30F2346822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5969920" cy="3678303"/>
          </a:xfrm>
        </p:spPr>
        <p:txBody>
          <a:bodyPr/>
          <a:lstStyle/>
          <a:p>
            <a:r>
              <a:rPr lang="en-US" dirty="0"/>
              <a:t>One input row may return multiple output rows and columns</a:t>
            </a:r>
          </a:p>
          <a:p>
            <a:r>
              <a:rPr lang="en-US" dirty="0"/>
              <a:t>Useful for transforming nested or structured data</a:t>
            </a:r>
          </a:p>
          <a:p>
            <a:pPr lvl="1"/>
            <a:r>
              <a:rPr lang="en-US" dirty="0"/>
              <a:t>Expanding JSON, arrays, hierarchical data</a:t>
            </a:r>
          </a:p>
          <a:p>
            <a:r>
              <a:rPr lang="en-US" dirty="0"/>
              <a:t>More efficient on large tables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64E328F-F4D0-785C-B7AB-A0F817E57D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8930" y="2524584"/>
            <a:ext cx="4706007" cy="33342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9324393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27A874-E00E-9709-ACE4-3A36411EE3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UDF/UDTF examples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3D2718E-541F-B576-85DB-E9C40D8533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920547"/>
            <a:ext cx="3010177" cy="481309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8B97E0B-3E28-30B4-45F6-08D7FBF149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54957" y="2149216"/>
            <a:ext cx="6884663" cy="45411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F996325-A85A-76D6-88E5-1D0C1E61F21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15433" y="2766912"/>
            <a:ext cx="7524641" cy="42300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CF4E2BC7-C266-6B76-E8A9-D9E8C308850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89316" y="3429000"/>
            <a:ext cx="5176874" cy="1975307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EA627FC5-1214-1095-3279-DADC122A853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67889" y="5552375"/>
            <a:ext cx="6258798" cy="11812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3581272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089DEA-0A98-EEC0-F3A4-FD22BF2D72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F800D6-5B23-5868-3E47-7A25A7FBF1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 – Get log information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C69BB2D-3B58-26FC-5E82-916D3B9F8FA5}"/>
              </a:ext>
            </a:extLst>
          </p:cNvPr>
          <p:cNvSpPr txBox="1"/>
          <p:nvPr/>
        </p:nvSpPr>
        <p:spPr>
          <a:xfrm>
            <a:off x="979449" y="3105834"/>
            <a:ext cx="5567656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Goal:</a:t>
            </a:r>
          </a:p>
          <a:p>
            <a:r>
              <a:rPr lang="en-US" b="1" dirty="0"/>
              <a:t>With the provided ‘access_log.txt’ file:</a:t>
            </a:r>
          </a:p>
          <a:p>
            <a:endParaRPr lang="en-US" b="1" dirty="0"/>
          </a:p>
          <a:p>
            <a:r>
              <a:rPr lang="en-US" b="1" dirty="0"/>
              <a:t>List IP addresses + sum of their requests</a:t>
            </a:r>
          </a:p>
          <a:p>
            <a:endParaRPr lang="en-US" b="1" dirty="0"/>
          </a:p>
          <a:p>
            <a:r>
              <a:rPr lang="en-US" b="1" dirty="0"/>
              <a:t>List requested endpoints + count of number of time they have been called</a:t>
            </a:r>
          </a:p>
          <a:p>
            <a:endParaRPr lang="en-US" b="1" dirty="0"/>
          </a:p>
          <a:p>
            <a:r>
              <a:rPr lang="en-US" b="1" dirty="0"/>
              <a:t>List HTTP status codes + count from all requests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0F47992-7FCB-7B16-4B12-53DC22D79A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07424" y="2039851"/>
            <a:ext cx="2406860" cy="212512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CE7783B-8C5E-35D1-DBDA-C8CCE9CBAE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7105" y="2039851"/>
            <a:ext cx="2254394" cy="237914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3737D38-7726-D165-A476-F31540C96CF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52027" y="4620743"/>
            <a:ext cx="1667108" cy="19910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5511011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A1DFE6-EC41-9B83-3B97-EF0C0A8B96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6194F0-9B57-428A-D045-F0E69F8D58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 – Find the most popular movies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5BC2CF7-6DFC-3ACE-4E19-53D74E1E120E}"/>
              </a:ext>
            </a:extLst>
          </p:cNvPr>
          <p:cNvSpPr txBox="1"/>
          <p:nvPr/>
        </p:nvSpPr>
        <p:spPr>
          <a:xfrm>
            <a:off x="1871902" y="2421383"/>
            <a:ext cx="7871943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Goal:</a:t>
            </a:r>
          </a:p>
          <a:p>
            <a:r>
              <a:rPr lang="en-US" b="1" dirty="0"/>
              <a:t>Find the top 10 most popular movies in the ML-100k </a:t>
            </a:r>
            <a:r>
              <a:rPr lang="en-US" b="1" dirty="0" err="1"/>
              <a:t>movielens</a:t>
            </a:r>
            <a:r>
              <a:rPr lang="en-US" b="1" dirty="0"/>
              <a:t> dataset</a:t>
            </a:r>
          </a:p>
          <a:p>
            <a:endParaRPr lang="en-US" b="1" dirty="0"/>
          </a:p>
          <a:p>
            <a:endParaRPr lang="en-US" b="1" dirty="0"/>
          </a:p>
          <a:p>
            <a:r>
              <a:rPr lang="en-US" b="1" dirty="0"/>
              <a:t>Hint:</a:t>
            </a:r>
          </a:p>
          <a:p>
            <a:r>
              <a:rPr lang="en-US" b="1" dirty="0"/>
              <a:t>You will need a schema, and this file uses ‘Tab’ as separators, so we specify that as an option:</a:t>
            </a:r>
          </a:p>
          <a:p>
            <a:endParaRPr lang="en-US" b="1" dirty="0"/>
          </a:p>
          <a:p>
            <a:endParaRPr lang="en-US" b="1" dirty="0"/>
          </a:p>
          <a:p>
            <a:r>
              <a:rPr lang="en-US" b="1" dirty="0"/>
              <a:t>Only return 10 rows: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E13AD36-802D-8A38-85BB-F389A01430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1903" y="4564325"/>
            <a:ext cx="9573961" cy="31436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6FD6F72-A671-1812-6D2E-86993D464D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71902" y="5381971"/>
            <a:ext cx="1971950" cy="3334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5309807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AC16B0-CD13-31C8-FEAC-821027A000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Broadcast Variables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BCB6FD-3981-3303-51F8-FA29661A62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Allows us to broadcast objects to the executors, such that they’re always available</a:t>
            </a:r>
          </a:p>
          <a:p>
            <a:r>
              <a:rPr lang="en-US" dirty="0"/>
              <a:t>Just use </a:t>
            </a:r>
            <a:r>
              <a:rPr lang="en-US" dirty="0" err="1"/>
              <a:t>sc.broadcast</a:t>
            </a:r>
            <a:r>
              <a:rPr lang="en-US" dirty="0"/>
              <a:t>() to ship off whatever you want</a:t>
            </a:r>
          </a:p>
          <a:p>
            <a:r>
              <a:rPr lang="en-US" dirty="0"/>
              <a:t>Then use .value() to get the object back</a:t>
            </a:r>
          </a:p>
          <a:p>
            <a:r>
              <a:rPr lang="en-US" dirty="0"/>
              <a:t>Use the broadcasted object however you want – map functions, UDFs, etc. </a:t>
            </a:r>
          </a:p>
        </p:txBody>
      </p:sp>
    </p:spTree>
    <p:extLst>
      <p:ext uri="{BB962C8B-B14F-4D97-AF65-F5344CB8AC3E}">
        <p14:creationId xmlns:p14="http://schemas.microsoft.com/office/powerpoint/2010/main" val="1961410614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A5672E-9362-A56A-B633-F98F1AE5E0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– Top 10 movies with title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7D2CA0-D080-69E7-F1DF-EB583282A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7"/>
            <a:ext cx="11029615" cy="1520994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Broadcast() – sends a dictionary to all executors</a:t>
            </a:r>
          </a:p>
          <a:p>
            <a:r>
              <a:rPr lang="en-US" dirty="0"/>
              <a:t>.value() – get the dictionary value back</a:t>
            </a:r>
          </a:p>
          <a:p>
            <a:r>
              <a:rPr lang="en-US" dirty="0"/>
              <a:t>See the provided example in our repo: ‘popular-movies-nice-dataframe.py’</a:t>
            </a:r>
          </a:p>
          <a:p>
            <a:r>
              <a:rPr lang="en-US" dirty="0"/>
              <a:t>This example is a bit contrived; we will talk about performance concerns after</a:t>
            </a:r>
          </a:p>
          <a:p>
            <a:r>
              <a:rPr lang="en-US" dirty="0"/>
              <a:t>See ‘popular-movies-nice-dataframe.py’ in course materials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15A9271-AC3C-E61F-ACEC-DC7E98313E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8654" y="4092143"/>
            <a:ext cx="5134692" cy="37152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8D8D659-88B6-3DFE-F918-E4994D40D2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04943" y="5234995"/>
            <a:ext cx="4382112" cy="6858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1910382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25FC87-F51A-4BFD-36B5-228FA5DAD3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– top 10 movies with title (join)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FF6217D-D09E-13F9-09E7-77C0CCFD3F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8618" y="2004449"/>
            <a:ext cx="5852031" cy="466486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A0D3B4F-D995-CB47-5AAF-D9602EE53272}"/>
              </a:ext>
            </a:extLst>
          </p:cNvPr>
          <p:cNvSpPr txBox="1"/>
          <p:nvPr/>
        </p:nvSpPr>
        <p:spPr>
          <a:xfrm>
            <a:off x="8046720" y="3781959"/>
            <a:ext cx="340888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This approach would be preferred with larger datasets</a:t>
            </a:r>
          </a:p>
        </p:txBody>
      </p:sp>
    </p:spTree>
    <p:extLst>
      <p:ext uri="{BB962C8B-B14F-4D97-AF65-F5344CB8AC3E}">
        <p14:creationId xmlns:p14="http://schemas.microsoft.com/office/powerpoint/2010/main" val="1730508388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EF753A-357C-A59D-C304-32C87C3288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Working with a node Dictionary + Graph Adjacency list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CC33A0-B7ED-582E-2E14-0204DB9176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7"/>
            <a:ext cx="11029615" cy="1316170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Data comes in many shapes</a:t>
            </a:r>
          </a:p>
          <a:p>
            <a:r>
              <a:rPr lang="en-US" dirty="0"/>
              <a:t>In our next example with superheroes we will work with 2 files</a:t>
            </a:r>
          </a:p>
          <a:p>
            <a:r>
              <a:rPr lang="en-US" dirty="0"/>
              <a:t>MarvelNames.txt – Id + name of hero </a:t>
            </a:r>
          </a:p>
          <a:p>
            <a:r>
              <a:rPr lang="en-US" dirty="0"/>
              <a:t>MarvelGraph.txt – graph adjacency list; the first value is the hero, and every following value on the same line is a relation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BCB6222-E08B-0D2E-534C-782877FE5F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7005" y="4126736"/>
            <a:ext cx="2324424" cy="202910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4F04A5A-FABD-6EB8-8EDA-8281BE812C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23865" y="4381508"/>
            <a:ext cx="8018615" cy="13161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2617880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309CD0-D065-07CA-DA47-88E6D1FFB4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– Find the most popular superhero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FD8B34AC-21C1-3FE5-CB17-8475E000D8E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302794" y="2146449"/>
            <a:ext cx="7586412" cy="42982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1884196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23E06D-6776-B355-DC74-C7FFF7E21F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4BB9FF-AF06-34D9-A581-F287D37EA1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 – Find the most obscure heroes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64F7240-4396-8A8D-956B-6F3D2C06C964}"/>
              </a:ext>
            </a:extLst>
          </p:cNvPr>
          <p:cNvSpPr txBox="1"/>
          <p:nvPr/>
        </p:nvSpPr>
        <p:spPr>
          <a:xfrm>
            <a:off x="1871902" y="2421383"/>
            <a:ext cx="7871943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Goal:</a:t>
            </a:r>
          </a:p>
          <a:p>
            <a:r>
              <a:rPr lang="en-US" b="1" dirty="0"/>
              <a:t>Find all obscure heroes (there may be ties)</a:t>
            </a:r>
          </a:p>
          <a:p>
            <a:endParaRPr lang="en-US" b="1" dirty="0"/>
          </a:p>
          <a:p>
            <a:endParaRPr lang="en-US" b="1" dirty="0"/>
          </a:p>
          <a:p>
            <a:r>
              <a:rPr lang="en-US" b="1" dirty="0"/>
              <a:t>Hint code snippets:</a:t>
            </a:r>
          </a:p>
          <a:p>
            <a:endParaRPr lang="en-US" b="1" dirty="0"/>
          </a:p>
          <a:p>
            <a:r>
              <a:rPr lang="en-US" b="1" dirty="0" err="1"/>
              <a:t>Dataframename.agg</a:t>
            </a:r>
            <a:r>
              <a:rPr lang="en-US" b="1" dirty="0"/>
              <a:t>(</a:t>
            </a:r>
            <a:r>
              <a:rPr lang="en-US" b="1" dirty="0" err="1"/>
              <a:t>func.min</a:t>
            </a:r>
            <a:r>
              <a:rPr lang="en-US" b="1" dirty="0"/>
              <a:t>(‘</a:t>
            </a:r>
            <a:r>
              <a:rPr lang="en-US" b="1" dirty="0" err="1"/>
              <a:t>columnName</a:t>
            </a:r>
            <a:r>
              <a:rPr lang="en-US" b="1" dirty="0"/>
              <a:t>’).first()[0]</a:t>
            </a:r>
          </a:p>
          <a:p>
            <a:endParaRPr lang="en-US" b="1" dirty="0"/>
          </a:p>
          <a:p>
            <a:r>
              <a:rPr lang="en-US" b="1" dirty="0" err="1"/>
              <a:t>Dataframename.filter</a:t>
            </a:r>
            <a:r>
              <a:rPr lang="en-US" b="1" dirty="0"/>
              <a:t>(</a:t>
            </a:r>
            <a:r>
              <a:rPr lang="en-US" b="1" dirty="0" err="1"/>
              <a:t>func.col</a:t>
            </a:r>
            <a:r>
              <a:rPr lang="en-US" b="1" dirty="0"/>
              <a:t>(‘</a:t>
            </a:r>
            <a:r>
              <a:rPr lang="en-US" b="1" dirty="0" err="1"/>
              <a:t>columnName</a:t>
            </a:r>
            <a:r>
              <a:rPr lang="en-US" b="1" dirty="0"/>
              <a:t>’) == </a:t>
            </a:r>
            <a:r>
              <a:rPr lang="en-US" b="1" dirty="0" err="1"/>
              <a:t>someValue</a:t>
            </a:r>
            <a:r>
              <a:rPr lang="en-US" b="1" dirty="0"/>
              <a:t>)</a:t>
            </a:r>
          </a:p>
          <a:p>
            <a:endParaRPr lang="en-US" b="1" dirty="0"/>
          </a:p>
          <a:p>
            <a:r>
              <a:rPr lang="en-US" b="1" dirty="0" err="1"/>
              <a:t>Dataframename.join</a:t>
            </a:r>
            <a:r>
              <a:rPr lang="en-US" b="1" dirty="0"/>
              <a:t>(</a:t>
            </a:r>
            <a:r>
              <a:rPr lang="en-US" b="1" dirty="0" err="1"/>
              <a:t>otherDataframeWithACommonColumnName</a:t>
            </a:r>
            <a:r>
              <a:rPr lang="en-US" b="1" dirty="0"/>
              <a:t>, ‘</a:t>
            </a:r>
            <a:r>
              <a:rPr lang="en-US" b="1" dirty="0" err="1"/>
              <a:t>commonColumnName</a:t>
            </a:r>
            <a:r>
              <a:rPr lang="en-US" b="1" dirty="0"/>
              <a:t>’)</a:t>
            </a:r>
          </a:p>
        </p:txBody>
      </p:sp>
    </p:spTree>
    <p:extLst>
      <p:ext uri="{BB962C8B-B14F-4D97-AF65-F5344CB8AC3E}">
        <p14:creationId xmlns:p14="http://schemas.microsoft.com/office/powerpoint/2010/main" val="2615523628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15DAD8-C9F2-E72F-5B31-42EE7BB2C4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Breadth-First search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D26868-3B99-3053-63BE-7547209B81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1297" y="2556277"/>
            <a:ext cx="5763240" cy="3678303"/>
          </a:xfrm>
        </p:spPr>
        <p:txBody>
          <a:bodyPr/>
          <a:lstStyle/>
          <a:p>
            <a:r>
              <a:rPr lang="en-US" dirty="0"/>
              <a:t>Good for problems that use a graph of relationships</a:t>
            </a:r>
          </a:p>
          <a:p>
            <a:r>
              <a:rPr lang="en-US" dirty="0"/>
              <a:t>Social networks</a:t>
            </a:r>
          </a:p>
          <a:p>
            <a:r>
              <a:rPr lang="en-US" dirty="0"/>
              <a:t>Degrees of separation problems (our example)</a:t>
            </a:r>
          </a:p>
          <a:p>
            <a:r>
              <a:rPr lang="en-US" dirty="0"/>
              <a:t>Network graphs</a:t>
            </a:r>
          </a:p>
          <a:p>
            <a:r>
              <a:rPr lang="en-US" dirty="0"/>
              <a:t>Recommendation systems</a:t>
            </a:r>
          </a:p>
          <a:p>
            <a:r>
              <a:rPr lang="en-US" dirty="0"/>
              <a:t>Etc.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3DE3711-FBF7-1FB8-4A70-D22B777723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44433" y="3493179"/>
            <a:ext cx="4144022" cy="19047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3738435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EA99E2-DBF2-30DA-F6BA-A39750D536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Implementing BFS in </a:t>
            </a:r>
            <a:r>
              <a:rPr lang="en-US" dirty="0" err="1"/>
              <a:t>Pyspark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459487-2D53-A6BA-FEA3-41ACADD9E2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Represent each line as a node with connections, a color, and a distance</a:t>
            </a:r>
          </a:p>
          <a:p>
            <a:r>
              <a:rPr lang="en-US" dirty="0"/>
              <a:t>For example:</a:t>
            </a:r>
          </a:p>
          <a:p>
            <a:pPr lvl="1"/>
            <a:r>
              <a:rPr lang="en-US" dirty="0"/>
              <a:t>5983 1165 3836 4361 1282</a:t>
            </a:r>
          </a:p>
          <a:p>
            <a:pPr lvl="1"/>
            <a:r>
              <a:rPr lang="en-US" dirty="0"/>
              <a:t>Becomes</a:t>
            </a:r>
          </a:p>
          <a:p>
            <a:pPr lvl="1"/>
            <a:r>
              <a:rPr lang="en-US" dirty="0"/>
              <a:t>(5983, (1165, 3836, 4361, 1282), 9999, WHITE) </a:t>
            </a:r>
          </a:p>
          <a:p>
            <a:pPr lvl="1"/>
            <a:r>
              <a:rPr lang="en-US" dirty="0"/>
              <a:t>Our initial condition is that a node is infinitely distant (9999) and WHITE</a:t>
            </a:r>
          </a:p>
        </p:txBody>
      </p:sp>
    </p:spTree>
    <p:extLst>
      <p:ext uri="{BB962C8B-B14F-4D97-AF65-F5344CB8AC3E}">
        <p14:creationId xmlns:p14="http://schemas.microsoft.com/office/powerpoint/2010/main" val="3020860284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12DDEE-607F-B7C6-07EA-9FD5C6647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Map function to convert graph to </a:t>
            </a:r>
            <a:r>
              <a:rPr lang="en-US" dirty="0" err="1"/>
              <a:t>bfs</a:t>
            </a:r>
            <a:r>
              <a:rPr lang="en-US" dirty="0"/>
              <a:t> nodes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33DD5B79-DEF4-C6B4-867C-9DA5C6B3322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619154" y="2124429"/>
            <a:ext cx="4953691" cy="35723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5064072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F091AB-3E17-AC0C-07AA-2F0DA5A7F7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BFS in action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84F72FF-4BE3-6550-4952-D7C51C02F61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168814" y="2426022"/>
            <a:ext cx="4743821" cy="213032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21C43D9-DF9D-8B7A-D694-1818B0C9BF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9364" y="2458843"/>
            <a:ext cx="4828792" cy="209750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E228B0F-894E-F941-4FC0-01B88AA1295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68814" y="4660716"/>
            <a:ext cx="4743821" cy="209750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E5E5902-56ED-D36E-500C-CE95C373A94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79364" y="4659564"/>
            <a:ext cx="4669365" cy="2097507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509904F9-4458-89AE-0003-EFEC7114D6B6}"/>
              </a:ext>
            </a:extLst>
          </p:cNvPr>
          <p:cNvSpPr txBox="1"/>
          <p:nvPr/>
        </p:nvSpPr>
        <p:spPr>
          <a:xfrm>
            <a:off x="2851971" y="1952324"/>
            <a:ext cx="64880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See ‘degrees-of-separation.py’ in provided materials for full example</a:t>
            </a:r>
          </a:p>
        </p:txBody>
      </p:sp>
      <p:pic>
        <p:nvPicPr>
          <p:cNvPr id="3" name="Content Placeholder 4">
            <a:extLst>
              <a:ext uri="{FF2B5EF4-FFF2-40B4-BE49-F238E27FC236}">
                <a16:creationId xmlns:a16="http://schemas.microsoft.com/office/drawing/2014/main" id="{81FFCE2B-146F-CDDD-05C3-35C80BC6BF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8814" y="2442432"/>
            <a:ext cx="4743821" cy="21303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3303015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3D8542-5DB6-E33F-0071-2813D5777D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Item-Based collaborative filtering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297374-C2DF-71E0-A34D-DB525FCF53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5334745" cy="3678303"/>
          </a:xfrm>
        </p:spPr>
        <p:txBody>
          <a:bodyPr/>
          <a:lstStyle/>
          <a:p>
            <a:r>
              <a:rPr lang="en-US" dirty="0"/>
              <a:t>Simple recommendation pattern; If sally and joe like both star wars movies, then John, only having seen the second one, will probably like the first one too</a:t>
            </a:r>
          </a:p>
          <a:p>
            <a:r>
              <a:rPr lang="en-US" dirty="0"/>
              <a:t>Find every pair of movies that were watched by the same person</a:t>
            </a:r>
          </a:p>
          <a:p>
            <a:r>
              <a:rPr lang="en-US" dirty="0"/>
              <a:t>Measure the similarity of their ratings across all users who watched both</a:t>
            </a:r>
          </a:p>
          <a:p>
            <a:r>
              <a:rPr lang="en-US" dirty="0"/>
              <a:t>Sort by movie, then by similarity strength</a:t>
            </a:r>
          </a:p>
          <a:p>
            <a:r>
              <a:rPr lang="en-US" dirty="0"/>
              <a:t>This is just one design pattern for making recommendations, there are many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9D1D014-05EA-C55E-313C-49E9242176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6063" y="2295571"/>
            <a:ext cx="5334744" cy="3715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5020203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A70807-D1EE-30ED-D4C1-0D0B822F0F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Making it a spark problem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C0FBFF-8428-A5C3-2FED-3C60C1C496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6420" y="2332536"/>
            <a:ext cx="5957804" cy="3678303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Select </a:t>
            </a:r>
            <a:r>
              <a:rPr lang="en-US" dirty="0" err="1"/>
              <a:t>userID</a:t>
            </a:r>
            <a:r>
              <a:rPr lang="en-US" dirty="0"/>
              <a:t>, </a:t>
            </a:r>
            <a:r>
              <a:rPr lang="en-US" dirty="0" err="1"/>
              <a:t>movieID</a:t>
            </a:r>
            <a:r>
              <a:rPr lang="en-US" dirty="0"/>
              <a:t>, and rating columns</a:t>
            </a:r>
          </a:p>
          <a:p>
            <a:r>
              <a:rPr lang="en-US" dirty="0"/>
              <a:t>Find every movie pair rated by the same user</a:t>
            </a:r>
          </a:p>
          <a:p>
            <a:pPr lvl="1"/>
            <a:r>
              <a:rPr lang="en-US" dirty="0"/>
              <a:t>This can be done with a ‘self-join’ operation</a:t>
            </a:r>
          </a:p>
          <a:p>
            <a:pPr lvl="1"/>
            <a:r>
              <a:rPr lang="en-US" dirty="0"/>
              <a:t>At the point we have movie1, movie2, rating1, rating2</a:t>
            </a:r>
          </a:p>
          <a:p>
            <a:pPr lvl="1"/>
            <a:r>
              <a:rPr lang="en-US" dirty="0"/>
              <a:t>Filter out duplicate pairs (movie1, movie2) is same as (movie2, movie1)</a:t>
            </a:r>
          </a:p>
          <a:p>
            <a:r>
              <a:rPr lang="en-US" dirty="0"/>
              <a:t>Compute cosine similarity scores for every pair</a:t>
            </a:r>
          </a:p>
          <a:p>
            <a:pPr lvl="1"/>
            <a:r>
              <a:rPr lang="en-US" dirty="0"/>
              <a:t>Add x^2, y^2, </a:t>
            </a:r>
            <a:r>
              <a:rPr lang="en-US" dirty="0" err="1"/>
              <a:t>xy</a:t>
            </a:r>
            <a:r>
              <a:rPr lang="en-US" dirty="0"/>
              <a:t> columns</a:t>
            </a:r>
          </a:p>
          <a:p>
            <a:pPr lvl="1"/>
            <a:r>
              <a:rPr lang="en-US" dirty="0"/>
              <a:t>Group by (movie1, movie2) pairs</a:t>
            </a:r>
          </a:p>
          <a:p>
            <a:pPr lvl="1"/>
            <a:r>
              <a:rPr lang="en-US" dirty="0"/>
              <a:t>Compute similarity score for each aggregated pair</a:t>
            </a:r>
          </a:p>
          <a:p>
            <a:r>
              <a:rPr lang="en-US" dirty="0"/>
              <a:t>Filter, sort, and display results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A2B99C4-506D-79CC-9A37-2438E41154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64224" y="2229734"/>
            <a:ext cx="5334744" cy="3715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0426926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500E01-C229-DCE8-5FE0-29B7EB1632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Caching datasets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7B78A7-2BF1-E14E-8DAB-0CBA8F26AB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this example, we’ll query the final dataset of movie similarities a couple of times</a:t>
            </a:r>
          </a:p>
          <a:p>
            <a:r>
              <a:rPr lang="en-US" dirty="0"/>
              <a:t>Any time you will perform more than one action on a </a:t>
            </a:r>
            <a:r>
              <a:rPr lang="en-US" dirty="0" err="1"/>
              <a:t>dataframe</a:t>
            </a:r>
            <a:r>
              <a:rPr lang="en-US" dirty="0"/>
              <a:t>, you should cache it!</a:t>
            </a:r>
          </a:p>
          <a:p>
            <a:pPr lvl="1"/>
            <a:r>
              <a:rPr lang="en-US" dirty="0"/>
              <a:t>Otherwise, spark may re-evaluate the entire </a:t>
            </a:r>
            <a:r>
              <a:rPr lang="en-US" dirty="0" err="1"/>
              <a:t>dataframe</a:t>
            </a:r>
            <a:r>
              <a:rPr lang="en-US" dirty="0"/>
              <a:t> all over again</a:t>
            </a:r>
          </a:p>
          <a:p>
            <a:r>
              <a:rPr lang="en-US" dirty="0"/>
              <a:t>Use .cache() or .persist() </a:t>
            </a:r>
          </a:p>
          <a:p>
            <a:pPr lvl="1"/>
            <a:r>
              <a:rPr lang="en-US" dirty="0"/>
              <a:t>What’s the difference?</a:t>
            </a:r>
          </a:p>
          <a:p>
            <a:pPr lvl="1"/>
            <a:r>
              <a:rPr lang="en-US" dirty="0"/>
              <a:t>Persist() lets you cache it to disk instead of just memory, just in case a node fails </a:t>
            </a:r>
          </a:p>
          <a:p>
            <a:pPr lvl="1"/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6EBDF68-1AF2-F88A-E95E-9825320714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4131" y="5584313"/>
            <a:ext cx="3260708" cy="86350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16FE641-20B8-928A-6752-50A54B194E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24485" y="6081676"/>
            <a:ext cx="4198896" cy="54897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E2CFBEE-FA56-0F6E-254C-00908E67EAB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69540" y="5125859"/>
            <a:ext cx="1708786" cy="45845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0FF088C3-47B3-F298-0F31-F9B9C7377050}"/>
              </a:ext>
            </a:extLst>
          </p:cNvPr>
          <p:cNvSpPr txBox="1"/>
          <p:nvPr/>
        </p:nvSpPr>
        <p:spPr>
          <a:xfrm>
            <a:off x="7826603" y="5632624"/>
            <a:ext cx="39466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=</a:t>
            </a:r>
          </a:p>
        </p:txBody>
      </p:sp>
    </p:spTree>
    <p:extLst>
      <p:ext uri="{BB962C8B-B14F-4D97-AF65-F5344CB8AC3E}">
        <p14:creationId xmlns:p14="http://schemas.microsoft.com/office/powerpoint/2010/main" val="556539515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FD209A-F9B4-1093-DE6B-8420F1E02F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– item based collaborative filtering &amp; Caching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3AAF5B-6006-7501-388B-88F8218497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See the ‘movie-similarities-dataframe.py’ script in the course materials</a:t>
            </a:r>
          </a:p>
        </p:txBody>
      </p:sp>
    </p:spTree>
    <p:extLst>
      <p:ext uri="{BB962C8B-B14F-4D97-AF65-F5344CB8AC3E}">
        <p14:creationId xmlns:p14="http://schemas.microsoft.com/office/powerpoint/2010/main" val="3076814092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2AF3A2-8001-4A6D-B314-6B6B124E25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SQL Endpoint for </a:t>
            </a:r>
            <a:r>
              <a:rPr lang="en-US" dirty="0" err="1"/>
              <a:t>jdbc</a:t>
            </a:r>
            <a:r>
              <a:rPr lang="en-US" dirty="0"/>
              <a:t>/</a:t>
            </a:r>
            <a:r>
              <a:rPr lang="en-US" dirty="0" err="1"/>
              <a:t>odbc</a:t>
            </a:r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FB381619-7971-A4A5-9979-545D9FA027B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006355" y="2821832"/>
            <a:ext cx="8179290" cy="333401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9155CA2-09F8-115B-31CE-6A11F856CB26}"/>
              </a:ext>
            </a:extLst>
          </p:cNvPr>
          <p:cNvSpPr txBox="1"/>
          <p:nvPr/>
        </p:nvSpPr>
        <p:spPr>
          <a:xfrm>
            <a:off x="4242287" y="2084228"/>
            <a:ext cx="37074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Intended for BI tools and SQL clients</a:t>
            </a:r>
          </a:p>
        </p:txBody>
      </p:sp>
    </p:spTree>
    <p:extLst>
      <p:ext uri="{BB962C8B-B14F-4D97-AF65-F5344CB8AC3E}">
        <p14:creationId xmlns:p14="http://schemas.microsoft.com/office/powerpoint/2010/main" val="2457399053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C21AFF-5D8E-D6F6-090F-BC392EB912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Spark Connect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2F908B-81CB-5F9B-6C3A-C0FFCBB9F4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5514808" cy="3678303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Client/Server Architecture for Spark</a:t>
            </a:r>
          </a:p>
          <a:p>
            <a:r>
              <a:rPr lang="en-US" dirty="0"/>
              <a:t>Spark Connect API only supports </a:t>
            </a:r>
            <a:r>
              <a:rPr lang="en-US" dirty="0" err="1"/>
              <a:t>DataFrames</a:t>
            </a:r>
            <a:endParaRPr lang="en-US" dirty="0"/>
          </a:p>
          <a:p>
            <a:r>
              <a:rPr lang="en-US" dirty="0"/>
              <a:t>Spark Driver is remote and centralized</a:t>
            </a:r>
          </a:p>
          <a:p>
            <a:r>
              <a:rPr lang="en-US" dirty="0"/>
              <a:t>Clients are then and lightweight</a:t>
            </a:r>
          </a:p>
          <a:p>
            <a:pPr lvl="1"/>
            <a:r>
              <a:rPr lang="en-US" dirty="0"/>
              <a:t>Standalone Python / Go / R scripts</a:t>
            </a:r>
          </a:p>
          <a:p>
            <a:pPr lvl="1"/>
            <a:r>
              <a:rPr lang="en-US" dirty="0"/>
              <a:t>Great for IDE’s and notebooks</a:t>
            </a:r>
          </a:p>
          <a:p>
            <a:pPr lvl="1"/>
            <a:r>
              <a:rPr lang="en-US" dirty="0"/>
              <a:t>Standalone applications </a:t>
            </a:r>
          </a:p>
          <a:p>
            <a:r>
              <a:rPr lang="en-US" dirty="0"/>
              <a:t>Under the hood:</a:t>
            </a:r>
          </a:p>
          <a:p>
            <a:pPr lvl="1"/>
            <a:r>
              <a:rPr lang="en-US" dirty="0"/>
              <a:t>Clients send logical parse plans via </a:t>
            </a:r>
            <a:r>
              <a:rPr lang="en-US" dirty="0" err="1"/>
              <a:t>gRPC</a:t>
            </a:r>
            <a:r>
              <a:rPr lang="en-US" dirty="0"/>
              <a:t> / </a:t>
            </a:r>
            <a:r>
              <a:rPr lang="en-US" dirty="0" err="1"/>
              <a:t>probuf</a:t>
            </a:r>
            <a:endParaRPr lang="en-US" dirty="0"/>
          </a:p>
          <a:p>
            <a:pPr lvl="1"/>
            <a:r>
              <a:rPr lang="en-US" dirty="0"/>
              <a:t>Results streamed from server to clients via </a:t>
            </a:r>
            <a:r>
              <a:rPr lang="en-US" dirty="0" err="1"/>
              <a:t>gRPC</a:t>
            </a:r>
            <a:r>
              <a:rPr lang="en-US" dirty="0"/>
              <a:t> / Apache Arrow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DB1AE36-1197-0EB4-6CA6-F650E90FA9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43483" y="2328723"/>
            <a:ext cx="5191850" cy="33818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0891145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0B3894-CE09-A597-2857-A3E18DA01C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Spark connect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FA8738-2139-3BFB-D0D2-72A2727CC4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Applications are isolated and less likely to bring down your entire Spark server</a:t>
            </a:r>
          </a:p>
          <a:p>
            <a:r>
              <a:rPr lang="en-US" dirty="0"/>
              <a:t>Applications require less memory and start faster</a:t>
            </a:r>
          </a:p>
          <a:p>
            <a:pPr lvl="1"/>
            <a:r>
              <a:rPr lang="en-US" dirty="0"/>
              <a:t>This also speeds up development and prototyping</a:t>
            </a:r>
          </a:p>
          <a:p>
            <a:r>
              <a:rPr lang="en-US" dirty="0"/>
              <a:t>Easier to upgrade Spark versions (just upgrade the server, not the clients / application)</a:t>
            </a:r>
          </a:p>
          <a:p>
            <a:r>
              <a:rPr lang="en-US" dirty="0"/>
              <a:t>Easier to debug applications that aren’t wound into Spark itself</a:t>
            </a:r>
          </a:p>
          <a:p>
            <a:r>
              <a:rPr lang="en-US" dirty="0"/>
              <a:t>Centralizing Spark can save resources</a:t>
            </a:r>
          </a:p>
          <a:p>
            <a:r>
              <a:rPr lang="en-US" dirty="0"/>
              <a:t>Executors are better utilized (as they can run multiple client apps)</a:t>
            </a:r>
          </a:p>
        </p:txBody>
      </p:sp>
    </p:spTree>
    <p:extLst>
      <p:ext uri="{BB962C8B-B14F-4D97-AF65-F5344CB8AC3E}">
        <p14:creationId xmlns:p14="http://schemas.microsoft.com/office/powerpoint/2010/main" val="4201886038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654CFF-6E6B-919E-1C53-95860AF35A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Spark Connect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248191-19CC-F770-127D-46FC14F86A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Install Spark as usual on the server</a:t>
            </a:r>
          </a:p>
          <a:p>
            <a:r>
              <a:rPr lang="en-US" dirty="0"/>
              <a:t>Start it with the sbin/start-connect-server.sh script</a:t>
            </a:r>
          </a:p>
          <a:p>
            <a:pPr lvl="1"/>
            <a:r>
              <a:rPr lang="en-US" dirty="0"/>
              <a:t>start-connect-server.sh –packages org.apache.spark:spark-connect_2.13:4.0.0 (substitute your own spark/scala versions)</a:t>
            </a:r>
          </a:p>
          <a:p>
            <a:r>
              <a:rPr lang="en-US" dirty="0"/>
              <a:t>Python client: install </a:t>
            </a:r>
            <a:r>
              <a:rPr lang="en-US" dirty="0" err="1"/>
              <a:t>pyspark</a:t>
            </a:r>
            <a:r>
              <a:rPr lang="en-US" dirty="0"/>
              <a:t>[connect] package</a:t>
            </a:r>
          </a:p>
          <a:p>
            <a:r>
              <a:rPr lang="en-US" dirty="0"/>
              <a:t>Construct your </a:t>
            </a:r>
            <a:r>
              <a:rPr lang="en-US" dirty="0" err="1"/>
              <a:t>SparkSession</a:t>
            </a:r>
            <a:r>
              <a:rPr lang="en-US" dirty="0"/>
              <a:t> like this:</a:t>
            </a:r>
          </a:p>
          <a:p>
            <a:pPr lvl="1"/>
            <a:r>
              <a:rPr lang="en-US" dirty="0"/>
              <a:t>spark = </a:t>
            </a:r>
            <a:r>
              <a:rPr lang="en-US" dirty="0" err="1"/>
              <a:t>SparkSession.builder.remote</a:t>
            </a:r>
            <a:r>
              <a:rPr lang="en-US" dirty="0"/>
              <a:t>(“</a:t>
            </a:r>
            <a:r>
              <a:rPr lang="en-US" dirty="0" err="1"/>
              <a:t>sc</a:t>
            </a:r>
            <a:r>
              <a:rPr lang="en-US" dirty="0"/>
              <a:t>://hostname.company.com:15002”).</a:t>
            </a:r>
            <a:r>
              <a:rPr lang="en-US" dirty="0" err="1"/>
              <a:t>appName</a:t>
            </a:r>
            <a:r>
              <a:rPr lang="en-US" dirty="0"/>
              <a:t>(“</a:t>
            </a:r>
            <a:r>
              <a:rPr lang="en-US" dirty="0" err="1"/>
              <a:t>MyApp</a:t>
            </a:r>
            <a:r>
              <a:rPr lang="en-US" dirty="0"/>
              <a:t>”).</a:t>
            </a:r>
            <a:r>
              <a:rPr lang="en-US" dirty="0" err="1"/>
              <a:t>getOrCreate</a:t>
            </a:r>
            <a:r>
              <a:rPr lang="en-US" dirty="0"/>
              <a:t>()</a:t>
            </a:r>
          </a:p>
          <a:p>
            <a:r>
              <a:rPr lang="en-US" dirty="0"/>
              <a:t>Can’t use RDD’s or </a:t>
            </a:r>
            <a:r>
              <a:rPr lang="en-US" dirty="0" err="1"/>
              <a:t>SparkContext</a:t>
            </a:r>
            <a:r>
              <a:rPr lang="en-US" dirty="0"/>
              <a:t> APIs </a:t>
            </a:r>
          </a:p>
          <a:p>
            <a:pPr lvl="1"/>
            <a:r>
              <a:rPr lang="en-US" dirty="0"/>
              <a:t>(and some others like </a:t>
            </a:r>
            <a:r>
              <a:rPr lang="en-US" dirty="0" err="1"/>
              <a:t>SessionState</a:t>
            </a:r>
            <a:r>
              <a:rPr lang="en-US" dirty="0"/>
              <a:t>, but the list is always changing)</a:t>
            </a:r>
          </a:p>
        </p:txBody>
      </p:sp>
    </p:spTree>
    <p:extLst>
      <p:ext uri="{BB962C8B-B14F-4D97-AF65-F5344CB8AC3E}">
        <p14:creationId xmlns:p14="http://schemas.microsoft.com/office/powerpoint/2010/main" val="282052209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D5314C-14C0-AB9F-3992-5A5E75D9DA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Amazon EMR – elastic Map Reduce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BE615E-5A02-1804-74B1-26EDBF21C7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4359293"/>
          </a:xfrm>
        </p:spPr>
        <p:txBody>
          <a:bodyPr/>
          <a:lstStyle/>
          <a:p>
            <a:r>
              <a:rPr lang="en-US" dirty="0"/>
              <a:t>Very quick and easy way to rent time on a cluster of your own</a:t>
            </a:r>
          </a:p>
          <a:p>
            <a:r>
              <a:rPr lang="en-US" dirty="0"/>
              <a:t>Sets up a default spark configuration for you on top of Hadoop’s YARN cluster manager</a:t>
            </a:r>
          </a:p>
          <a:p>
            <a:r>
              <a:rPr lang="en-US" dirty="0"/>
              <a:t>Spark also has a built-in standalone cluster manager, and scripts to set up its own EC2 based cluster</a:t>
            </a:r>
          </a:p>
          <a:p>
            <a:pPr lvl="1"/>
            <a:r>
              <a:rPr lang="en-US" dirty="0"/>
              <a:t>The AWS console makes this even easier </a:t>
            </a:r>
          </a:p>
          <a:p>
            <a:r>
              <a:rPr lang="en-US" dirty="0"/>
              <a:t>Spark on EMR isn’t really expensive, but it’s also not cheap</a:t>
            </a:r>
          </a:p>
          <a:p>
            <a:pPr lvl="1"/>
            <a:r>
              <a:rPr lang="en-US" dirty="0"/>
              <a:t>You need to remember to shut down your clusters when done or else…</a:t>
            </a:r>
          </a:p>
          <a:p>
            <a:pPr lvl="1"/>
            <a:r>
              <a:rPr lang="en-US" dirty="0"/>
              <a:t>You may want to make sure things run locally on a subset of the data first</a:t>
            </a:r>
          </a:p>
        </p:txBody>
      </p:sp>
    </p:spTree>
    <p:extLst>
      <p:ext uri="{BB962C8B-B14F-4D97-AF65-F5344CB8AC3E}">
        <p14:creationId xmlns:p14="http://schemas.microsoft.com/office/powerpoint/2010/main" val="3627448091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C66F01-34EB-131B-7B45-6184B141FA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Partitions ON clusters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B484D5-B6EA-B03A-B25C-942C0FFADA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self-join in the movie similarity script is very expensive as-is </a:t>
            </a:r>
          </a:p>
          <a:p>
            <a:pPr lvl="1"/>
            <a:r>
              <a:rPr lang="en-US" dirty="0"/>
              <a:t>If there were more records our local PC may crash and an Amazon EMR would also</a:t>
            </a:r>
          </a:p>
          <a:p>
            <a:pPr lvl="1"/>
            <a:r>
              <a:rPr lang="en-US" dirty="0"/>
              <a:t>We need to use partitions to make our operation more efficient </a:t>
            </a:r>
          </a:p>
          <a:p>
            <a:r>
              <a:rPr lang="en-US" dirty="0"/>
              <a:t>Use </a:t>
            </a:r>
            <a:r>
              <a:rPr lang="en-US" dirty="0" err="1"/>
              <a:t>partitionBy</a:t>
            </a:r>
            <a:r>
              <a:rPr lang="en-US" dirty="0"/>
              <a:t>() on an RDD before running an operation that benefits from partitioning </a:t>
            </a:r>
          </a:p>
          <a:p>
            <a:pPr lvl="1"/>
            <a:r>
              <a:rPr lang="en-US" dirty="0"/>
              <a:t>Join(), cogroup(), </a:t>
            </a:r>
            <a:r>
              <a:rPr lang="en-US" dirty="0" err="1"/>
              <a:t>groupWith</a:t>
            </a:r>
            <a:r>
              <a:rPr lang="en-US" dirty="0"/>
              <a:t>(), </a:t>
            </a:r>
            <a:r>
              <a:rPr lang="en-US" dirty="0" err="1"/>
              <a:t>leftOuterJoin</a:t>
            </a:r>
            <a:r>
              <a:rPr lang="en-US" dirty="0"/>
              <a:t>(), </a:t>
            </a:r>
            <a:r>
              <a:rPr lang="en-US" dirty="0" err="1"/>
              <a:t>rightOuterJoin</a:t>
            </a:r>
            <a:r>
              <a:rPr lang="en-US" dirty="0"/>
              <a:t>(), </a:t>
            </a:r>
            <a:r>
              <a:rPr lang="en-US" dirty="0" err="1"/>
              <a:t>groupByKey</a:t>
            </a:r>
            <a:r>
              <a:rPr lang="en-US" dirty="0"/>
              <a:t>(), </a:t>
            </a:r>
            <a:r>
              <a:rPr lang="en-US" dirty="0" err="1"/>
              <a:t>reduceByKey</a:t>
            </a:r>
            <a:r>
              <a:rPr lang="en-US" dirty="0"/>
              <a:t>(), </a:t>
            </a:r>
            <a:r>
              <a:rPr lang="en-US" dirty="0" err="1"/>
              <a:t>combineByKey</a:t>
            </a:r>
            <a:r>
              <a:rPr lang="en-US" dirty="0"/>
              <a:t>(), and lookup()</a:t>
            </a:r>
          </a:p>
        </p:txBody>
      </p:sp>
    </p:spTree>
    <p:extLst>
      <p:ext uri="{BB962C8B-B14F-4D97-AF65-F5344CB8AC3E}">
        <p14:creationId xmlns:p14="http://schemas.microsoft.com/office/powerpoint/2010/main" val="2279505455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D735B9-6BBB-E23F-0F1F-B2F0ACEE7A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Choosing a partition size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584F02-2CAA-2BD7-055F-31494A3595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Too few partitions won’t take advantage of your cluster</a:t>
            </a:r>
          </a:p>
          <a:p>
            <a:r>
              <a:rPr lang="en-US" dirty="0"/>
              <a:t>Too many results in too much overhead from shuffling data</a:t>
            </a:r>
          </a:p>
          <a:p>
            <a:r>
              <a:rPr lang="en-US" dirty="0"/>
              <a:t>At least as many partitions as you have cores, or executors that fit within your memory</a:t>
            </a:r>
          </a:p>
          <a:p>
            <a:r>
              <a:rPr lang="en-US" dirty="0" err="1"/>
              <a:t>partitionBy</a:t>
            </a:r>
            <a:r>
              <a:rPr lang="en-US" dirty="0"/>
              <a:t>(100) is usually a reasonable place to start for a large operation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1911582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E704BE-3007-835B-DA55-054C4968A5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Specifying Memory per executor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2B5245-FF62-DEB9-F6A6-20098752A4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Just use an empty, default </a:t>
            </a:r>
            <a:r>
              <a:rPr lang="en-US" dirty="0" err="1"/>
              <a:t>SparkConf</a:t>
            </a:r>
            <a:r>
              <a:rPr lang="en-US" dirty="0"/>
              <a:t> in your driver – this way, we’ll use the default EMR sets up instead, as well as any command-line options you pass into spark-submit from your master node</a:t>
            </a:r>
          </a:p>
          <a:p>
            <a:r>
              <a:rPr lang="en-US" dirty="0"/>
              <a:t>For example, the default executor memory budget of 512 mb is sometimes insufficient for processing many records. So instead, we can do:</a:t>
            </a:r>
          </a:p>
          <a:p>
            <a:pPr lvl="1"/>
            <a:r>
              <a:rPr lang="en-US" dirty="0"/>
              <a:t>spark-submit –executor-memory 1g MovieSimilarities1M.py 260 (from the master node of our cluster)</a:t>
            </a:r>
          </a:p>
          <a:p>
            <a:pPr lvl="1"/>
            <a:r>
              <a:rPr lang="en-US" dirty="0"/>
              <a:t>You will get a sense for how much memory you may need, and warnings if memory was insufficient on a job </a:t>
            </a:r>
          </a:p>
        </p:txBody>
      </p:sp>
    </p:spTree>
    <p:extLst>
      <p:ext uri="{BB962C8B-B14F-4D97-AF65-F5344CB8AC3E}">
        <p14:creationId xmlns:p14="http://schemas.microsoft.com/office/powerpoint/2010/main" val="1068929342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18AF47-C96F-F532-59D6-F904DDFF44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Specifying a cluster manager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5D3890-6C9C-0EA3-2857-D770DF2507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Can use –master yarn to run a YARN cluster</a:t>
            </a:r>
          </a:p>
          <a:p>
            <a:r>
              <a:rPr lang="en-US" dirty="0"/>
              <a:t>EMR sets this up by default </a:t>
            </a:r>
          </a:p>
        </p:txBody>
      </p:sp>
    </p:spTree>
    <p:extLst>
      <p:ext uri="{BB962C8B-B14F-4D97-AF65-F5344CB8AC3E}">
        <p14:creationId xmlns:p14="http://schemas.microsoft.com/office/powerpoint/2010/main" val="984826565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4582BC-6879-BF79-3698-CF4E266BA9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Running on a cluster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85958D-C60C-3069-068A-9924BD98CD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1839433"/>
            <a:ext cx="11029615" cy="4869711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Get your scripts &amp; data someplace where EMR can access them easily</a:t>
            </a:r>
          </a:p>
          <a:p>
            <a:pPr lvl="1"/>
            <a:r>
              <a:rPr lang="en-US" dirty="0"/>
              <a:t>AWS’s S3 is a good choice – just use s3n:// URL’s when specifying file paths, and make sure your file permissions make them accessible</a:t>
            </a:r>
          </a:p>
          <a:p>
            <a:pPr lvl="1"/>
            <a:r>
              <a:rPr lang="en-US" dirty="0"/>
              <a:t>We could also use HDFS, but S3 is the standard industry choice</a:t>
            </a:r>
          </a:p>
          <a:p>
            <a:pPr lvl="2"/>
            <a:r>
              <a:rPr lang="en-US" dirty="0"/>
              <a:t>HDFS requires self managed persistent storage and has other drawbacks</a:t>
            </a:r>
          </a:p>
          <a:p>
            <a:pPr lvl="2"/>
            <a:r>
              <a:rPr lang="en-US" dirty="0"/>
              <a:t>Typically, just read/write parquet files to S3, as it is highly efficient </a:t>
            </a:r>
          </a:p>
          <a:p>
            <a:r>
              <a:rPr lang="en-US" dirty="0"/>
              <a:t>Spin up an EMR cluster for Spark using the AWS console</a:t>
            </a:r>
          </a:p>
          <a:p>
            <a:pPr lvl="1"/>
            <a:r>
              <a:rPr lang="en-US" dirty="0"/>
              <a:t>Billing starts now!</a:t>
            </a:r>
          </a:p>
          <a:p>
            <a:r>
              <a:rPr lang="en-US" dirty="0"/>
              <a:t>Get the external DNS name for the master node, and log into it using the “Hadoop” user account and your private .PEM file</a:t>
            </a:r>
          </a:p>
          <a:p>
            <a:r>
              <a:rPr lang="en-US" dirty="0"/>
              <a:t>Copy your driver program and any files it needs</a:t>
            </a:r>
          </a:p>
          <a:p>
            <a:pPr lvl="1"/>
            <a:r>
              <a:rPr lang="en-US" dirty="0"/>
              <a:t>I.e. using </a:t>
            </a:r>
            <a:r>
              <a:rPr lang="en-US" dirty="0" err="1"/>
              <a:t>aws</a:t>
            </a:r>
            <a:r>
              <a:rPr lang="en-US" dirty="0"/>
              <a:t> s3 cp s3://bucket-name/filename ./</a:t>
            </a:r>
          </a:p>
          <a:p>
            <a:r>
              <a:rPr lang="en-US" dirty="0"/>
              <a:t>Run spark-submit and watch the output!</a:t>
            </a:r>
          </a:p>
          <a:p>
            <a:r>
              <a:rPr lang="en-US" sz="2600" b="1" dirty="0">
                <a:solidFill>
                  <a:srgbClr val="FF0000"/>
                </a:solidFill>
              </a:rPr>
              <a:t>REMEMBER TO TERMINATE YOUR CLUSTER WHEN YOU’RE DONE!!! </a:t>
            </a:r>
          </a:p>
        </p:txBody>
      </p:sp>
    </p:spTree>
    <p:extLst>
      <p:ext uri="{BB962C8B-B14F-4D97-AF65-F5344CB8AC3E}">
        <p14:creationId xmlns:p14="http://schemas.microsoft.com/office/powerpoint/2010/main" val="2702095126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F9B910-06FF-1A00-E824-FB521EBC9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AWS - IAM Guidelines &amp; Best Practices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CB858F-EF11-2FE3-DC50-A7A04E241D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Don’t use the root account except for AWS account setup</a:t>
            </a:r>
          </a:p>
          <a:p>
            <a:r>
              <a:rPr lang="en-US" dirty="0"/>
              <a:t>One physical user = One AWS user</a:t>
            </a:r>
          </a:p>
          <a:p>
            <a:r>
              <a:rPr lang="en-US" dirty="0"/>
              <a:t>Assign users to groups and assign permissions to groups</a:t>
            </a:r>
          </a:p>
          <a:p>
            <a:r>
              <a:rPr lang="en-US" dirty="0"/>
              <a:t>Create a strong password policy</a:t>
            </a:r>
          </a:p>
          <a:p>
            <a:r>
              <a:rPr lang="en-US" dirty="0"/>
              <a:t>Use and enforce the use of MFA</a:t>
            </a:r>
          </a:p>
          <a:p>
            <a:r>
              <a:rPr lang="en-US" dirty="0"/>
              <a:t>Create and use roles for giving permissions to AWS services</a:t>
            </a:r>
          </a:p>
          <a:p>
            <a:r>
              <a:rPr lang="en-US" dirty="0"/>
              <a:t>Use access keys for programmatic access (CLI/SDK)</a:t>
            </a:r>
          </a:p>
          <a:p>
            <a:r>
              <a:rPr lang="en-US" dirty="0"/>
              <a:t>Audit permissions of your account using IAM Credentials Report &amp; IAM Last Accessed</a:t>
            </a:r>
          </a:p>
          <a:p>
            <a:r>
              <a:rPr lang="en-US" dirty="0"/>
              <a:t>Never share IAM users &amp; access keys</a:t>
            </a:r>
          </a:p>
        </p:txBody>
      </p:sp>
    </p:spTree>
    <p:extLst>
      <p:ext uri="{BB962C8B-B14F-4D97-AF65-F5344CB8AC3E}">
        <p14:creationId xmlns:p14="http://schemas.microsoft.com/office/powerpoint/2010/main" val="4112115685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FD6CC6-0E99-4379-AC74-9CBDCB08EB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AWS - IAM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695715-63A5-2C21-4CC2-2D6EB1DC46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Users: mapped to a physical user, has a password for AWS console</a:t>
            </a:r>
          </a:p>
          <a:p>
            <a:r>
              <a:rPr lang="en-US" dirty="0"/>
              <a:t>Groups: contains users only</a:t>
            </a:r>
          </a:p>
          <a:p>
            <a:r>
              <a:rPr lang="en-US" dirty="0"/>
              <a:t>Policies: JSON document that outlines permissions for users, groups, and roles</a:t>
            </a:r>
          </a:p>
          <a:p>
            <a:r>
              <a:rPr lang="en-US" dirty="0"/>
              <a:t>Roles: permissions for EC2 instances or other AWS services</a:t>
            </a:r>
          </a:p>
          <a:p>
            <a:r>
              <a:rPr lang="en-US" dirty="0"/>
              <a:t>Security: MFA, Password policies</a:t>
            </a:r>
          </a:p>
          <a:p>
            <a:r>
              <a:rPr lang="en-US" dirty="0"/>
              <a:t>AWS CLI: manage your AWS services via command line</a:t>
            </a:r>
          </a:p>
          <a:p>
            <a:r>
              <a:rPr lang="en-US" dirty="0"/>
              <a:t>AWS SDK: manage your AWS services via a programming language</a:t>
            </a:r>
          </a:p>
          <a:p>
            <a:r>
              <a:rPr lang="en-US" dirty="0"/>
              <a:t>Access Keys: access AWS using the CLI or SDK</a:t>
            </a:r>
          </a:p>
          <a:p>
            <a:r>
              <a:rPr lang="en-US" dirty="0"/>
              <a:t>Audit: IAM Credential Reports &amp; IAM Last Accessed (formerly Access Advisor)</a:t>
            </a:r>
          </a:p>
        </p:txBody>
      </p:sp>
    </p:spTree>
    <p:extLst>
      <p:ext uri="{BB962C8B-B14F-4D97-AF65-F5344CB8AC3E}">
        <p14:creationId xmlns:p14="http://schemas.microsoft.com/office/powerpoint/2010/main" val="670671835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DAFC7F-8DDE-962B-BBB1-5DA733BA4C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AWS - IAM Billing Access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A63A0F-AA33-AB7B-A4C0-0EEAA8F6F1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1495033"/>
          </a:xfrm>
        </p:spPr>
        <p:txBody>
          <a:bodyPr/>
          <a:lstStyle/>
          <a:p>
            <a:r>
              <a:rPr lang="en-US" dirty="0"/>
              <a:t>Click top-right account dropdown while logged in as root user</a:t>
            </a:r>
          </a:p>
          <a:p>
            <a:r>
              <a:rPr lang="en-US" dirty="0"/>
              <a:t>Scroll down to find the following option</a:t>
            </a:r>
          </a:p>
          <a:p>
            <a:r>
              <a:rPr lang="en-US" dirty="0"/>
              <a:t>Click edit to make the change: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79CF38C-C737-E262-885D-F047BC8FDB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2168" y="3675529"/>
            <a:ext cx="4534533" cy="10097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2558086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3F5184-71DF-7A3A-9F0C-E8E17B04B6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Stop here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4942CF-9387-5CC7-CDCE-3088844F22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Create a new </a:t>
            </a:r>
            <a:r>
              <a:rPr lang="en-US" dirty="0" err="1"/>
              <a:t>aws</a:t>
            </a:r>
            <a:r>
              <a:rPr lang="en-US" dirty="0"/>
              <a:t> user with admin permissions</a:t>
            </a:r>
          </a:p>
          <a:p>
            <a:r>
              <a:rPr lang="en-US" dirty="0"/>
              <a:t>Create a zero-sum budget – we will edit later to add an action</a:t>
            </a:r>
          </a:p>
        </p:txBody>
      </p:sp>
    </p:spTree>
    <p:extLst>
      <p:ext uri="{BB962C8B-B14F-4D97-AF65-F5344CB8AC3E}">
        <p14:creationId xmlns:p14="http://schemas.microsoft.com/office/powerpoint/2010/main" val="518991106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29ABDD-7F9E-468A-E587-60676DE4E7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Various ways to access AWS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E17AD6-0AB8-A5CE-2AA7-6D34A44A0B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456" y="1972678"/>
            <a:ext cx="11029615" cy="3678303"/>
          </a:xfrm>
        </p:spPr>
        <p:txBody>
          <a:bodyPr/>
          <a:lstStyle/>
          <a:p>
            <a:r>
              <a:rPr lang="en-US" dirty="0"/>
              <a:t>AWS Management Console – protected by MFA + Password</a:t>
            </a:r>
          </a:p>
          <a:p>
            <a:r>
              <a:rPr lang="en-US" dirty="0"/>
              <a:t>AWS Command Line Interface (CLI) – protected by access keys</a:t>
            </a:r>
          </a:p>
          <a:p>
            <a:r>
              <a:rPr lang="en-US" dirty="0"/>
              <a:t>AWS Software Development Kit (SDK) – for code; protected by access keys</a:t>
            </a:r>
          </a:p>
          <a:p>
            <a:r>
              <a:rPr lang="en-US" dirty="0"/>
              <a:t>Access Keys are generated through the AWS Console</a:t>
            </a:r>
          </a:p>
          <a:p>
            <a:r>
              <a:rPr lang="en-US" dirty="0"/>
              <a:t>Users manage their own access keys</a:t>
            </a:r>
          </a:p>
          <a:p>
            <a:r>
              <a:rPr lang="en-US" dirty="0"/>
              <a:t>Access keys are secret, don’t share them!</a:t>
            </a:r>
          </a:p>
          <a:p>
            <a:pPr lvl="1"/>
            <a:r>
              <a:rPr lang="en-US" dirty="0"/>
              <a:t>Access Key ID ~= username</a:t>
            </a:r>
          </a:p>
          <a:p>
            <a:pPr lvl="1"/>
            <a:r>
              <a:rPr lang="en-US" dirty="0"/>
              <a:t>Secret Access Key ~= password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7E3040D-B103-2692-8611-F433308ECA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61245" y="3894356"/>
            <a:ext cx="6349563" cy="24953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535571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64B08A-7071-7D63-B6A0-A8A814294F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the AWS CLI?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D1BC44-0FE6-CE1A-3DC3-1896568ACF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1727965"/>
            <a:ext cx="11029615" cy="3678303"/>
          </a:xfrm>
        </p:spPr>
        <p:txBody>
          <a:bodyPr/>
          <a:lstStyle/>
          <a:p>
            <a:r>
              <a:rPr lang="en-US" dirty="0"/>
              <a:t>A tool that enables you to interact with AWS services using commands in your command-line shell</a:t>
            </a:r>
          </a:p>
          <a:p>
            <a:r>
              <a:rPr lang="en-US" dirty="0"/>
              <a:t>Direct access to public APIs of AWS services</a:t>
            </a:r>
          </a:p>
          <a:p>
            <a:r>
              <a:rPr lang="en-US" dirty="0"/>
              <a:t>You can develop scripts to manage resources</a:t>
            </a:r>
          </a:p>
          <a:p>
            <a:r>
              <a:rPr lang="en-US" dirty="0"/>
              <a:t>It’s open source: </a:t>
            </a:r>
            <a:r>
              <a:rPr lang="en-US" dirty="0">
                <a:hlinkClick r:id="rId2"/>
              </a:rPr>
              <a:t>http://github.com/aws/aws-cli</a:t>
            </a:r>
            <a:endParaRPr lang="en-US" dirty="0"/>
          </a:p>
          <a:p>
            <a:r>
              <a:rPr lang="en-US" dirty="0"/>
              <a:t>Alternative to using AWS Management Console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E904C7D-B5CA-BF63-70FC-1AD83CAE7B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61837" y="4738206"/>
            <a:ext cx="6268325" cy="1457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6120882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C1744B-46E1-CC87-0C84-4729B0CCB8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Access Keys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870E89-59DC-A646-EF5A-6E6BFE9511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4344099" cy="4209913"/>
          </a:xfrm>
        </p:spPr>
        <p:txBody>
          <a:bodyPr/>
          <a:lstStyle/>
          <a:p>
            <a:r>
              <a:rPr lang="en-US" dirty="0"/>
              <a:t>Navigate to IAM &gt; Users &gt; (user) &gt; Create Access Key</a:t>
            </a:r>
          </a:p>
          <a:p>
            <a:r>
              <a:rPr lang="en-US" dirty="0"/>
              <a:t>Choose CLI</a:t>
            </a:r>
          </a:p>
          <a:p>
            <a:r>
              <a:rPr lang="en-US" dirty="0"/>
              <a:t>Copy details/download csv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0E8C5ED-5BA3-1E73-AA91-01A77BED20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3111" y="2060231"/>
            <a:ext cx="6649211" cy="37558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897087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CE541C-46BC-190F-C55C-9667AE7A89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Setup AWS CLI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59093096-6A8A-3CF4-773A-30DF8785FAF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8727" y="3139701"/>
            <a:ext cx="5353267" cy="171304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37AC5B6-A3DF-23E5-2EFB-1664AC22CD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4770" y="2755254"/>
            <a:ext cx="4759309" cy="2263168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923A185C-5057-4E7F-0054-BC10C1172D10}"/>
              </a:ext>
            </a:extLst>
          </p:cNvPr>
          <p:cNvSpPr txBox="1"/>
          <p:nvPr/>
        </p:nvSpPr>
        <p:spPr>
          <a:xfrm>
            <a:off x="598727" y="1846284"/>
            <a:ext cx="1067146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Download and run the installer (google it)</a:t>
            </a:r>
          </a:p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Run </a:t>
            </a:r>
            <a:r>
              <a:rPr lang="en-US" dirty="0" err="1"/>
              <a:t>aws</a:t>
            </a:r>
            <a:r>
              <a:rPr lang="en-US" dirty="0"/>
              <a:t> configure (output format may be left blank)</a:t>
            </a:r>
          </a:p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Now we can run commands, such as getting a list of our users</a:t>
            </a:r>
          </a:p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 err="1"/>
              <a:t>CloudShell</a:t>
            </a:r>
            <a:r>
              <a:rPr lang="en-US" dirty="0"/>
              <a:t> available for browser-based CLI access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F0F424C-5638-E8D2-ABB4-39763A05702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47098" y="5111510"/>
            <a:ext cx="9697803" cy="16956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5166180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AD6352-264F-4DD9-9A49-3B6E033597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S3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C9C397-4A79-89E5-ACDD-BC51E8183C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1948226"/>
            <a:ext cx="11029615" cy="692195"/>
          </a:xfrm>
        </p:spPr>
        <p:txBody>
          <a:bodyPr/>
          <a:lstStyle/>
          <a:p>
            <a:r>
              <a:rPr lang="en-US" dirty="0"/>
              <a:t>It’s easy to setup cloud storage with the Simple Storage Service (S3)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F3C6BA1-8D79-B3DD-FF6F-CF3B3F9A29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3158" y="2872691"/>
            <a:ext cx="10280073" cy="33276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1355120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9EE7FC-7B59-52F5-41A5-7307307F3F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S3 – uploading files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1DE749-1D22-F0BF-E011-0BCF437375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83625" y="1977514"/>
            <a:ext cx="6852942" cy="895213"/>
          </a:xfrm>
        </p:spPr>
        <p:txBody>
          <a:bodyPr>
            <a:normAutofit/>
          </a:bodyPr>
          <a:lstStyle/>
          <a:p>
            <a:r>
              <a:rPr lang="en-US" dirty="0"/>
              <a:t>We can use either the web UI (upload button) or the AWS CLI</a:t>
            </a:r>
          </a:p>
          <a:p>
            <a:r>
              <a:rPr lang="en-US" dirty="0"/>
              <a:t>Copying over our script and the dataset into S3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C16E16C-1BD8-D801-6937-258335E1C6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8826" y="2948789"/>
            <a:ext cx="10214344" cy="62578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CD25EA6-99BC-B7AC-C451-394F7CED11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04505" y="3726692"/>
            <a:ext cx="9182985" cy="108071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E1178B9C-C7D2-C008-2BF7-4A7A6DEA5A9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46521" y="4959525"/>
            <a:ext cx="5898957" cy="16559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460748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C5269A-5E89-2CC2-F4F7-2C0ED4E767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EC2 Instance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DD5F05-183A-C694-E8C3-12A6DB47E9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https://aws.amazon.com/ec2/instance-types/</a:t>
            </a:r>
            <a:endParaRPr lang="en-US" dirty="0"/>
          </a:p>
          <a:p>
            <a:r>
              <a:rPr lang="en-US" dirty="0"/>
              <a:t>AWS has the following naming convention:</a:t>
            </a:r>
          </a:p>
          <a:p>
            <a:pPr lvl="1"/>
            <a:r>
              <a:rPr lang="en-US" dirty="0"/>
              <a:t>M5.2xlarge</a:t>
            </a:r>
          </a:p>
          <a:p>
            <a:pPr lvl="1"/>
            <a:r>
              <a:rPr lang="en-US" dirty="0"/>
              <a:t>M: instance class</a:t>
            </a:r>
          </a:p>
          <a:p>
            <a:pPr lvl="1"/>
            <a:r>
              <a:rPr lang="en-US" dirty="0"/>
              <a:t>5: generation (AWS improves/updates over time)</a:t>
            </a:r>
          </a:p>
          <a:p>
            <a:pPr lvl="1"/>
            <a:r>
              <a:rPr lang="en-US" dirty="0"/>
              <a:t>2xlarge: size within the instance class</a:t>
            </a:r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CA385D9-2990-4D0D-183A-8D19C92018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75498" y="2673913"/>
            <a:ext cx="5841193" cy="31400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5420877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B197C2-FB8A-C782-B5D9-E68938B32D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EC2 Instance Types – General 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A77D43-BE47-F4AB-DA1F-D3EEBE3E1B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2678583"/>
          </a:xfrm>
        </p:spPr>
        <p:txBody>
          <a:bodyPr/>
          <a:lstStyle/>
          <a:p>
            <a:r>
              <a:rPr lang="en-US" dirty="0"/>
              <a:t>Great for diverse workloads such as web servers or code repos</a:t>
            </a:r>
          </a:p>
          <a:p>
            <a:r>
              <a:rPr lang="en-US" dirty="0"/>
              <a:t>Balance between:</a:t>
            </a:r>
          </a:p>
          <a:p>
            <a:pPr lvl="1"/>
            <a:r>
              <a:rPr lang="en-US" dirty="0"/>
              <a:t>Compute </a:t>
            </a:r>
          </a:p>
          <a:p>
            <a:pPr lvl="1"/>
            <a:r>
              <a:rPr lang="en-US" dirty="0"/>
              <a:t>Memory</a:t>
            </a:r>
          </a:p>
          <a:p>
            <a:pPr lvl="1"/>
            <a:r>
              <a:rPr lang="en-US" dirty="0"/>
              <a:t>Networking</a:t>
            </a:r>
          </a:p>
          <a:p>
            <a:r>
              <a:rPr lang="en-US" dirty="0"/>
              <a:t>In this course we will use t2.micro/t3.micro which is a general purpose EC2 instance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54DD8BD-DECB-0EED-39BC-40305F1C91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8123" y="4761707"/>
            <a:ext cx="9615752" cy="18243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350289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7C3764-BE83-6991-9A85-79DB86352B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EC2 Instance Types – Compute Optimized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784BE4-13ED-E7F6-D595-33CF5334C7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013555"/>
            <a:ext cx="11029615" cy="2830890"/>
          </a:xfrm>
        </p:spPr>
        <p:txBody>
          <a:bodyPr>
            <a:normAutofit/>
          </a:bodyPr>
          <a:lstStyle/>
          <a:p>
            <a:r>
              <a:rPr lang="en-US" dirty="0"/>
              <a:t>Great for compute-intensive tasks that require high performance processors</a:t>
            </a:r>
          </a:p>
          <a:p>
            <a:pPr lvl="1"/>
            <a:r>
              <a:rPr lang="en-US" dirty="0"/>
              <a:t>Batch processing workloads</a:t>
            </a:r>
          </a:p>
          <a:p>
            <a:pPr lvl="1"/>
            <a:r>
              <a:rPr lang="en-US" dirty="0"/>
              <a:t>Media transcoding</a:t>
            </a:r>
          </a:p>
          <a:p>
            <a:pPr lvl="1"/>
            <a:r>
              <a:rPr lang="en-US" dirty="0"/>
              <a:t>High performance web servers</a:t>
            </a:r>
          </a:p>
          <a:p>
            <a:pPr lvl="1"/>
            <a:r>
              <a:rPr lang="en-US" dirty="0"/>
              <a:t>High performance computing</a:t>
            </a:r>
          </a:p>
          <a:p>
            <a:pPr lvl="1"/>
            <a:r>
              <a:rPr lang="en-US" dirty="0"/>
              <a:t>Scientific modeling and machine learning</a:t>
            </a:r>
          </a:p>
          <a:p>
            <a:pPr lvl="1"/>
            <a:r>
              <a:rPr lang="en-US" dirty="0"/>
              <a:t>Dedicated gaming servers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83649D9-73AC-8C21-4CAE-E4E21367FC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4102" y="4928260"/>
            <a:ext cx="6563794" cy="17398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1907118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6803AB-5663-A64B-E10D-80D579CA60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EC2 Instance types – memory optimized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3FFF99-5744-E5CA-81CD-C373191D46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002366"/>
            <a:ext cx="11029615" cy="2771515"/>
          </a:xfrm>
        </p:spPr>
        <p:txBody>
          <a:bodyPr/>
          <a:lstStyle/>
          <a:p>
            <a:r>
              <a:rPr lang="en-US" dirty="0"/>
              <a:t>Fast Performance for workloads that process large data sets in memory</a:t>
            </a:r>
          </a:p>
          <a:p>
            <a:r>
              <a:rPr lang="en-US" dirty="0"/>
              <a:t>Use cases:</a:t>
            </a:r>
          </a:p>
          <a:p>
            <a:pPr lvl="1"/>
            <a:r>
              <a:rPr lang="en-US" dirty="0"/>
              <a:t>High performance, relational/non-relational databases (in memory)</a:t>
            </a:r>
          </a:p>
          <a:p>
            <a:pPr lvl="1"/>
            <a:r>
              <a:rPr lang="en-US" dirty="0"/>
              <a:t>Distributed web scale cache stores</a:t>
            </a:r>
          </a:p>
          <a:p>
            <a:pPr lvl="1"/>
            <a:r>
              <a:rPr lang="en-US" dirty="0"/>
              <a:t>In-memory databases optimized for BI (Business Intelligence)</a:t>
            </a:r>
          </a:p>
          <a:p>
            <a:pPr lvl="1"/>
            <a:r>
              <a:rPr lang="en-US" dirty="0"/>
              <a:t>Applications performing real-time processing of big unstructured data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C1C9E0C-9648-935E-E978-47DB842416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2474" y="4665667"/>
            <a:ext cx="7627050" cy="19808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9018684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6CD364-A19B-EDB9-27F8-52BDB6F51E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EC2 Instance Types – Storage Optimized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AC9289-994D-606C-98E0-9E24B6BBC4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4244055"/>
          </a:xfrm>
        </p:spPr>
        <p:txBody>
          <a:bodyPr>
            <a:normAutofit lnSpcReduction="10000"/>
          </a:bodyPr>
          <a:lstStyle/>
          <a:p>
            <a:r>
              <a:rPr lang="en-US" dirty="0"/>
              <a:t>Great for storage intensive tasks that require high, sequential read and write access to large data sets on local storage</a:t>
            </a:r>
          </a:p>
          <a:p>
            <a:r>
              <a:rPr lang="en-US" dirty="0"/>
              <a:t>Use cases:</a:t>
            </a:r>
          </a:p>
          <a:p>
            <a:pPr lvl="1"/>
            <a:r>
              <a:rPr lang="en-US" dirty="0"/>
              <a:t>High frequency online transactional processing (OLTP) systems</a:t>
            </a:r>
          </a:p>
          <a:p>
            <a:pPr lvl="1"/>
            <a:r>
              <a:rPr lang="en-US" dirty="0" err="1"/>
              <a:t>Relatioinal</a:t>
            </a:r>
            <a:r>
              <a:rPr lang="en-US" dirty="0"/>
              <a:t> &amp; NoSQL databases</a:t>
            </a:r>
          </a:p>
          <a:p>
            <a:pPr lvl="1"/>
            <a:r>
              <a:rPr lang="en-US" dirty="0"/>
              <a:t>Case for in-memory databases (ex: Redis)</a:t>
            </a:r>
          </a:p>
          <a:p>
            <a:pPr lvl="1"/>
            <a:r>
              <a:rPr lang="en-US" dirty="0"/>
              <a:t>Data warehousing applications</a:t>
            </a:r>
          </a:p>
          <a:p>
            <a:pPr lvl="1"/>
            <a:r>
              <a:rPr lang="en-US" dirty="0"/>
              <a:t>Distributed file systems</a:t>
            </a:r>
          </a:p>
          <a:p>
            <a:pPr lvl="1"/>
            <a:endParaRPr lang="en-US" dirty="0"/>
          </a:p>
          <a:p>
            <a:r>
              <a:rPr lang="en-US" dirty="0"/>
              <a:t>There are more types beyond what we have discussed. These are just the most important to know about right now!</a:t>
            </a:r>
          </a:p>
          <a:p>
            <a:r>
              <a:rPr lang="en-US" dirty="0"/>
              <a:t>Here is a resource to help compare specs: https://instances.vantage.sh/</a:t>
            </a:r>
          </a:p>
        </p:txBody>
      </p:sp>
    </p:spTree>
    <p:extLst>
      <p:ext uri="{BB962C8B-B14F-4D97-AF65-F5344CB8AC3E}">
        <p14:creationId xmlns:p14="http://schemas.microsoft.com/office/powerpoint/2010/main" val="4192371459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984968-76F5-E61E-3143-AD18F14503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Aws – Key Pair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1AED3AD-DDEB-1161-EE66-7DB8A5FEC3E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81192" y="2572718"/>
            <a:ext cx="11029950" cy="358312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398534B-384B-B082-D987-F6629CFD583B}"/>
              </a:ext>
            </a:extLst>
          </p:cNvPr>
          <p:cNvSpPr txBox="1"/>
          <p:nvPr/>
        </p:nvSpPr>
        <p:spPr>
          <a:xfrm>
            <a:off x="2919457" y="1821171"/>
            <a:ext cx="635308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The </a:t>
            </a:r>
            <a:r>
              <a:rPr lang="en-US" dirty="0" err="1"/>
              <a:t>pem</a:t>
            </a:r>
            <a:r>
              <a:rPr lang="en-US" dirty="0"/>
              <a:t> file may only be downloaded once, as a security measure</a:t>
            </a:r>
          </a:p>
          <a:p>
            <a:r>
              <a:rPr lang="en-US" dirty="0"/>
              <a:t>This file will let us SSH into an EC2 instance (our master node)</a:t>
            </a:r>
          </a:p>
        </p:txBody>
      </p:sp>
    </p:spTree>
    <p:extLst>
      <p:ext uri="{BB962C8B-B14F-4D97-AF65-F5344CB8AC3E}">
        <p14:creationId xmlns:p14="http://schemas.microsoft.com/office/powerpoint/2010/main" val="1090181903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96CB29-D332-B7FE-B99B-9D350E1DFB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2000" dirty="0"/>
              <a:t>AWS - Creating Roles (we will instead create roles automatically when creating the cluster; this is here for edification) – what is a role???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8D4C2F-0171-65F5-3202-0567E4FA3A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1868769"/>
            <a:ext cx="11029615" cy="803425"/>
          </a:xfrm>
        </p:spPr>
        <p:txBody>
          <a:bodyPr>
            <a:normAutofit fontScale="70000" lnSpcReduction="20000"/>
          </a:bodyPr>
          <a:lstStyle/>
          <a:p>
            <a:r>
              <a:rPr lang="en-US" dirty="0"/>
              <a:t>IAM &gt; Roles &gt; Create Role</a:t>
            </a:r>
          </a:p>
          <a:p>
            <a:r>
              <a:rPr lang="en-US" dirty="0"/>
              <a:t>Add permissions, click next</a:t>
            </a:r>
          </a:p>
          <a:p>
            <a:r>
              <a:rPr lang="en-US" dirty="0"/>
              <a:t>Provide a name, verify details, click ‘create role’ (we will use this role later)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8A7CC5E-39DF-ED06-8783-B050E7E589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246" y="2672195"/>
            <a:ext cx="7066517" cy="383687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54F0620-BF9E-059B-5FCB-4D67A05C07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8913" y="1868768"/>
            <a:ext cx="3008797" cy="217302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A0C4C72-E6A7-BCB6-671C-2E9CFEE2B6D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35510" y="4041788"/>
            <a:ext cx="2555601" cy="25139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5422997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90A205-28D9-3882-CDA1-5023EFE860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EMR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391FF5-0EB0-D662-5BD2-8D43FA25AB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5256082" cy="3678303"/>
          </a:xfrm>
        </p:spPr>
        <p:txBody>
          <a:bodyPr/>
          <a:lstStyle/>
          <a:p>
            <a:r>
              <a:rPr lang="en-US" dirty="0"/>
              <a:t>Just search for EMR </a:t>
            </a:r>
          </a:p>
          <a:p>
            <a:r>
              <a:rPr lang="en-US" dirty="0"/>
              <a:t>Click ‘Create cluster’ </a:t>
            </a:r>
          </a:p>
          <a:p>
            <a:r>
              <a:rPr lang="en-US" dirty="0"/>
              <a:t>AWS has built-in preconfigured settings for Spark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84CF61F-CF02-CC97-28F8-DA60DE7538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2186" y="2313986"/>
            <a:ext cx="4308394" cy="37632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3912368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A9A715-1D43-E357-870B-D2BB231117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Emr</a:t>
            </a:r>
            <a:r>
              <a:rPr lang="en-US" dirty="0"/>
              <a:t> setup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5FADA4-316B-B46A-A1E9-2129B24DE9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3980175" cy="3678303"/>
          </a:xfrm>
        </p:spPr>
        <p:txBody>
          <a:bodyPr/>
          <a:lstStyle/>
          <a:p>
            <a:r>
              <a:rPr lang="en-US" dirty="0"/>
              <a:t>Default settings are mostly fine</a:t>
            </a:r>
          </a:p>
          <a:p>
            <a:r>
              <a:rPr lang="en-US" dirty="0"/>
              <a:t>Set cluster size manually so that we don’t blow up our budget – i.e. only the core + Task 1</a:t>
            </a:r>
          </a:p>
          <a:p>
            <a:r>
              <a:rPr lang="en-US" dirty="0"/>
              <a:t>Choose the EC2 key/pair we created earlier – this is so we can SSH into our master node later</a:t>
            </a:r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449CBC9-BF5A-CFB5-47AE-29C2EE3F97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14513" y="1884498"/>
            <a:ext cx="3293347" cy="254630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6AB9596-D2D5-C903-DB9D-4FDFF56092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4513" y="4601187"/>
            <a:ext cx="3796790" cy="18844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5606555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FF0C00-C0BC-5BA1-B6F5-918FE232AF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Emr</a:t>
            </a:r>
            <a:r>
              <a:rPr lang="en-US" dirty="0"/>
              <a:t> setup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D0BDFF-058D-BCF8-A151-F0C0AF8326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4513322" cy="3678303"/>
          </a:xfrm>
        </p:spPr>
        <p:txBody>
          <a:bodyPr/>
          <a:lstStyle/>
          <a:p>
            <a:r>
              <a:rPr lang="en-US" dirty="0"/>
              <a:t>We need to select or create a new role and EC2 instance profile</a:t>
            </a:r>
          </a:p>
          <a:p>
            <a:r>
              <a:rPr lang="en-US" dirty="0"/>
              <a:t>For now it’s easier to create a new one and select the default options</a:t>
            </a:r>
          </a:p>
          <a:p>
            <a:pPr lvl="1"/>
            <a:r>
              <a:rPr lang="en-US" dirty="0"/>
              <a:t>For EC2 instance profile, we also give read/write access to our S3 bucket  </a:t>
            </a:r>
          </a:p>
          <a:p>
            <a:r>
              <a:rPr lang="en-US" dirty="0"/>
              <a:t>Click ‘Create cluster’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AF06213-0C81-AE73-0D6E-3327EA096B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45776" y="2271694"/>
            <a:ext cx="5916091" cy="172963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5D2C091-56A4-DCF2-98EA-BCD19B5AF5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1403" y="4592046"/>
            <a:ext cx="6464835" cy="13752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6625447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5F7DA4-046E-5033-8D81-AB47DCF813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 To security Groups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34AEB1-E61C-1E4B-176D-8BFFD36085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7"/>
            <a:ext cx="11029615" cy="1013800"/>
          </a:xfrm>
        </p:spPr>
        <p:txBody>
          <a:bodyPr/>
          <a:lstStyle/>
          <a:p>
            <a:r>
              <a:rPr lang="en-US" dirty="0"/>
              <a:t>Security Groups are a fundamental of network security in AWS</a:t>
            </a:r>
          </a:p>
          <a:p>
            <a:r>
              <a:rPr lang="en-US" dirty="0"/>
              <a:t>They control how traffic is allowed into or out of our EC2 instances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8E24E41-63BC-3026-1F89-05FB7EBD8034}"/>
              </a:ext>
            </a:extLst>
          </p:cNvPr>
          <p:cNvSpPr txBox="1">
            <a:spLocks/>
          </p:cNvSpPr>
          <p:nvPr/>
        </p:nvSpPr>
        <p:spPr>
          <a:xfrm>
            <a:off x="581191" y="4991036"/>
            <a:ext cx="11029615" cy="1013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Security groups only contain ‘allow’ rules</a:t>
            </a:r>
          </a:p>
          <a:p>
            <a:r>
              <a:rPr lang="en-US" dirty="0"/>
              <a:t>Security groups rules can reference by IP or by security group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BF654C8-28FE-AC22-7217-9F42A85344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88466" y="3406218"/>
            <a:ext cx="6125430" cy="13622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8959799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E4A66D-95DB-A632-6B93-2D0DD59535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 to Security Groups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D9488F-3FF2-1EAC-CACA-CD35193350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1935948"/>
            <a:ext cx="11029615" cy="2465932"/>
          </a:xfrm>
        </p:spPr>
        <p:txBody>
          <a:bodyPr/>
          <a:lstStyle/>
          <a:p>
            <a:r>
              <a:rPr lang="en-US" dirty="0"/>
              <a:t>Security groups act as a firewall on EC2 instances</a:t>
            </a:r>
          </a:p>
          <a:p>
            <a:r>
              <a:rPr lang="en-US" dirty="0"/>
              <a:t>The regulate:</a:t>
            </a:r>
          </a:p>
          <a:p>
            <a:pPr lvl="1"/>
            <a:r>
              <a:rPr lang="en-US" dirty="0"/>
              <a:t>Access to ports</a:t>
            </a:r>
          </a:p>
          <a:p>
            <a:pPr lvl="1"/>
            <a:r>
              <a:rPr lang="en-US" dirty="0"/>
              <a:t>Authorized IP ranges – IPv4 and IPv6</a:t>
            </a:r>
          </a:p>
          <a:p>
            <a:pPr lvl="1"/>
            <a:r>
              <a:rPr lang="en-US" dirty="0"/>
              <a:t>Control of inbound traffic (from external into the instance)</a:t>
            </a:r>
          </a:p>
          <a:p>
            <a:pPr lvl="1"/>
            <a:r>
              <a:rPr lang="en-US" dirty="0"/>
              <a:t>Control of outbound traffic (from instance to external)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C870D2B-4125-43CB-E760-B17B0210D4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8440" y="4803105"/>
            <a:ext cx="10355120" cy="13527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5985281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44A755-C3C4-ED22-F96E-D58F485B82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Security Groups Diagram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17CE0A1-85D3-E959-FC43-9B535F2326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1414" y="2497733"/>
            <a:ext cx="9469171" cy="36581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2615226"/>
      </p:ext>
    </p:extLst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5DEE9C-92A4-B6B6-C388-83BFE8C03F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Security Groups – Things to keep in mind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D2D26B-073D-8AC2-3D4D-DCA04A2599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Can be attached to multiple instances (and instances can have multiple groups)</a:t>
            </a:r>
          </a:p>
          <a:p>
            <a:r>
              <a:rPr lang="en-US" dirty="0"/>
              <a:t>Locked down to a specific region / VPC combination (more on VPC later)</a:t>
            </a:r>
          </a:p>
          <a:p>
            <a:r>
              <a:rPr lang="en-US" dirty="0"/>
              <a:t>Security groups live outside the EC2 – if traffic is blocked the EC2 will never even see it</a:t>
            </a:r>
          </a:p>
          <a:p>
            <a:r>
              <a:rPr lang="en-US" dirty="0"/>
              <a:t>Tip: it’s good to maintain one separate security group for SSH access</a:t>
            </a:r>
          </a:p>
          <a:p>
            <a:r>
              <a:rPr lang="en-US" dirty="0"/>
              <a:t>If your application is not accessible (time out), then it’s likely a security group issue</a:t>
            </a:r>
          </a:p>
          <a:p>
            <a:r>
              <a:rPr lang="en-US" dirty="0"/>
              <a:t>If your application gives a ‘connection refused’ error, then it’s likely an application error or it’s not launched</a:t>
            </a:r>
          </a:p>
          <a:p>
            <a:r>
              <a:rPr lang="en-US" dirty="0"/>
              <a:t>All inbound traffic is blocked by default</a:t>
            </a:r>
          </a:p>
          <a:p>
            <a:r>
              <a:rPr lang="en-US" dirty="0"/>
              <a:t>All outbound traffic is authorized by default</a:t>
            </a:r>
          </a:p>
        </p:txBody>
      </p:sp>
    </p:spTree>
    <p:extLst>
      <p:ext uri="{BB962C8B-B14F-4D97-AF65-F5344CB8AC3E}">
        <p14:creationId xmlns:p14="http://schemas.microsoft.com/office/powerpoint/2010/main" val="3957327773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08A7E8-840E-D0E0-ED8A-AB5F3DAC4A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Referencing other security groups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8BBF1D-467E-E488-580F-FEF57B5BB4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0" y="1948226"/>
            <a:ext cx="11029615" cy="626499"/>
          </a:xfrm>
        </p:spPr>
        <p:txBody>
          <a:bodyPr/>
          <a:lstStyle/>
          <a:p>
            <a:r>
              <a:rPr lang="en-US" dirty="0"/>
              <a:t>Security groups 1 and 2 are authorized for inbound, group 3 is not!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9F31E2B-0587-EBC9-03F2-E5569D0751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9990" y="2664491"/>
            <a:ext cx="9412013" cy="37724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2210705"/>
      </p:ext>
    </p:extLst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1F8AF6-2D21-06D7-AE00-E22CABEF6B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Standard ports to know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50A7AC-5D7C-62D8-5447-8C2DC2D285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22 = SSH (secure shell) – log into a </a:t>
            </a:r>
            <a:r>
              <a:rPr lang="en-US" dirty="0" err="1"/>
              <a:t>linux</a:t>
            </a:r>
            <a:r>
              <a:rPr lang="en-US" dirty="0"/>
              <a:t> instance</a:t>
            </a:r>
          </a:p>
          <a:p>
            <a:r>
              <a:rPr lang="en-US" dirty="0"/>
              <a:t>21 = FTP (file transfer protocol) – upload files into a file share</a:t>
            </a:r>
          </a:p>
          <a:p>
            <a:r>
              <a:rPr lang="en-US" dirty="0"/>
              <a:t>22 = SFTP (secure shell transfer protocol) – upload files using SSH</a:t>
            </a:r>
          </a:p>
          <a:p>
            <a:r>
              <a:rPr lang="en-US" dirty="0"/>
              <a:t>80 = HTTP – access unsecured websites</a:t>
            </a:r>
          </a:p>
          <a:p>
            <a:r>
              <a:rPr lang="en-US" dirty="0"/>
              <a:t>443 = HTTPS – access secured websites</a:t>
            </a:r>
          </a:p>
          <a:p>
            <a:r>
              <a:rPr lang="en-US" dirty="0"/>
              <a:t>3389 = RDP (remote desktop protocol) – log into a windows instance</a:t>
            </a:r>
          </a:p>
        </p:txBody>
      </p:sp>
    </p:spTree>
    <p:extLst>
      <p:ext uri="{BB962C8B-B14F-4D97-AF65-F5344CB8AC3E}">
        <p14:creationId xmlns:p14="http://schemas.microsoft.com/office/powerpoint/2010/main" val="626947959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CBFA18-4C1A-006A-B188-731ED7D6F1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Manage EC2 Security Groups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61403E-797A-50E1-0ECE-8A3C7B7786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1" y="1978615"/>
            <a:ext cx="11029615" cy="708781"/>
          </a:xfrm>
        </p:spPr>
        <p:txBody>
          <a:bodyPr/>
          <a:lstStyle/>
          <a:p>
            <a:r>
              <a:rPr lang="en-US" dirty="0"/>
              <a:t>EC2 &gt; Network &amp; Security &gt; Security Groups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8DFC3EB-C040-F105-9884-5EE3BBECE9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716" y="2687396"/>
            <a:ext cx="10042566" cy="37628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626488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AC1F49-2E78-6340-D0DC-2077F2698B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Edit the security group on the primary </a:t>
            </a:r>
            <a:r>
              <a:rPr lang="en-US" dirty="0" err="1"/>
              <a:t>emr</a:t>
            </a:r>
            <a:r>
              <a:rPr lang="en-US" dirty="0"/>
              <a:t> node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B3C886-A285-C5A7-B114-74DA9C52FF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1492061"/>
          </a:xfrm>
        </p:spPr>
        <p:txBody>
          <a:bodyPr/>
          <a:lstStyle/>
          <a:p>
            <a:r>
              <a:rPr lang="en-US" dirty="0"/>
              <a:t>On the security group attached to our primary node, we add a new inbound rule</a:t>
            </a:r>
          </a:p>
          <a:p>
            <a:r>
              <a:rPr lang="en-US" dirty="0"/>
              <a:t>Use ‘SSH’ port ‘22’ so we can get SSH access to our primary node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BA40958-5DE1-BC3F-6968-853F3B28C0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459" y="4188185"/>
            <a:ext cx="10565081" cy="17397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7472323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CC3E0C-B95D-D52F-C4A2-57B53D0C48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SSH Options - summary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AD6A83A-B715-101A-FB86-0F6311983F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2547" y="2059522"/>
            <a:ext cx="8106906" cy="40963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763139"/>
      </p:ext>
    </p:extLst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41F873-5214-D97D-8C44-E2A9646BC1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SSH – Windows 10+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A1B9B19-4298-D82A-8C35-0039705E60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314" y="3040167"/>
            <a:ext cx="6644527" cy="284392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876A834-2004-10F2-0835-5D6FE066C3D2}"/>
              </a:ext>
            </a:extLst>
          </p:cNvPr>
          <p:cNvSpPr txBox="1"/>
          <p:nvPr/>
        </p:nvSpPr>
        <p:spPr>
          <a:xfrm>
            <a:off x="1527634" y="1974333"/>
            <a:ext cx="9924768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We should use the ‘</a:t>
            </a:r>
            <a:r>
              <a:rPr lang="en-US" dirty="0" err="1"/>
              <a:t>hadoop</a:t>
            </a:r>
            <a:r>
              <a:rPr lang="en-US" dirty="0"/>
              <a:t>’ user instead of ‘ec2-user’ when connecting to spark primary nodes!</a:t>
            </a:r>
          </a:p>
          <a:p>
            <a:endParaRPr lang="en-US" dirty="0"/>
          </a:p>
          <a:p>
            <a:r>
              <a:rPr lang="en-US" dirty="0"/>
              <a:t>We can get the instance connection information by clicking the ‘primary’ instance ID on the cluster page!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6C5B022-70F1-5DB7-B920-C7AC4C84DB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21381" y="3960338"/>
            <a:ext cx="6090308" cy="28214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5648731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D07D17-9C3D-DE37-9986-39947ADF98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EC2 Instance Connect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60A29B-ACAA-164E-E3B9-BE800F69F4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0" y="2073619"/>
            <a:ext cx="11029615" cy="552071"/>
          </a:xfrm>
        </p:spPr>
        <p:txBody>
          <a:bodyPr/>
          <a:lstStyle/>
          <a:p>
            <a:r>
              <a:rPr lang="en-US" dirty="0"/>
              <a:t>EC2 &gt; Click ‘Connect’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D2A2053-4120-703D-FCEC-768164215A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0648" y="2785729"/>
            <a:ext cx="11650701" cy="38010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9121693"/>
      </p:ext>
    </p:extLst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E38305-D2A6-D801-F5FC-7DA5A01E0D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Putting it all together…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44A88D-614C-00B6-FF75-C928267EA0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693333"/>
          </a:xfrm>
        </p:spPr>
        <p:txBody>
          <a:bodyPr/>
          <a:lstStyle/>
          <a:p>
            <a:r>
              <a:rPr lang="en-US" dirty="0"/>
              <a:t>Log in, submit the job, get results!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1E85D64-E4A6-28F3-F03C-280D336387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6761" y="3112323"/>
            <a:ext cx="11398473" cy="27156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943568D-C4B5-010B-3808-261E90D204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0005" y="3480376"/>
            <a:ext cx="11811990" cy="25944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63AE5DB-A683-97F7-B456-F12465FAB8E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5027" y="3863612"/>
            <a:ext cx="10101943" cy="28084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8777776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4B9829-7C26-88D2-7E8A-E5CA27B3A1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Bucketing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8F5C69-93C2-E242-5B42-FE2004B49F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3212" y="2010375"/>
            <a:ext cx="5514808" cy="3678303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See ‘bucketingExample.py’ in course materials</a:t>
            </a:r>
          </a:p>
          <a:p>
            <a:r>
              <a:rPr lang="en-US" dirty="0"/>
              <a:t>Only works with </a:t>
            </a:r>
            <a:r>
              <a:rPr lang="en-US" dirty="0" err="1"/>
              <a:t>saveAsTable</a:t>
            </a:r>
            <a:r>
              <a:rPr lang="en-US" dirty="0"/>
              <a:t>(), you can NOT use it when savings files directly. i.e. </a:t>
            </a:r>
            <a:r>
              <a:rPr lang="en-US" dirty="0" err="1">
                <a:solidFill>
                  <a:srgbClr val="FF0000"/>
                </a:solidFill>
              </a:rPr>
              <a:t>df.write.bucketBy</a:t>
            </a:r>
            <a:r>
              <a:rPr lang="en-US" dirty="0">
                <a:solidFill>
                  <a:srgbClr val="FF0000"/>
                </a:solidFill>
              </a:rPr>
              <a:t>(4, ‘something’).parquet(‘something’) </a:t>
            </a:r>
            <a:r>
              <a:rPr lang="en-US" dirty="0">
                <a:solidFill>
                  <a:srgbClr val="FF0000"/>
                </a:solidFill>
                <a:sym typeface="Wingdings" panose="05000000000000000000" pitchFamily="2" charset="2"/>
              </a:rPr>
              <a:t> will not work</a:t>
            </a:r>
            <a:endParaRPr lang="en-US" dirty="0">
              <a:solidFill>
                <a:srgbClr val="FF0000"/>
              </a:solidFill>
            </a:endParaRPr>
          </a:p>
          <a:p>
            <a:r>
              <a:rPr lang="en-US" dirty="0"/>
              <a:t>If both tables are bucketed by ‘</a:t>
            </a:r>
            <a:r>
              <a:rPr lang="en-US" dirty="0" err="1"/>
              <a:t>customer_id</a:t>
            </a:r>
            <a:r>
              <a:rPr lang="en-US" dirty="0"/>
              <a:t>’ into 8 buckets, then</a:t>
            </a:r>
          </a:p>
          <a:p>
            <a:pPr lvl="1"/>
            <a:r>
              <a:rPr lang="en-US" dirty="0"/>
              <a:t>Customer 101 always goes to the same bucket for both tables</a:t>
            </a:r>
          </a:p>
          <a:p>
            <a:pPr lvl="1"/>
            <a:r>
              <a:rPr lang="en-US" dirty="0"/>
              <a:t>Customer 102 also goes into the corresponding bucket for both tables</a:t>
            </a:r>
          </a:p>
          <a:p>
            <a:r>
              <a:rPr lang="en-US" dirty="0"/>
              <a:t>When spark performs a join, it can match corresponding buckets directly instead of shuffling all the data across the cluster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3C02F12-93E5-9931-87CC-0BDBBE2D03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6790" y="3429000"/>
            <a:ext cx="4372585" cy="321989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9BB0C0F-528F-A506-788C-0235F9643F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97291" y="1916988"/>
            <a:ext cx="4191585" cy="140037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DB688CE-AA24-911A-39AE-2F108FDB539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41452" y="5827161"/>
            <a:ext cx="3439961" cy="8045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8622129"/>
      </p:ext>
    </p:extLst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522192-2858-62D7-C7BF-0FFEFAB038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Bucketing vs Partitioning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ADFC524E-1D3F-884C-B8CE-6FB90A8F775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00865077"/>
              </p:ext>
            </p:extLst>
          </p:nvPr>
        </p:nvGraphicFramePr>
        <p:xfrm>
          <a:off x="580858" y="4467941"/>
          <a:ext cx="11029950" cy="2194560"/>
        </p:xfrm>
        <a:graphic>
          <a:graphicData uri="http://schemas.openxmlformats.org/drawingml/2006/table">
            <a:tbl>
              <a:tblPr/>
              <a:tblGrid>
                <a:gridCol w="3676650">
                  <a:extLst>
                    <a:ext uri="{9D8B030D-6E8A-4147-A177-3AD203B41FA5}">
                      <a16:colId xmlns:a16="http://schemas.microsoft.com/office/drawing/2014/main" val="1250539990"/>
                    </a:ext>
                  </a:extLst>
                </a:gridCol>
                <a:gridCol w="3676650">
                  <a:extLst>
                    <a:ext uri="{9D8B030D-6E8A-4147-A177-3AD203B41FA5}">
                      <a16:colId xmlns:a16="http://schemas.microsoft.com/office/drawing/2014/main" val="2960554239"/>
                    </a:ext>
                  </a:extLst>
                </a:gridCol>
                <a:gridCol w="3676650">
                  <a:extLst>
                    <a:ext uri="{9D8B030D-6E8A-4147-A177-3AD203B41FA5}">
                      <a16:colId xmlns:a16="http://schemas.microsoft.com/office/drawing/2014/main" val="274274314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dirty="0"/>
                        <a:t>Feature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Partitioning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dirty="0"/>
                        <a:t>Bucketing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2183405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Based 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Column values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Hash of column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3235182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Directory structure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Yes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No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7378989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Number decided by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Distinct values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Fixed number of buckets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6769265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dirty="0">
                          <a:solidFill>
                            <a:srgbClr val="00B050"/>
                          </a:solidFill>
                        </a:rPr>
                        <a:t>Good for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dirty="0">
                          <a:solidFill>
                            <a:srgbClr val="00B050"/>
                          </a:solidFill>
                        </a:rPr>
                        <a:t>Filtering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dirty="0">
                          <a:solidFill>
                            <a:srgbClr val="00B050"/>
                          </a:solidFill>
                        </a:rPr>
                        <a:t>Joins and aggregations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0255733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Handles high-cardinality columns well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No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Yes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84128687"/>
                  </a:ext>
                </a:extLst>
              </a:tr>
            </a:tbl>
          </a:graphicData>
        </a:graphic>
      </p:graphicFrame>
      <p:pic>
        <p:nvPicPr>
          <p:cNvPr id="8" name="Picture 7">
            <a:extLst>
              <a:ext uri="{FF2B5EF4-FFF2-40B4-BE49-F238E27FC236}">
                <a16:creationId xmlns:a16="http://schemas.microsoft.com/office/drawing/2014/main" id="{AEFC8EEA-35CC-103D-F304-34B6E1FBA4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83768" y="2515384"/>
            <a:ext cx="3267531" cy="26673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29944D4-DC81-EFE9-E9EB-80B27E4AA3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4042" y="3349234"/>
            <a:ext cx="1371791" cy="83831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4F26FBEC-FDE7-130B-9410-4C66ACF86E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95457" y="3314814"/>
            <a:ext cx="666843" cy="75258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4309D28-13F6-A09A-7E63-84197A55A8C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43354" y="1990199"/>
            <a:ext cx="2971047" cy="10503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4372583"/>
      </p:ext>
    </p:extLst>
  </p:cSld>
  <p:clrMapOvr>
    <a:masterClrMapping/>
  </p:clrMapOvr>
</p:sld>
</file>

<file path=ppt/theme/theme1.xml><?xml version="1.0" encoding="utf-8"?>
<a:theme xmlns:a="http://schemas.openxmlformats.org/drawingml/2006/main" name="Dividend">
  <a:themeElements>
    <a:clrScheme name="Dividend">
      <a:dk1>
        <a:sysClr val="windowText" lastClr="000000"/>
      </a:dk1>
      <a:lt1>
        <a:sysClr val="window" lastClr="FFFFFF"/>
      </a:lt1>
      <a:dk2>
        <a:srgbClr val="3D3D3D"/>
      </a:dk2>
      <a:lt2>
        <a:srgbClr val="EBEBEB"/>
      </a:lt2>
      <a:accent1>
        <a:srgbClr val="366658"/>
      </a:accent1>
      <a:accent2>
        <a:srgbClr val="8CB64A"/>
      </a:accent2>
      <a:accent3>
        <a:srgbClr val="88D5A9"/>
      </a:accent3>
      <a:accent4>
        <a:srgbClr val="969FA7"/>
      </a:accent4>
      <a:accent5>
        <a:srgbClr val="E8A844"/>
      </a:accent5>
      <a:accent6>
        <a:srgbClr val="A1561F"/>
      </a:accent6>
      <a:hlink>
        <a:srgbClr val="828282"/>
      </a:hlink>
      <a:folHlink>
        <a:srgbClr val="A5A5A5"/>
      </a:folHlink>
    </a:clrScheme>
    <a:fontScheme name="Dividend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" id="{9697A71B-4AB7-4A1A-BD5B-BB2D22835B57}" vid="{4BEC0EAF-CF86-4D49-B83B-56CC62D3CFF1}"/>
    </a:ext>
  </a:extLst>
</a:theme>
</file>

<file path=docMetadata/LabelInfo.xml><?xml version="1.0" encoding="utf-8"?>
<clbl:labelList xmlns:clbl="http://schemas.microsoft.com/office/2020/mipLabelMetadata">
  <clbl:label id="{6b63e28a-a8f9-47b5-aa40-97e231215164}" enabled="0" method="" siteId="{6b63e28a-a8f9-47b5-aa40-97e231215164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29433</TotalTime>
  <Words>6468</Words>
  <Application>Microsoft Office PowerPoint</Application>
  <PresentationFormat>Widescreen</PresentationFormat>
  <Paragraphs>750</Paragraphs>
  <Slides>136</Slides>
  <Notes>0</Notes>
  <HiddenSlides>1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136</vt:i4>
      </vt:variant>
    </vt:vector>
  </HeadingPairs>
  <TitlesOfParts>
    <vt:vector size="142" baseType="lpstr">
      <vt:lpstr>Arial</vt:lpstr>
      <vt:lpstr>Courier New</vt:lpstr>
      <vt:lpstr>Gill Sans MT</vt:lpstr>
      <vt:lpstr>Wingdings</vt:lpstr>
      <vt:lpstr>Wingdings 2</vt:lpstr>
      <vt:lpstr>Dividend</vt:lpstr>
      <vt:lpstr>pySpark</vt:lpstr>
      <vt:lpstr>Curriculum</vt:lpstr>
      <vt:lpstr>SPARK vs PySpark</vt:lpstr>
      <vt:lpstr>Spark vs PySpark</vt:lpstr>
      <vt:lpstr>Apache Hadoop</vt:lpstr>
      <vt:lpstr>PySpark Setup</vt:lpstr>
      <vt:lpstr>Other Apt Commands</vt:lpstr>
      <vt:lpstr>PySpark Setup</vt:lpstr>
      <vt:lpstr>PySpark Setup</vt:lpstr>
      <vt:lpstr>VSCODE – Recommended Extensions</vt:lpstr>
      <vt:lpstr>PySpark Example</vt:lpstr>
      <vt:lpstr>Spark 3.5 features</vt:lpstr>
      <vt:lpstr>SPARK 4 features – Ansi mode by default</vt:lpstr>
      <vt:lpstr>SPARK 4 features – Variant data type</vt:lpstr>
      <vt:lpstr>SPARK 4 features – Collation support</vt:lpstr>
      <vt:lpstr>SPARK 4 features – Data Source API’s</vt:lpstr>
      <vt:lpstr>Spark Architecture</vt:lpstr>
      <vt:lpstr>Components of Spark</vt:lpstr>
      <vt:lpstr>Components of Pyspark</vt:lpstr>
      <vt:lpstr>RDD – The Resilient Distributed Dataset</vt:lpstr>
      <vt:lpstr>The Sparkcontext</vt:lpstr>
      <vt:lpstr>Creating Rdd’s</vt:lpstr>
      <vt:lpstr>Transforming RDD’s</vt:lpstr>
      <vt:lpstr>Python Lambdas</vt:lpstr>
      <vt:lpstr>Actions on Rdd’s</vt:lpstr>
      <vt:lpstr>Sample Breakdown</vt:lpstr>
      <vt:lpstr>Sample Breakdown</vt:lpstr>
      <vt:lpstr>Sample Breakdown</vt:lpstr>
      <vt:lpstr>Spark-submit</vt:lpstr>
      <vt:lpstr>Key / Value RDD</vt:lpstr>
      <vt:lpstr>SQL-style Joins on 2 key/value RDD’s</vt:lpstr>
      <vt:lpstr>RDD Best Practices</vt:lpstr>
      <vt:lpstr>PrettyTable</vt:lpstr>
      <vt:lpstr>Friends by Age Example</vt:lpstr>
      <vt:lpstr>Friends by age Example</vt:lpstr>
      <vt:lpstr>Filter() – 1800s weatherstation data</vt:lpstr>
      <vt:lpstr>Measure Minimum Temps</vt:lpstr>
      <vt:lpstr>Challenge – Find Maximum temps</vt:lpstr>
      <vt:lpstr>Map vs Flatmap</vt:lpstr>
      <vt:lpstr>Word Count Example</vt:lpstr>
      <vt:lpstr>Text Normalization</vt:lpstr>
      <vt:lpstr>Improved Word Count Example</vt:lpstr>
      <vt:lpstr>Sort Word Count Example</vt:lpstr>
      <vt:lpstr>Sort Word Count Example</vt:lpstr>
      <vt:lpstr>Challenge – Customer totals sorted</vt:lpstr>
      <vt:lpstr>Shuffling</vt:lpstr>
      <vt:lpstr>Shuffling</vt:lpstr>
      <vt:lpstr>Narrow vs wide transformations</vt:lpstr>
      <vt:lpstr>Repartition vs coalesce</vt:lpstr>
      <vt:lpstr>Spark SQL</vt:lpstr>
      <vt:lpstr>Using Spark SQL in Python</vt:lpstr>
      <vt:lpstr>Other stuff you can do with dataframes</vt:lpstr>
      <vt:lpstr>DataFrames vs Datasets</vt:lpstr>
      <vt:lpstr>I/o – RDDs &amp; DataFrames</vt:lpstr>
      <vt:lpstr>Parquet</vt:lpstr>
      <vt:lpstr>Parquet – optimizing filters</vt:lpstr>
      <vt:lpstr>CSV, compression, headers, schemas</vt:lpstr>
      <vt:lpstr>Csv, compression, headers, &amp; Schemas</vt:lpstr>
      <vt:lpstr>Json</vt:lpstr>
      <vt:lpstr>ORC</vt:lpstr>
      <vt:lpstr>Dataframe reader options</vt:lpstr>
      <vt:lpstr>So what format is used most often?</vt:lpstr>
      <vt:lpstr>User-Defined Functions - udf</vt:lpstr>
      <vt:lpstr>Cache() - # of people by age example</vt:lpstr>
      <vt:lpstr>Inferring Schema datatypes</vt:lpstr>
      <vt:lpstr>Challenge – Friends by age with dataframes</vt:lpstr>
      <vt:lpstr>Solution + Further Examples with AGG()</vt:lpstr>
      <vt:lpstr>Word Count With dataframes</vt:lpstr>
      <vt:lpstr>We can use both RDD and DataFrames</vt:lpstr>
      <vt:lpstr>Min temps with dataframes &amp; Creating Schemas</vt:lpstr>
      <vt:lpstr>Challenge – Add up amount spent by customer Id</vt:lpstr>
      <vt:lpstr>Pandas on Spark</vt:lpstr>
      <vt:lpstr>Examples – provided materials</vt:lpstr>
      <vt:lpstr>Udf – user defined functions -- Review</vt:lpstr>
      <vt:lpstr>Udtf – user defined table functions</vt:lpstr>
      <vt:lpstr>UDF/UDTF examples</vt:lpstr>
      <vt:lpstr>Challenge – Get log information</vt:lpstr>
      <vt:lpstr>Challenge – Find the most popular movies</vt:lpstr>
      <vt:lpstr>Broadcast Variables</vt:lpstr>
      <vt:lpstr>Example – Top 10 movies with title</vt:lpstr>
      <vt:lpstr>Example – top 10 movies with title (join)</vt:lpstr>
      <vt:lpstr>Working with a node Dictionary + Graph Adjacency list</vt:lpstr>
      <vt:lpstr>Example – Find the most popular superhero</vt:lpstr>
      <vt:lpstr>Challenge – Find the most obscure heroes</vt:lpstr>
      <vt:lpstr>Breadth-First search</vt:lpstr>
      <vt:lpstr>Implementing BFS in Pyspark</vt:lpstr>
      <vt:lpstr>Map function to convert graph to bfs nodes</vt:lpstr>
      <vt:lpstr>BFS in action</vt:lpstr>
      <vt:lpstr>Item-Based collaborative filtering</vt:lpstr>
      <vt:lpstr>Making it a spark problem</vt:lpstr>
      <vt:lpstr>Caching datasets</vt:lpstr>
      <vt:lpstr>Example – item based collaborative filtering &amp; Caching</vt:lpstr>
      <vt:lpstr>SQL Endpoint for jdbc/odbc</vt:lpstr>
      <vt:lpstr>Spark Connect</vt:lpstr>
      <vt:lpstr>Why Spark connect</vt:lpstr>
      <vt:lpstr>Using Spark Connect</vt:lpstr>
      <vt:lpstr>Amazon EMR – elastic Map Reduce</vt:lpstr>
      <vt:lpstr>Partitions ON clusters</vt:lpstr>
      <vt:lpstr>Choosing a partition size</vt:lpstr>
      <vt:lpstr>Specifying Memory per executor</vt:lpstr>
      <vt:lpstr>Specifying a cluster manager</vt:lpstr>
      <vt:lpstr>Running on a cluster</vt:lpstr>
      <vt:lpstr>AWS - IAM Guidelines &amp; Best Practices</vt:lpstr>
      <vt:lpstr>AWS - IAM Summary</vt:lpstr>
      <vt:lpstr>AWS - IAM Billing Access</vt:lpstr>
      <vt:lpstr>Stop here</vt:lpstr>
      <vt:lpstr>Various ways to access AWS</vt:lpstr>
      <vt:lpstr>What is the AWS CLI?</vt:lpstr>
      <vt:lpstr>Create Access Keys</vt:lpstr>
      <vt:lpstr>Setup AWS CLI</vt:lpstr>
      <vt:lpstr>S3</vt:lpstr>
      <vt:lpstr>S3 – uploading files</vt:lpstr>
      <vt:lpstr>EC2 Instance Types</vt:lpstr>
      <vt:lpstr>EC2 Instance Types – General Purpose</vt:lpstr>
      <vt:lpstr>EC2 Instance Types – Compute Optimized</vt:lpstr>
      <vt:lpstr>EC2 Instance types – memory optimized</vt:lpstr>
      <vt:lpstr>EC2 Instance Types – Storage Optimized</vt:lpstr>
      <vt:lpstr>Aws – Key Pair</vt:lpstr>
      <vt:lpstr>AWS - Creating Roles (we will instead create roles automatically when creating the cluster; this is here for edification) – what is a role???</vt:lpstr>
      <vt:lpstr>EMR</vt:lpstr>
      <vt:lpstr>Emr setup</vt:lpstr>
      <vt:lpstr>Emr setup</vt:lpstr>
      <vt:lpstr>Intro To security Groups</vt:lpstr>
      <vt:lpstr>Intro to Security Groups</vt:lpstr>
      <vt:lpstr>Security Groups Diagram</vt:lpstr>
      <vt:lpstr>Security Groups – Things to keep in mind</vt:lpstr>
      <vt:lpstr>Referencing other security groups</vt:lpstr>
      <vt:lpstr>Standard ports to know</vt:lpstr>
      <vt:lpstr>Manage EC2 Security Groups</vt:lpstr>
      <vt:lpstr>Edit the security group on the primary emr node</vt:lpstr>
      <vt:lpstr>SSH Options - summary</vt:lpstr>
      <vt:lpstr>SSH – Windows 10+</vt:lpstr>
      <vt:lpstr>EC2 Instance Connect</vt:lpstr>
      <vt:lpstr>Putting it all together…</vt:lpstr>
      <vt:lpstr>Bucketing</vt:lpstr>
      <vt:lpstr>Bucketing vs Partitioning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Ethan Wilson</dc:creator>
  <cp:lastModifiedBy>Ethan Wilson</cp:lastModifiedBy>
  <cp:revision>649</cp:revision>
  <dcterms:created xsi:type="dcterms:W3CDTF">2025-02-12T19:53:45Z</dcterms:created>
  <dcterms:modified xsi:type="dcterms:W3CDTF">2026-07-19T15:55:26Z</dcterms:modified>
</cp:coreProperties>
</file>