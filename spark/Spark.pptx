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3" r:id="rId3"/>
    <p:sldId id="277" r:id="rId4"/>
    <p:sldId id="278" r:id="rId5"/>
    <p:sldId id="279" r:id="rId6"/>
    <p:sldId id="264" r:id="rId7"/>
    <p:sldId id="265" r:id="rId8"/>
    <p:sldId id="266" r:id="rId9"/>
    <p:sldId id="267" r:id="rId10"/>
    <p:sldId id="269" r:id="rId11"/>
    <p:sldId id="268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314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4" r:id="rId34"/>
    <p:sldId id="293" r:id="rId35"/>
    <p:sldId id="295" r:id="rId36"/>
    <p:sldId id="296" r:id="rId37"/>
    <p:sldId id="297" r:id="rId38"/>
    <p:sldId id="299" r:id="rId39"/>
    <p:sldId id="298" r:id="rId40"/>
    <p:sldId id="300" r:id="rId41"/>
    <p:sldId id="301" r:id="rId42"/>
    <p:sldId id="302" r:id="rId43"/>
    <p:sldId id="303" r:id="rId44"/>
    <p:sldId id="304" r:id="rId45"/>
    <p:sldId id="306" r:id="rId46"/>
    <p:sldId id="347" r:id="rId47"/>
    <p:sldId id="348" r:id="rId48"/>
    <p:sldId id="349" r:id="rId49"/>
    <p:sldId id="350" r:id="rId50"/>
    <p:sldId id="305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6" r:id="rId59"/>
    <p:sldId id="315" r:id="rId60"/>
    <p:sldId id="317" r:id="rId61"/>
    <p:sldId id="318" r:id="rId62"/>
    <p:sldId id="319" r:id="rId63"/>
    <p:sldId id="321" r:id="rId64"/>
    <p:sldId id="320" r:id="rId65"/>
    <p:sldId id="322" r:id="rId66"/>
    <p:sldId id="323" r:id="rId67"/>
    <p:sldId id="324" r:id="rId68"/>
    <p:sldId id="325" r:id="rId69"/>
    <p:sldId id="327" r:id="rId70"/>
    <p:sldId id="328" r:id="rId71"/>
    <p:sldId id="326" r:id="rId72"/>
    <p:sldId id="329" r:id="rId73"/>
    <p:sldId id="330" r:id="rId74"/>
    <p:sldId id="331" r:id="rId75"/>
    <p:sldId id="332" r:id="rId76"/>
    <p:sldId id="334" r:id="rId77"/>
    <p:sldId id="333" r:id="rId78"/>
    <p:sldId id="335" r:id="rId79"/>
    <p:sldId id="336" r:id="rId80"/>
    <p:sldId id="337" r:id="rId81"/>
    <p:sldId id="338" r:id="rId82"/>
    <p:sldId id="339" r:id="rId83"/>
    <p:sldId id="340" r:id="rId84"/>
    <p:sldId id="341" r:id="rId85"/>
    <p:sldId id="342" r:id="rId86"/>
    <p:sldId id="343" r:id="rId87"/>
    <p:sldId id="344" r:id="rId88"/>
    <p:sldId id="345" r:id="rId89"/>
    <p:sldId id="346" r:id="rId90"/>
    <p:sldId id="257" r:id="rId91"/>
    <p:sldId id="258" r:id="rId92"/>
    <p:sldId id="260" r:id="rId93"/>
    <p:sldId id="261" r:id="rId94"/>
    <p:sldId id="262" r:id="rId9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EF453-3095-AE8A-2F6D-B0378CA79EC1}" v="28" dt="2025-06-02T16:07:27.587"/>
    <p1510:client id="{DEF17522-F9FC-8578-697D-16CF15692E13}" v="5" dt="2025-06-03T14:51:56.4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60" d="100"/>
          <a:sy n="60" d="100"/>
        </p:scale>
        <p:origin x="6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svg"/><Relationship Id="rId2" Type="http://schemas.openxmlformats.org/officeDocument/2006/relationships/image" Target="../media/image109.svg"/><Relationship Id="rId1" Type="http://schemas.openxmlformats.org/officeDocument/2006/relationships/image" Target="../media/image10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svg"/><Relationship Id="rId2" Type="http://schemas.openxmlformats.org/officeDocument/2006/relationships/image" Target="../media/image109.svg"/><Relationship Id="rId1" Type="http://schemas.openxmlformats.org/officeDocument/2006/relationships/image" Target="../media/image10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26E050-110D-4658-B496-2252EDD5D10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7923C1A-FF59-4300-9997-9B5EFFCD9BF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Introductions</a:t>
          </a:r>
        </a:p>
      </dgm:t>
    </dgm:pt>
    <dgm:pt modelId="{2FA4B52F-8D46-4A76-B2B8-6677FB63F86C}" type="parTrans" cxnId="{AA9147CA-D6AF-437C-AE34-BAA5F20A547A}">
      <dgm:prSet/>
      <dgm:spPr/>
      <dgm:t>
        <a:bodyPr/>
        <a:lstStyle/>
        <a:p>
          <a:endParaRPr lang="en-US"/>
        </a:p>
      </dgm:t>
    </dgm:pt>
    <dgm:pt modelId="{E1BA9985-B1BF-4BFF-AFF0-048E2215BD88}" type="sibTrans" cxnId="{AA9147CA-D6AF-437C-AE34-BAA5F20A547A}">
      <dgm:prSet/>
      <dgm:spPr/>
      <dgm:t>
        <a:bodyPr/>
        <a:lstStyle/>
        <a:p>
          <a:endParaRPr lang="en-US"/>
        </a:p>
      </dgm:t>
    </dgm:pt>
    <dgm:pt modelId="{EA2DB709-2347-445B-9848-85D77F67086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What to Expect</a:t>
          </a:r>
        </a:p>
      </dgm:t>
    </dgm:pt>
    <dgm:pt modelId="{8BF4C137-F227-4C28-95A4-F210521D190E}" type="parTrans" cxnId="{FD6A8E58-6D21-409C-889A-7E66BC4677F7}">
      <dgm:prSet/>
      <dgm:spPr/>
      <dgm:t>
        <a:bodyPr/>
        <a:lstStyle/>
        <a:p>
          <a:endParaRPr lang="en-US"/>
        </a:p>
      </dgm:t>
    </dgm:pt>
    <dgm:pt modelId="{A8BA4347-4386-4AA2-8329-B0C65B7CAEDC}" type="sibTrans" cxnId="{FD6A8E58-6D21-409C-889A-7E66BC4677F7}">
      <dgm:prSet/>
      <dgm:spPr/>
      <dgm:t>
        <a:bodyPr/>
        <a:lstStyle/>
        <a:p>
          <a:endParaRPr lang="en-US"/>
        </a:p>
      </dgm:t>
    </dgm:pt>
    <dgm:pt modelId="{0A104462-619F-4DC7-BFF1-9C9A22513B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How to Excel in this Course</a:t>
          </a:r>
        </a:p>
      </dgm:t>
    </dgm:pt>
    <dgm:pt modelId="{EEE27C43-63A5-4528-AC22-72821129BE47}" type="parTrans" cxnId="{5B9560AB-F1C8-42FF-9B08-3250BBA89DF9}">
      <dgm:prSet/>
      <dgm:spPr/>
      <dgm:t>
        <a:bodyPr/>
        <a:lstStyle/>
        <a:p>
          <a:endParaRPr lang="en-US"/>
        </a:p>
      </dgm:t>
    </dgm:pt>
    <dgm:pt modelId="{FE9586A2-A7C4-4FC2-9E55-398D3A44D157}" type="sibTrans" cxnId="{5B9560AB-F1C8-42FF-9B08-3250BBA89DF9}">
      <dgm:prSet/>
      <dgm:spPr/>
      <dgm:t>
        <a:bodyPr/>
        <a:lstStyle/>
        <a:p>
          <a:endParaRPr lang="en-US"/>
        </a:p>
      </dgm:t>
    </dgm:pt>
    <dgm:pt modelId="{7FF25906-3454-4A54-877E-EAD1BB173A8D}" type="pres">
      <dgm:prSet presAssocID="{6726E050-110D-4658-B496-2252EDD5D109}" presName="root" presStyleCnt="0">
        <dgm:presLayoutVars>
          <dgm:dir/>
          <dgm:resizeHandles val="exact"/>
        </dgm:presLayoutVars>
      </dgm:prSet>
      <dgm:spPr/>
    </dgm:pt>
    <dgm:pt modelId="{9C9E42D0-6C64-45D7-A725-0E8364597ED8}" type="pres">
      <dgm:prSet presAssocID="{57923C1A-FF59-4300-9997-9B5EFFCD9BFC}" presName="compNode" presStyleCnt="0"/>
      <dgm:spPr/>
    </dgm:pt>
    <dgm:pt modelId="{94354C5B-BBC5-4AC9-A20D-73E61A8F6231}" type="pres">
      <dgm:prSet presAssocID="{57923C1A-FF59-4300-9997-9B5EFFCD9BFC}" presName="bgRect" presStyleLbl="bgShp" presStyleIdx="0" presStyleCnt="3"/>
      <dgm:spPr/>
    </dgm:pt>
    <dgm:pt modelId="{5648FDBD-141E-4873-86B4-6BC7A2C6D834}" type="pres">
      <dgm:prSet presAssocID="{57923C1A-FF59-4300-9997-9B5EFFCD9BFC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96682B1E-9176-4BB9-9A25-974EDBFAF284}" type="pres">
      <dgm:prSet presAssocID="{57923C1A-FF59-4300-9997-9B5EFFCD9BFC}" presName="spaceRect" presStyleCnt="0"/>
      <dgm:spPr/>
    </dgm:pt>
    <dgm:pt modelId="{459361BD-8E9E-4710-BD6B-F0798A448837}" type="pres">
      <dgm:prSet presAssocID="{57923C1A-FF59-4300-9997-9B5EFFCD9BFC}" presName="parTx" presStyleLbl="revTx" presStyleIdx="0" presStyleCnt="3">
        <dgm:presLayoutVars>
          <dgm:chMax val="0"/>
          <dgm:chPref val="0"/>
        </dgm:presLayoutVars>
      </dgm:prSet>
      <dgm:spPr/>
    </dgm:pt>
    <dgm:pt modelId="{B643C6CA-7983-420D-B77A-74B078063629}" type="pres">
      <dgm:prSet presAssocID="{E1BA9985-B1BF-4BFF-AFF0-048E2215BD88}" presName="sibTrans" presStyleCnt="0"/>
      <dgm:spPr/>
    </dgm:pt>
    <dgm:pt modelId="{4D9ACDDC-669E-4936-B852-F3E2856B6CB4}" type="pres">
      <dgm:prSet presAssocID="{EA2DB709-2347-445B-9848-85D77F670862}" presName="compNode" presStyleCnt="0"/>
      <dgm:spPr/>
    </dgm:pt>
    <dgm:pt modelId="{83295714-FB3A-4E9A-9889-AA3B82C3770C}" type="pres">
      <dgm:prSet presAssocID="{EA2DB709-2347-445B-9848-85D77F670862}" presName="bgRect" presStyleLbl="bgShp" presStyleIdx="1" presStyleCnt="3"/>
      <dgm:spPr/>
    </dgm:pt>
    <dgm:pt modelId="{3989ACC5-978D-4FCC-91E8-0FA6CCDB06AB}" type="pres">
      <dgm:prSet presAssocID="{EA2DB709-2347-445B-9848-85D77F670862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B9BA50C-F4D4-4F29-B43E-AAFA582629EA}" type="pres">
      <dgm:prSet presAssocID="{EA2DB709-2347-445B-9848-85D77F670862}" presName="spaceRect" presStyleCnt="0"/>
      <dgm:spPr/>
    </dgm:pt>
    <dgm:pt modelId="{0A96CB8C-0E81-4823-B442-799062EA9C60}" type="pres">
      <dgm:prSet presAssocID="{EA2DB709-2347-445B-9848-85D77F670862}" presName="parTx" presStyleLbl="revTx" presStyleIdx="1" presStyleCnt="3">
        <dgm:presLayoutVars>
          <dgm:chMax val="0"/>
          <dgm:chPref val="0"/>
        </dgm:presLayoutVars>
      </dgm:prSet>
      <dgm:spPr/>
    </dgm:pt>
    <dgm:pt modelId="{A16FF7F3-924B-4321-A995-D2C6A9DFF16A}" type="pres">
      <dgm:prSet presAssocID="{A8BA4347-4386-4AA2-8329-B0C65B7CAEDC}" presName="sibTrans" presStyleCnt="0"/>
      <dgm:spPr/>
    </dgm:pt>
    <dgm:pt modelId="{70F6743F-4AF4-4CAC-882C-D1E4188B43FE}" type="pres">
      <dgm:prSet presAssocID="{0A104462-619F-4DC7-BFF1-9C9A22513BB5}" presName="compNode" presStyleCnt="0"/>
      <dgm:spPr/>
    </dgm:pt>
    <dgm:pt modelId="{17710B87-EA1F-43D3-84CB-7A9900740D92}" type="pres">
      <dgm:prSet presAssocID="{0A104462-619F-4DC7-BFF1-9C9A22513BB5}" presName="bgRect" presStyleLbl="bgShp" presStyleIdx="2" presStyleCnt="3"/>
      <dgm:spPr/>
    </dgm:pt>
    <dgm:pt modelId="{44734F5C-C79B-402B-B528-1585A94E315F}" type="pres">
      <dgm:prSet presAssocID="{0A104462-619F-4DC7-BFF1-9C9A22513BB5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4561652D-2B42-4BF3-B36B-0D27B50C33CD}" type="pres">
      <dgm:prSet presAssocID="{0A104462-619F-4DC7-BFF1-9C9A22513BB5}" presName="spaceRect" presStyleCnt="0"/>
      <dgm:spPr/>
    </dgm:pt>
    <dgm:pt modelId="{E463817E-6898-4C70-BAB2-E3944B75D82E}" type="pres">
      <dgm:prSet presAssocID="{0A104462-619F-4DC7-BFF1-9C9A22513BB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715E01D-9CCE-49DF-A6DC-4F79BFBBBECB}" type="presOf" srcId="{EA2DB709-2347-445B-9848-85D77F670862}" destId="{0A96CB8C-0E81-4823-B442-799062EA9C60}" srcOrd="0" destOrd="0" presId="urn:microsoft.com/office/officeart/2018/2/layout/IconVerticalSolidList"/>
    <dgm:cxn modelId="{F28E252F-8064-4E32-85AA-308AF64BEECA}" type="presOf" srcId="{0A104462-619F-4DC7-BFF1-9C9A22513BB5}" destId="{E463817E-6898-4C70-BAB2-E3944B75D82E}" srcOrd="0" destOrd="0" presId="urn:microsoft.com/office/officeart/2018/2/layout/IconVerticalSolidList"/>
    <dgm:cxn modelId="{55117766-26CF-4462-A69A-5BBED9A9E3E3}" type="presOf" srcId="{57923C1A-FF59-4300-9997-9B5EFFCD9BFC}" destId="{459361BD-8E9E-4710-BD6B-F0798A448837}" srcOrd="0" destOrd="0" presId="urn:microsoft.com/office/officeart/2018/2/layout/IconVerticalSolidList"/>
    <dgm:cxn modelId="{23CBC84E-78E8-4C62-AC52-7CAF1690DFF0}" type="presOf" srcId="{6726E050-110D-4658-B496-2252EDD5D109}" destId="{7FF25906-3454-4A54-877E-EAD1BB173A8D}" srcOrd="0" destOrd="0" presId="urn:microsoft.com/office/officeart/2018/2/layout/IconVerticalSolidList"/>
    <dgm:cxn modelId="{FD6A8E58-6D21-409C-889A-7E66BC4677F7}" srcId="{6726E050-110D-4658-B496-2252EDD5D109}" destId="{EA2DB709-2347-445B-9848-85D77F670862}" srcOrd="1" destOrd="0" parTransId="{8BF4C137-F227-4C28-95A4-F210521D190E}" sibTransId="{A8BA4347-4386-4AA2-8329-B0C65B7CAEDC}"/>
    <dgm:cxn modelId="{5B9560AB-F1C8-42FF-9B08-3250BBA89DF9}" srcId="{6726E050-110D-4658-B496-2252EDD5D109}" destId="{0A104462-619F-4DC7-BFF1-9C9A22513BB5}" srcOrd="2" destOrd="0" parTransId="{EEE27C43-63A5-4528-AC22-72821129BE47}" sibTransId="{FE9586A2-A7C4-4FC2-9E55-398D3A44D157}"/>
    <dgm:cxn modelId="{AA9147CA-D6AF-437C-AE34-BAA5F20A547A}" srcId="{6726E050-110D-4658-B496-2252EDD5D109}" destId="{57923C1A-FF59-4300-9997-9B5EFFCD9BFC}" srcOrd="0" destOrd="0" parTransId="{2FA4B52F-8D46-4A76-B2B8-6677FB63F86C}" sibTransId="{E1BA9985-B1BF-4BFF-AFF0-048E2215BD88}"/>
    <dgm:cxn modelId="{98DBA39D-D11D-4C9F-A95B-427B990306F5}" type="presParOf" srcId="{7FF25906-3454-4A54-877E-EAD1BB173A8D}" destId="{9C9E42D0-6C64-45D7-A725-0E8364597ED8}" srcOrd="0" destOrd="0" presId="urn:microsoft.com/office/officeart/2018/2/layout/IconVerticalSolidList"/>
    <dgm:cxn modelId="{16E5D0FC-46E9-4BC7-9838-252A52A73572}" type="presParOf" srcId="{9C9E42D0-6C64-45D7-A725-0E8364597ED8}" destId="{94354C5B-BBC5-4AC9-A20D-73E61A8F6231}" srcOrd="0" destOrd="0" presId="urn:microsoft.com/office/officeart/2018/2/layout/IconVerticalSolidList"/>
    <dgm:cxn modelId="{7B687022-6EB4-476C-9D3A-222E982B5070}" type="presParOf" srcId="{9C9E42D0-6C64-45D7-A725-0E8364597ED8}" destId="{5648FDBD-141E-4873-86B4-6BC7A2C6D834}" srcOrd="1" destOrd="0" presId="urn:microsoft.com/office/officeart/2018/2/layout/IconVerticalSolidList"/>
    <dgm:cxn modelId="{9906BB48-8DBB-462A-BBA5-7DE32B96F939}" type="presParOf" srcId="{9C9E42D0-6C64-45D7-A725-0E8364597ED8}" destId="{96682B1E-9176-4BB9-9A25-974EDBFAF284}" srcOrd="2" destOrd="0" presId="urn:microsoft.com/office/officeart/2018/2/layout/IconVerticalSolidList"/>
    <dgm:cxn modelId="{2A54D2DC-326A-4621-8986-88CB1DACAC89}" type="presParOf" srcId="{9C9E42D0-6C64-45D7-A725-0E8364597ED8}" destId="{459361BD-8E9E-4710-BD6B-F0798A448837}" srcOrd="3" destOrd="0" presId="urn:microsoft.com/office/officeart/2018/2/layout/IconVerticalSolidList"/>
    <dgm:cxn modelId="{E67105E2-0E48-408F-BADD-798B4F244396}" type="presParOf" srcId="{7FF25906-3454-4A54-877E-EAD1BB173A8D}" destId="{B643C6CA-7983-420D-B77A-74B078063629}" srcOrd="1" destOrd="0" presId="urn:microsoft.com/office/officeart/2018/2/layout/IconVerticalSolidList"/>
    <dgm:cxn modelId="{00CE44EC-858B-4ED5-A58F-A254C98F6171}" type="presParOf" srcId="{7FF25906-3454-4A54-877E-EAD1BB173A8D}" destId="{4D9ACDDC-669E-4936-B852-F3E2856B6CB4}" srcOrd="2" destOrd="0" presId="urn:microsoft.com/office/officeart/2018/2/layout/IconVerticalSolidList"/>
    <dgm:cxn modelId="{9D4A3467-8197-4EEF-BF82-A4F7F9249F1F}" type="presParOf" srcId="{4D9ACDDC-669E-4936-B852-F3E2856B6CB4}" destId="{83295714-FB3A-4E9A-9889-AA3B82C3770C}" srcOrd="0" destOrd="0" presId="urn:microsoft.com/office/officeart/2018/2/layout/IconVerticalSolidList"/>
    <dgm:cxn modelId="{413F48F5-D121-405F-9CF7-89FF92F68AC9}" type="presParOf" srcId="{4D9ACDDC-669E-4936-B852-F3E2856B6CB4}" destId="{3989ACC5-978D-4FCC-91E8-0FA6CCDB06AB}" srcOrd="1" destOrd="0" presId="urn:microsoft.com/office/officeart/2018/2/layout/IconVerticalSolidList"/>
    <dgm:cxn modelId="{30F3F9E9-6E47-427A-8F49-9F2F70D57FA9}" type="presParOf" srcId="{4D9ACDDC-669E-4936-B852-F3E2856B6CB4}" destId="{9B9BA50C-F4D4-4F29-B43E-AAFA582629EA}" srcOrd="2" destOrd="0" presId="urn:microsoft.com/office/officeart/2018/2/layout/IconVerticalSolidList"/>
    <dgm:cxn modelId="{0ACF4DF1-09FF-4097-A672-E5F1DF866B1F}" type="presParOf" srcId="{4D9ACDDC-669E-4936-B852-F3E2856B6CB4}" destId="{0A96CB8C-0E81-4823-B442-799062EA9C60}" srcOrd="3" destOrd="0" presId="urn:microsoft.com/office/officeart/2018/2/layout/IconVerticalSolidList"/>
    <dgm:cxn modelId="{76A2D53A-5193-4B8A-A1AF-8BE66BF27769}" type="presParOf" srcId="{7FF25906-3454-4A54-877E-EAD1BB173A8D}" destId="{A16FF7F3-924B-4321-A995-D2C6A9DFF16A}" srcOrd="3" destOrd="0" presId="urn:microsoft.com/office/officeart/2018/2/layout/IconVerticalSolidList"/>
    <dgm:cxn modelId="{42E42AB0-482A-4779-80E2-99ABCE461288}" type="presParOf" srcId="{7FF25906-3454-4A54-877E-EAD1BB173A8D}" destId="{70F6743F-4AF4-4CAC-882C-D1E4188B43FE}" srcOrd="4" destOrd="0" presId="urn:microsoft.com/office/officeart/2018/2/layout/IconVerticalSolidList"/>
    <dgm:cxn modelId="{38A2846F-0468-4CDA-90BA-02FB0D680827}" type="presParOf" srcId="{70F6743F-4AF4-4CAC-882C-D1E4188B43FE}" destId="{17710B87-EA1F-43D3-84CB-7A9900740D92}" srcOrd="0" destOrd="0" presId="urn:microsoft.com/office/officeart/2018/2/layout/IconVerticalSolidList"/>
    <dgm:cxn modelId="{55582761-95E9-4759-9760-E7481E438D90}" type="presParOf" srcId="{70F6743F-4AF4-4CAC-882C-D1E4188B43FE}" destId="{44734F5C-C79B-402B-B528-1585A94E315F}" srcOrd="1" destOrd="0" presId="urn:microsoft.com/office/officeart/2018/2/layout/IconVerticalSolidList"/>
    <dgm:cxn modelId="{9B366F6A-13DE-449B-B1FE-FF7EA60F3ECE}" type="presParOf" srcId="{70F6743F-4AF4-4CAC-882C-D1E4188B43FE}" destId="{4561652D-2B42-4BF3-B36B-0D27B50C33CD}" srcOrd="2" destOrd="0" presId="urn:microsoft.com/office/officeart/2018/2/layout/IconVerticalSolidList"/>
    <dgm:cxn modelId="{50263C64-0797-4CBA-A298-978F41577B92}" type="presParOf" srcId="{70F6743F-4AF4-4CAC-882C-D1E4188B43FE}" destId="{E463817E-6898-4C70-BAB2-E3944B75D82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354C5B-BBC5-4AC9-A20D-73E61A8F6231}">
      <dsp:nvSpPr>
        <dsp:cNvPr id="0" name=""/>
        <dsp:cNvSpPr/>
      </dsp:nvSpPr>
      <dsp:spPr>
        <a:xfrm>
          <a:off x="0" y="449"/>
          <a:ext cx="11029615" cy="105068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48FDBD-141E-4873-86B4-6BC7A2C6D834}">
      <dsp:nvSpPr>
        <dsp:cNvPr id="0" name=""/>
        <dsp:cNvSpPr/>
      </dsp:nvSpPr>
      <dsp:spPr>
        <a:xfrm>
          <a:off x="317832" y="236853"/>
          <a:ext cx="577877" cy="57787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9361BD-8E9E-4710-BD6B-F0798A448837}">
      <dsp:nvSpPr>
        <dsp:cNvPr id="0" name=""/>
        <dsp:cNvSpPr/>
      </dsp:nvSpPr>
      <dsp:spPr>
        <a:xfrm>
          <a:off x="1213543" y="449"/>
          <a:ext cx="9816071" cy="1050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198" tIns="111198" rIns="111198" bIns="11119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Introductions</a:t>
          </a:r>
        </a:p>
      </dsp:txBody>
      <dsp:txXfrm>
        <a:off x="1213543" y="449"/>
        <a:ext cx="9816071" cy="1050687"/>
      </dsp:txXfrm>
    </dsp:sp>
    <dsp:sp modelId="{83295714-FB3A-4E9A-9889-AA3B82C3770C}">
      <dsp:nvSpPr>
        <dsp:cNvPr id="0" name=""/>
        <dsp:cNvSpPr/>
      </dsp:nvSpPr>
      <dsp:spPr>
        <a:xfrm>
          <a:off x="0" y="1313807"/>
          <a:ext cx="11029615" cy="105068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89ACC5-978D-4FCC-91E8-0FA6CCDB06AB}">
      <dsp:nvSpPr>
        <dsp:cNvPr id="0" name=""/>
        <dsp:cNvSpPr/>
      </dsp:nvSpPr>
      <dsp:spPr>
        <a:xfrm>
          <a:off x="317832" y="1550212"/>
          <a:ext cx="577877" cy="57787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96CB8C-0E81-4823-B442-799062EA9C60}">
      <dsp:nvSpPr>
        <dsp:cNvPr id="0" name=""/>
        <dsp:cNvSpPr/>
      </dsp:nvSpPr>
      <dsp:spPr>
        <a:xfrm>
          <a:off x="1213543" y="1313807"/>
          <a:ext cx="9816071" cy="1050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198" tIns="111198" rIns="111198" bIns="11119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What to Expect</a:t>
          </a:r>
        </a:p>
      </dsp:txBody>
      <dsp:txXfrm>
        <a:off x="1213543" y="1313807"/>
        <a:ext cx="9816071" cy="1050687"/>
      </dsp:txXfrm>
    </dsp:sp>
    <dsp:sp modelId="{17710B87-EA1F-43D3-84CB-7A9900740D92}">
      <dsp:nvSpPr>
        <dsp:cNvPr id="0" name=""/>
        <dsp:cNvSpPr/>
      </dsp:nvSpPr>
      <dsp:spPr>
        <a:xfrm>
          <a:off x="0" y="2627166"/>
          <a:ext cx="11029615" cy="105068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734F5C-C79B-402B-B528-1585A94E315F}">
      <dsp:nvSpPr>
        <dsp:cNvPr id="0" name=""/>
        <dsp:cNvSpPr/>
      </dsp:nvSpPr>
      <dsp:spPr>
        <a:xfrm>
          <a:off x="317832" y="2863571"/>
          <a:ext cx="577877" cy="57787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63817E-6898-4C70-BAB2-E3944B75D82E}">
      <dsp:nvSpPr>
        <dsp:cNvPr id="0" name=""/>
        <dsp:cNvSpPr/>
      </dsp:nvSpPr>
      <dsp:spPr>
        <a:xfrm>
          <a:off x="1213543" y="2627166"/>
          <a:ext cx="9816071" cy="1050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198" tIns="111198" rIns="111198" bIns="11119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How to Excel in this Course</a:t>
          </a:r>
        </a:p>
      </dsp:txBody>
      <dsp:txXfrm>
        <a:off x="1213543" y="2627166"/>
        <a:ext cx="9816071" cy="10506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1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87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7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0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24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98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299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7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1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06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5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61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grouplens.org/datasets/movielens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jpe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pySpark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83C39-E077-D887-4D88-664F8CD86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Curriculum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C300644-BCAA-DA4E-1D0B-F8CCC69423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384490"/>
              </p:ext>
            </p:extLst>
          </p:nvPr>
        </p:nvGraphicFramePr>
        <p:xfrm>
          <a:off x="581025" y="2194560"/>
          <a:ext cx="11029950" cy="3140130"/>
        </p:xfrm>
        <a:graphic>
          <a:graphicData uri="http://schemas.openxmlformats.org/drawingml/2006/table">
            <a:tbl>
              <a:tblPr/>
              <a:tblGrid>
                <a:gridCol w="1354246">
                  <a:extLst>
                    <a:ext uri="{9D8B030D-6E8A-4147-A177-3AD203B41FA5}">
                      <a16:colId xmlns:a16="http://schemas.microsoft.com/office/drawing/2014/main" val="3212514221"/>
                    </a:ext>
                  </a:extLst>
                </a:gridCol>
                <a:gridCol w="3839228">
                  <a:extLst>
                    <a:ext uri="{9D8B030D-6E8A-4147-A177-3AD203B41FA5}">
                      <a16:colId xmlns:a16="http://schemas.microsoft.com/office/drawing/2014/main" val="3821317148"/>
                    </a:ext>
                  </a:extLst>
                </a:gridCol>
                <a:gridCol w="5836476">
                  <a:extLst>
                    <a:ext uri="{9D8B030D-6E8A-4147-A177-3AD203B41FA5}">
                      <a16:colId xmlns:a16="http://schemas.microsoft.com/office/drawing/2014/main" val="4134838666"/>
                    </a:ext>
                  </a:extLst>
                </a:gridCol>
              </a:tblGrid>
              <a:tr h="500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Week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Topic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What it solves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8070585"/>
                  </a:ext>
                </a:extLst>
              </a:tr>
              <a:tr h="500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1-2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PySpark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Transform/Process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875430"/>
                  </a:ext>
                </a:extLst>
              </a:tr>
              <a:tr h="500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Snowflake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Store and Query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7043587"/>
                  </a:ext>
                </a:extLst>
              </a:tr>
              <a:tr h="500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Airflow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Orchestration for Data Pipelines (batch processing)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3749573"/>
                  </a:ext>
                </a:extLst>
              </a:tr>
              <a:tr h="500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Kafka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Real-Time Processing (streaming processing)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7241806"/>
                  </a:ext>
                </a:extLst>
              </a:tr>
              <a:tr h="500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Power BI + </a:t>
                      </a:r>
                      <a:r>
                        <a:rPr lang="en-US" dirty="0" err="1"/>
                        <a:t>DataOps</a:t>
                      </a:r>
                      <a:r>
                        <a:rPr lang="en-US" dirty="0"/>
                        <a:t> + Governance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Turns data into viewable/actionable insights for decision makers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6259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7476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A99BE-C68A-2C05-D277-09837017F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vs </a:t>
            </a:r>
            <a:r>
              <a:rPr lang="en-US" dirty="0" err="1"/>
              <a:t>PySpark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C4BC5-5C55-B1B0-F75F-39663AACA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088" y="2129425"/>
            <a:ext cx="11029615" cy="4352794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Apache Spark</a:t>
            </a:r>
          </a:p>
          <a:p>
            <a:pPr lvl="1"/>
            <a:r>
              <a:rPr lang="en-US" dirty="0"/>
              <a:t>Apache Spark is an open-source distributed computing framework designed for processing large datasets across clusters of computers.</a:t>
            </a:r>
          </a:p>
          <a:p>
            <a:pPr lvl="1"/>
            <a:r>
              <a:rPr lang="en-US" dirty="0"/>
              <a:t>Key features:</a:t>
            </a:r>
          </a:p>
          <a:p>
            <a:pPr lvl="2"/>
            <a:r>
              <a:rPr lang="en-US" dirty="0"/>
              <a:t>Distributed data processing </a:t>
            </a:r>
          </a:p>
          <a:p>
            <a:pPr lvl="2"/>
            <a:r>
              <a:rPr lang="en-US" dirty="0"/>
              <a:t>In-memory computation for speed </a:t>
            </a:r>
          </a:p>
          <a:p>
            <a:pPr lvl="2"/>
            <a:r>
              <a:rPr lang="en-US" dirty="0"/>
              <a:t>Supports batch processing, streaming, machine learning, and graph analytics </a:t>
            </a:r>
          </a:p>
          <a:p>
            <a:pPr lvl="2"/>
            <a:r>
              <a:rPr lang="en-US" dirty="0"/>
              <a:t>Runs on clusters managed by systems like Hadoop YARN, Kubernetes, or standalone Spark clusters </a:t>
            </a:r>
          </a:p>
          <a:p>
            <a:pPr lvl="2"/>
            <a:r>
              <a:rPr lang="en-US" dirty="0"/>
              <a:t>Core APIs are written in Scala and Java</a:t>
            </a:r>
          </a:p>
          <a:p>
            <a:pPr lvl="2"/>
            <a:r>
              <a:rPr lang="en-US" dirty="0"/>
              <a:t>Scala is most popular and new features/libraries tend to be Scala-first </a:t>
            </a:r>
          </a:p>
          <a:p>
            <a:pPr lvl="1"/>
            <a:r>
              <a:rPr lang="en-US" dirty="0"/>
              <a:t>Example Spark use cases:</a:t>
            </a:r>
          </a:p>
          <a:p>
            <a:pPr lvl="2"/>
            <a:r>
              <a:rPr lang="en-US" dirty="0"/>
              <a:t>ETL (Extract, Transform, Load) pipelines </a:t>
            </a:r>
          </a:p>
          <a:p>
            <a:pPr lvl="2"/>
            <a:r>
              <a:rPr lang="en-US" dirty="0"/>
              <a:t>Data warehousing </a:t>
            </a:r>
          </a:p>
          <a:p>
            <a:pPr lvl="2"/>
            <a:r>
              <a:rPr lang="en-US" dirty="0"/>
              <a:t>Real-time analytics </a:t>
            </a:r>
          </a:p>
          <a:p>
            <a:pPr lvl="2"/>
            <a:r>
              <a:rPr lang="en-US" dirty="0"/>
              <a:t>Machine learning at scale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824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1F3D8-F841-8A8C-0F48-9F9D4D955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vs </a:t>
            </a:r>
            <a:r>
              <a:rPr lang="en-US" dirty="0" err="1"/>
              <a:t>PySpark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61A6F-C65A-954C-3606-0D6F4BB93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207778"/>
          </a:xfrm>
        </p:spPr>
        <p:txBody>
          <a:bodyPr/>
          <a:lstStyle/>
          <a:p>
            <a:r>
              <a:rPr lang="en-US" b="1" dirty="0" err="1"/>
              <a:t>PySpark</a:t>
            </a:r>
            <a:endParaRPr lang="en-US" b="1" dirty="0"/>
          </a:p>
          <a:p>
            <a:pPr lvl="1"/>
            <a:r>
              <a:rPr lang="en-US" dirty="0" err="1"/>
              <a:t>PySpark</a:t>
            </a:r>
            <a:r>
              <a:rPr lang="en-US" dirty="0"/>
              <a:t> is the Python API for Apache Spark.</a:t>
            </a:r>
          </a:p>
          <a:p>
            <a:pPr lvl="1"/>
            <a:r>
              <a:rPr lang="en-US" dirty="0"/>
              <a:t>It allows Python developers to write Spark applications using Python instead of Scala or Java.</a:t>
            </a:r>
          </a:p>
          <a:p>
            <a:pPr lvl="1"/>
            <a:r>
              <a:rPr lang="en-US" dirty="0"/>
              <a:t>Under the hood:</a:t>
            </a:r>
          </a:p>
          <a:p>
            <a:pPr lvl="2"/>
            <a:r>
              <a:rPr lang="en-US" dirty="0"/>
              <a:t>You write Python code. </a:t>
            </a:r>
          </a:p>
          <a:p>
            <a:pPr lvl="2"/>
            <a:r>
              <a:rPr lang="en-US" dirty="0" err="1"/>
              <a:t>PySpark</a:t>
            </a:r>
            <a:r>
              <a:rPr lang="en-US" dirty="0"/>
              <a:t> translates operations to Spark's execution engine. </a:t>
            </a:r>
          </a:p>
          <a:p>
            <a:pPr lvl="2"/>
            <a:r>
              <a:rPr lang="en-US" dirty="0"/>
              <a:t>Spark executes the work across the cluster. </a:t>
            </a:r>
          </a:p>
          <a:p>
            <a:pPr lvl="2"/>
            <a:r>
              <a:rPr lang="en-US" dirty="0"/>
              <a:t>Results are returned to Python.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6FF4AF-66DB-0DCA-DD75-B68AA5E07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5474" y="4851932"/>
            <a:ext cx="4676384" cy="16135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F1A238-5B62-B823-B2E4-2FD6D7EE2B19}"/>
              </a:ext>
            </a:extLst>
          </p:cNvPr>
          <p:cNvSpPr txBox="1"/>
          <p:nvPr/>
        </p:nvSpPr>
        <p:spPr>
          <a:xfrm>
            <a:off x="5931073" y="4390267"/>
            <a:ext cx="50793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0150" lvl="2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dirty="0"/>
              <a:t>This Python code creates a spark job that may execute across dozens or hundreds of machines</a:t>
            </a:r>
          </a:p>
        </p:txBody>
      </p:sp>
    </p:spTree>
    <p:extLst>
      <p:ext uri="{BB962C8B-B14F-4D97-AF65-F5344CB8AC3E}">
        <p14:creationId xmlns:p14="http://schemas.microsoft.com/office/powerpoint/2010/main" val="3551214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1DFC8-EB33-1409-27E4-946C56ACB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Apache Hadoop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00017-767E-F9C5-B3C8-52067E28A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251619"/>
          </a:xfrm>
        </p:spPr>
        <p:txBody>
          <a:bodyPr/>
          <a:lstStyle/>
          <a:p>
            <a:r>
              <a:rPr lang="en-US" dirty="0"/>
              <a:t>Apache Hadoop is an open-source software framework for distributed storage and large-scale data processing. Developed by Apache Software Foundation, it enables reliable, fault-tolerant computation across clusters of commodity servers.</a:t>
            </a:r>
          </a:p>
          <a:p>
            <a:r>
              <a:rPr lang="en-US" dirty="0"/>
              <a:t>Apache Hadoop is not just one thing. Historically it included:</a:t>
            </a:r>
          </a:p>
          <a:p>
            <a:pPr lvl="1"/>
            <a:r>
              <a:rPr lang="en-US" dirty="0"/>
              <a:t>Storage: Hadoop Distributed File System (HDFS) </a:t>
            </a:r>
          </a:p>
          <a:p>
            <a:pPr lvl="1"/>
            <a:r>
              <a:rPr lang="en-US" dirty="0"/>
              <a:t>Resource management (job scheduling layer): Yet Another Resource Negotiator (YARN) </a:t>
            </a:r>
          </a:p>
          <a:p>
            <a:pPr lvl="1"/>
            <a:r>
              <a:rPr lang="en-US" dirty="0"/>
              <a:t>Processing (compute engine): Hadoop MapReduce</a:t>
            </a:r>
          </a:p>
          <a:p>
            <a:r>
              <a:rPr lang="en-US" dirty="0"/>
              <a:t>In modern workflows, Spark has come to replace Hadoop MapReduce as the compute engine layer, but will still make use of the HDFS, and can run on YARN </a:t>
            </a:r>
          </a:p>
          <a:p>
            <a:pPr lvl="1"/>
            <a:r>
              <a:rPr lang="en-US" dirty="0"/>
              <a:t>“Run programs up to 100x faster than Hadoop MapReduce in memory, or 10x faster on disk.”</a:t>
            </a:r>
          </a:p>
          <a:p>
            <a:pPr lvl="1"/>
            <a:r>
              <a:rPr lang="en-US" dirty="0"/>
              <a:t>Under the hood: DAG Engine (directed acyclic graph) optimizes workflows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7775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6EEC0-F842-6794-3731-B88DD4390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PySpark</a:t>
            </a:r>
            <a:r>
              <a:rPr lang="en-US" dirty="0"/>
              <a:t>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75B85-9198-042E-6792-596357DD2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89" y="1970918"/>
            <a:ext cx="11029615" cy="944748"/>
          </a:xfrm>
        </p:spPr>
        <p:txBody>
          <a:bodyPr/>
          <a:lstStyle/>
          <a:p>
            <a:r>
              <a:rPr lang="en-US" dirty="0"/>
              <a:t>Install </a:t>
            </a:r>
            <a:r>
              <a:rPr lang="en-US" dirty="0" err="1"/>
              <a:t>wsl</a:t>
            </a:r>
            <a:r>
              <a:rPr lang="en-US" dirty="0"/>
              <a:t> </a:t>
            </a:r>
          </a:p>
          <a:p>
            <a:r>
              <a:rPr lang="en-US" dirty="0"/>
              <a:t>‘</a:t>
            </a:r>
            <a:r>
              <a:rPr lang="en-US" dirty="0" err="1"/>
              <a:t>wsl</a:t>
            </a:r>
            <a:r>
              <a:rPr lang="en-US" dirty="0"/>
              <a:t>’ to start ‘logout’ to exit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35C4A9-4C12-DA8F-C847-E6DB531217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156" y="2896614"/>
            <a:ext cx="1333686" cy="1905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080D00-88B9-E479-E364-E4D9D5687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6339" y="3190842"/>
            <a:ext cx="1019317" cy="2095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08B98D-44AF-420C-E3B1-8F79ED42DF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3888" y="3990775"/>
            <a:ext cx="5144218" cy="1905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EF2DAE9-FC9C-5C27-9FF7-8AEE702656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3886" y="4247112"/>
            <a:ext cx="5420481" cy="2286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090FB0E-D132-8FFE-6EEE-4207CD7F9E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8753" y="5849309"/>
            <a:ext cx="8230749" cy="228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EE01050-69EF-CC76-D530-317C168463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99990" y="5576492"/>
            <a:ext cx="6068272" cy="228632"/>
          </a:xfrm>
          <a:prstGeom prst="rect">
            <a:avLst/>
          </a:pr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70A5561-D471-0B86-D809-42B1B611EC9B}"/>
              </a:ext>
            </a:extLst>
          </p:cNvPr>
          <p:cNvSpPr txBox="1">
            <a:spLocks/>
          </p:cNvSpPr>
          <p:nvPr/>
        </p:nvSpPr>
        <p:spPr>
          <a:xfrm>
            <a:off x="483071" y="3190842"/>
            <a:ext cx="11029615" cy="9447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Update refreshes package index; upgrade installs all packages to latest versions 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F5B1193-3075-0DF6-2F1C-43824B2F577A}"/>
              </a:ext>
            </a:extLst>
          </p:cNvPr>
          <p:cNvSpPr txBox="1">
            <a:spLocks/>
          </p:cNvSpPr>
          <p:nvPr/>
        </p:nvSpPr>
        <p:spPr>
          <a:xfrm>
            <a:off x="524488" y="4517863"/>
            <a:ext cx="11029615" cy="9447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 can search for available packages / install packages</a:t>
            </a:r>
          </a:p>
          <a:p>
            <a:r>
              <a:rPr lang="en-US" dirty="0"/>
              <a:t>Let’s also install the JDK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4FD380E-68CF-3A18-9C39-AF23F62910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47516" y="6154153"/>
            <a:ext cx="6773220" cy="20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249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84F79-B6C5-4DA2-CD79-B8F60313F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Apt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A4398-DE83-2DAF-5DC8-62A293E6A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475022"/>
          </a:xfrm>
        </p:spPr>
        <p:txBody>
          <a:bodyPr/>
          <a:lstStyle/>
          <a:p>
            <a:r>
              <a:rPr lang="en-US" dirty="0"/>
              <a:t>Remove uninstalls packages; purge uninstalls and deletes any config files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4722C8-33EC-4903-511A-C68D92127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234" y="2920007"/>
            <a:ext cx="2905530" cy="4001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296792-9310-BD02-EE3A-779A3F437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679" y="3525512"/>
            <a:ext cx="2762636" cy="4096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4CF638-B797-3C83-A8CD-67142D01FE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3809" y="5219910"/>
            <a:ext cx="2124371" cy="371527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B936B17-94E2-D188-24CE-EAB2127547EF}"/>
              </a:ext>
            </a:extLst>
          </p:cNvPr>
          <p:cNvSpPr txBox="1">
            <a:spLocks/>
          </p:cNvSpPr>
          <p:nvPr/>
        </p:nvSpPr>
        <p:spPr>
          <a:xfrm>
            <a:off x="581192" y="4140542"/>
            <a:ext cx="11029615" cy="9763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List can show installed packages</a:t>
            </a:r>
          </a:p>
          <a:p>
            <a:r>
              <a:rPr lang="en-US" dirty="0" err="1"/>
              <a:t>Autoclean</a:t>
            </a:r>
            <a:r>
              <a:rPr lang="en-US" dirty="0"/>
              <a:t> will delete downloaded package data only needed during installation </a:t>
            </a:r>
          </a:p>
          <a:p>
            <a:r>
              <a:rPr lang="en-US" dirty="0"/>
              <a:t>Auto remove will remove any packages that were previously needed as dependencies, but are no longer required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A4CB191-9D0D-469E-4335-643BB76822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5257" y="5694466"/>
            <a:ext cx="1981477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298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A4BAA-EAD7-1212-50C6-CB9CD53F8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PySpark</a:t>
            </a:r>
            <a:r>
              <a:rPr lang="en-US" dirty="0"/>
              <a:t>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0A938-83DB-4D18-421D-0D49F8D6F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713016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Mkdir</a:t>
            </a:r>
            <a:r>
              <a:rPr lang="en-US" dirty="0"/>
              <a:t> = create directory/folder</a:t>
            </a:r>
          </a:p>
          <a:p>
            <a:r>
              <a:rPr lang="en-US" dirty="0"/>
              <a:t>Cd = change directory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2B106C-5A86-FDAF-A967-47B6B8587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419" y="3029848"/>
            <a:ext cx="1143160" cy="2095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26D07D-AFC3-E260-CF34-4F79CC5227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154" y="3335750"/>
            <a:ext cx="4229690" cy="6287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A7C0A3-5DAF-9F0E-19D1-C219588730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2392" y="4798754"/>
            <a:ext cx="2067213" cy="266737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73917D8-705C-4B9A-B653-A5675BE89469}"/>
              </a:ext>
            </a:extLst>
          </p:cNvPr>
          <p:cNvSpPr txBox="1">
            <a:spLocks/>
          </p:cNvSpPr>
          <p:nvPr/>
        </p:nvSpPr>
        <p:spPr>
          <a:xfrm>
            <a:off x="652173" y="4025113"/>
            <a:ext cx="11029615" cy="7130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Create a python3 virtual environment with latest installed version / create </a:t>
            </a:r>
            <a:r>
              <a:rPr lang="en-US" dirty="0" err="1"/>
              <a:t>venv</a:t>
            </a:r>
            <a:r>
              <a:rPr lang="en-US" dirty="0"/>
              <a:t> from specific version: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867F64F-FD05-D9E3-BF2C-32598A2B45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899" y="5126116"/>
            <a:ext cx="2410161" cy="31436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C1F194F-33BF-660C-2585-F055D656C4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3425" y="6155844"/>
            <a:ext cx="1667108" cy="276264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5CE6119-CC81-A773-2C93-0F9DE04BD2FF}"/>
              </a:ext>
            </a:extLst>
          </p:cNvPr>
          <p:cNvSpPr txBox="1">
            <a:spLocks/>
          </p:cNvSpPr>
          <p:nvPr/>
        </p:nvSpPr>
        <p:spPr>
          <a:xfrm>
            <a:off x="652171" y="5449878"/>
            <a:ext cx="11029615" cy="7130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We can use </a:t>
            </a:r>
            <a:r>
              <a:rPr lang="en-US" dirty="0" err="1"/>
              <a:t>chmod</a:t>
            </a:r>
            <a:r>
              <a:rPr lang="en-US" dirty="0"/>
              <a:t> to make ‘activate’ executable:</a:t>
            </a:r>
          </a:p>
        </p:txBody>
      </p:sp>
    </p:spTree>
    <p:extLst>
      <p:ext uri="{BB962C8B-B14F-4D97-AF65-F5344CB8AC3E}">
        <p14:creationId xmlns:p14="http://schemas.microsoft.com/office/powerpoint/2010/main" val="3565272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C76FA-3B6B-4EC9-B55F-28E964A87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PySpark</a:t>
            </a:r>
            <a:r>
              <a:rPr lang="en-US" dirty="0"/>
              <a:t>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5BC3B-DD0C-5610-A265-0FAAC2705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932222"/>
          </a:xfrm>
        </p:spPr>
        <p:txBody>
          <a:bodyPr/>
          <a:lstStyle/>
          <a:p>
            <a:r>
              <a:rPr lang="en-US" dirty="0"/>
              <a:t>Activate the </a:t>
            </a:r>
            <a:r>
              <a:rPr lang="en-US" dirty="0" err="1"/>
              <a:t>venv</a:t>
            </a:r>
            <a:r>
              <a:rPr lang="en-US" dirty="0"/>
              <a:t> before installing any packages (deactivate to exit </a:t>
            </a:r>
            <a:r>
              <a:rPr lang="en-US" dirty="0" err="1"/>
              <a:t>venv</a:t>
            </a:r>
            <a:r>
              <a:rPr lang="en-US" dirty="0"/>
              <a:t>):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1ED018-766A-A77B-6B77-9FDAEA709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785" y="3343865"/>
            <a:ext cx="5944430" cy="4667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EE9C5B-A9CC-C8A9-C0C8-B46D1E7EF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2916" y="3913195"/>
            <a:ext cx="5306165" cy="2572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A49CE2-3782-20A3-FE71-0E5915689F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6624" y="5338955"/>
            <a:ext cx="6058746" cy="2191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A4874D-4667-0EC4-5B19-D284E09E69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9755" y="5698706"/>
            <a:ext cx="7592485" cy="247685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B490755-4DD0-EA29-C3E7-DE4905E3662F}"/>
              </a:ext>
            </a:extLst>
          </p:cNvPr>
          <p:cNvSpPr txBox="1">
            <a:spLocks/>
          </p:cNvSpPr>
          <p:nvPr/>
        </p:nvSpPr>
        <p:spPr>
          <a:xfrm>
            <a:off x="581192" y="4230051"/>
            <a:ext cx="11029615" cy="932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Install packages via pip</a:t>
            </a:r>
          </a:p>
          <a:p>
            <a:r>
              <a:rPr lang="en-US" dirty="0" err="1"/>
              <a:t>Jupyter</a:t>
            </a:r>
            <a:r>
              <a:rPr lang="en-US" dirty="0"/>
              <a:t> provides UI / workspace for taking notes and testing code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0E4556-CBF5-7353-8DC8-675BBCEC1D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5756" y="6133923"/>
            <a:ext cx="5420481" cy="25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987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4E796-5DC0-12E8-D680-47CC82886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VSCODE – Recommended Extensions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184B40-7045-C6A9-036F-053A8A771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4669" y="1874457"/>
            <a:ext cx="5322662" cy="17147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AC3259-C24A-D1BD-F1B8-A54023DAD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836" y="3664575"/>
            <a:ext cx="7856327" cy="14201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3721C1E-096B-29CA-58BB-004E7D347E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0354" y="5243809"/>
            <a:ext cx="9251290" cy="1327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61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C410E-BE96-E76A-7D7E-AABFBC9E5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PySpark</a:t>
            </a:r>
            <a:r>
              <a:rPr lang="en-US" dirty="0"/>
              <a:t>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92607-9575-8E97-6786-0E780D5A3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932222"/>
          </a:xfrm>
        </p:spPr>
        <p:txBody>
          <a:bodyPr/>
          <a:lstStyle/>
          <a:p>
            <a:r>
              <a:rPr lang="en-US" dirty="0"/>
              <a:t>Uses data from </a:t>
            </a:r>
            <a:r>
              <a:rPr lang="en-US" dirty="0" err="1">
                <a:hlinkClick r:id="rId2"/>
              </a:rPr>
              <a:t>grouplens</a:t>
            </a:r>
            <a:endParaRPr lang="en-US" dirty="0"/>
          </a:p>
          <a:p>
            <a:r>
              <a:rPr lang="en-US" dirty="0" err="1"/>
              <a:t>MovieLens</a:t>
            </a:r>
            <a:r>
              <a:rPr lang="en-US" dirty="0"/>
              <a:t> 100k Dataset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9CC73F-9BD1-75FB-8D86-0B0E7EEA7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3904" y="2113919"/>
            <a:ext cx="7363968" cy="4241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336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1E6FC-01A6-E38C-2B23-BF1E1FE40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3.5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8BE92-1299-01A7-F551-5CCC8DAD6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23920"/>
            <a:ext cx="11029615" cy="451466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Spark connect</a:t>
            </a:r>
          </a:p>
          <a:p>
            <a:pPr lvl="1"/>
            <a:r>
              <a:rPr lang="en-US" dirty="0"/>
              <a:t>Client / server architecture for Apache Spark</a:t>
            </a:r>
          </a:p>
          <a:p>
            <a:r>
              <a:rPr lang="en-US" dirty="0"/>
              <a:t>Expanded SQL functionality </a:t>
            </a:r>
          </a:p>
          <a:p>
            <a:pPr lvl="1"/>
            <a:r>
              <a:rPr lang="en-US" dirty="0"/>
              <a:t>User-Defined table functions (UDTFs)</a:t>
            </a:r>
          </a:p>
          <a:p>
            <a:pPr lvl="1"/>
            <a:r>
              <a:rPr lang="en-US" dirty="0"/>
              <a:t>Apache Arrow-optimized UDFs</a:t>
            </a:r>
          </a:p>
          <a:p>
            <a:pPr lvl="1"/>
            <a:r>
              <a:rPr lang="en-US" dirty="0"/>
              <a:t>More SQL functions supported (150+) in </a:t>
            </a:r>
            <a:r>
              <a:rPr lang="en-US" dirty="0" err="1"/>
              <a:t>DataFrames</a:t>
            </a:r>
            <a:r>
              <a:rPr lang="en-US" dirty="0"/>
              <a:t> APIs</a:t>
            </a:r>
          </a:p>
          <a:p>
            <a:r>
              <a:rPr lang="en-US" dirty="0"/>
              <a:t>English SDK for Apache Spark</a:t>
            </a:r>
          </a:p>
          <a:p>
            <a:r>
              <a:rPr lang="en-US" dirty="0"/>
              <a:t>Debugging features </a:t>
            </a:r>
          </a:p>
          <a:p>
            <a:pPr lvl="1"/>
            <a:r>
              <a:rPr lang="en-US" dirty="0"/>
              <a:t>Enhanced error messages</a:t>
            </a:r>
          </a:p>
          <a:p>
            <a:pPr lvl="1"/>
            <a:r>
              <a:rPr lang="en-US" dirty="0"/>
              <a:t>Testing API (</a:t>
            </a:r>
            <a:r>
              <a:rPr lang="en-US" dirty="0" err="1"/>
              <a:t>DataFrame</a:t>
            </a:r>
            <a:r>
              <a:rPr lang="en-US" dirty="0"/>
              <a:t> equality testing)</a:t>
            </a:r>
          </a:p>
          <a:p>
            <a:r>
              <a:rPr lang="en-US" dirty="0" err="1"/>
              <a:t>DeepSpeed</a:t>
            </a:r>
            <a:r>
              <a:rPr lang="en-US" dirty="0"/>
              <a:t> Distributor</a:t>
            </a:r>
          </a:p>
          <a:p>
            <a:pPr lvl="1"/>
            <a:r>
              <a:rPr lang="en-US" dirty="0"/>
              <a:t>Distributed training or </a:t>
            </a:r>
            <a:r>
              <a:rPr lang="en-US" dirty="0" err="1"/>
              <a:t>PyTorch</a:t>
            </a:r>
            <a:r>
              <a:rPr lang="en-US" dirty="0"/>
              <a:t> models on Spark clusters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AC181F-14DC-8B82-56B8-2B2C84A99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1688" y="3343644"/>
            <a:ext cx="2981741" cy="124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666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3F4BB-C4DD-CB85-5B61-3BD4BB7FE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4 features – Ansi mode by default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55735-6236-B9E9-C7DB-671F65BFC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151411"/>
          </a:xfrm>
        </p:spPr>
        <p:txBody>
          <a:bodyPr>
            <a:normAutofit/>
          </a:bodyPr>
          <a:lstStyle/>
          <a:p>
            <a:r>
              <a:rPr lang="en-US" dirty="0"/>
              <a:t>Better error handling in SQL-style queries</a:t>
            </a:r>
          </a:p>
          <a:p>
            <a:r>
              <a:rPr lang="en-US" dirty="0"/>
              <a:t>Invalid casts, division by zero, </a:t>
            </a:r>
            <a:r>
              <a:rPr lang="en-US" dirty="0" err="1"/>
              <a:t>ect</a:t>
            </a:r>
            <a:r>
              <a:rPr lang="en-US" dirty="0"/>
              <a:t> will result in a detailed error</a:t>
            </a:r>
          </a:p>
          <a:p>
            <a:pPr lvl="1"/>
            <a:r>
              <a:rPr lang="en-US" dirty="0"/>
              <a:t>Before, things would silently proceed, usually with NULL values</a:t>
            </a:r>
          </a:p>
          <a:p>
            <a:r>
              <a:rPr lang="en-US" dirty="0"/>
              <a:t>Missing data might also trigger errors now</a:t>
            </a:r>
          </a:p>
          <a:p>
            <a:pPr lvl="1"/>
            <a:r>
              <a:rPr lang="en-US" dirty="0"/>
              <a:t>A None value where something is expected will raise an error</a:t>
            </a:r>
          </a:p>
          <a:p>
            <a:pPr lvl="1"/>
            <a:r>
              <a:rPr lang="en-US" dirty="0"/>
              <a:t>For example, the expression salary + 100 won’t be allowed at all if your salary column contains empty values</a:t>
            </a:r>
          </a:p>
          <a:p>
            <a:r>
              <a:rPr lang="en-US" dirty="0"/>
              <a:t>Example: SELECT CAST(‘some string’ AS FLOAT)</a:t>
            </a:r>
          </a:p>
          <a:p>
            <a:pPr lvl="1"/>
            <a:r>
              <a:rPr lang="en-US" dirty="0"/>
              <a:t>Spark 3: returns a NULL value</a:t>
            </a:r>
          </a:p>
          <a:p>
            <a:pPr lvl="1"/>
            <a:r>
              <a:rPr lang="en-US" dirty="0"/>
              <a:t>Spark 4: Error: Cannot cast ‘some string’ to FLOAT</a:t>
            </a:r>
          </a:p>
          <a:p>
            <a:r>
              <a:rPr lang="en-US" dirty="0"/>
              <a:t>You can set </a:t>
            </a:r>
            <a:r>
              <a:rPr lang="en-US" dirty="0" err="1"/>
              <a:t>spark.sql.ansi.enabled</a:t>
            </a:r>
            <a:r>
              <a:rPr lang="en-US" dirty="0"/>
              <a:t> to ‘false’ if you need backwards compatibility </a:t>
            </a:r>
          </a:p>
        </p:txBody>
      </p:sp>
    </p:spTree>
    <p:extLst>
      <p:ext uri="{BB962C8B-B14F-4D97-AF65-F5344CB8AC3E}">
        <p14:creationId xmlns:p14="http://schemas.microsoft.com/office/powerpoint/2010/main" val="12022107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8D7BB-9046-4547-DD83-326AE9D2D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4 features – Variant data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47CBB-5076-DCBC-129D-AF4BF9476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380696" cy="367830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Better support for semi-structured data: JSON, XML</a:t>
            </a:r>
          </a:p>
          <a:p>
            <a:r>
              <a:rPr lang="en-US" dirty="0" err="1"/>
              <a:t>parse_json</a:t>
            </a:r>
            <a:r>
              <a:rPr lang="en-US" dirty="0"/>
              <a:t> functions allows you to convert raw </a:t>
            </a:r>
            <a:r>
              <a:rPr lang="en-US" dirty="0" err="1"/>
              <a:t>json</a:t>
            </a:r>
            <a:r>
              <a:rPr lang="en-US" dirty="0"/>
              <a:t> to VARIANTs</a:t>
            </a:r>
          </a:p>
          <a:p>
            <a:r>
              <a:rPr lang="en-US" dirty="0" err="1"/>
              <a:t>variant_get</a:t>
            </a:r>
            <a:r>
              <a:rPr lang="en-US" dirty="0"/>
              <a:t>, </a:t>
            </a:r>
            <a:r>
              <a:rPr lang="en-US" dirty="0" err="1"/>
              <a:t>try_variant_get</a:t>
            </a:r>
            <a:r>
              <a:rPr lang="en-US" dirty="0"/>
              <a:t>, cast lets us extract them</a:t>
            </a:r>
          </a:p>
          <a:p>
            <a:r>
              <a:rPr lang="en-US" dirty="0"/>
              <a:t>Or just use VARIANT SQL syntax:</a:t>
            </a:r>
          </a:p>
          <a:p>
            <a:pPr marL="0" indent="0">
              <a:buNone/>
            </a:pPr>
            <a:r>
              <a:rPr lang="en-US" dirty="0"/>
              <a:t>CREATE TABLE customers (</a:t>
            </a:r>
          </a:p>
          <a:p>
            <a:pPr marL="0" indent="0">
              <a:buNone/>
            </a:pPr>
            <a:r>
              <a:rPr lang="en-US" dirty="0"/>
              <a:t>id INT,</a:t>
            </a:r>
          </a:p>
          <a:p>
            <a:pPr marL="0" indent="0">
              <a:buNone/>
            </a:pPr>
            <a:r>
              <a:rPr lang="en-US" dirty="0"/>
              <a:t>name STRING,</a:t>
            </a:r>
          </a:p>
          <a:p>
            <a:pPr marL="0" indent="0">
              <a:buNone/>
            </a:pPr>
            <a:r>
              <a:rPr lang="en-US" dirty="0"/>
              <a:t>data VARIANT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EA1BF6-7671-149C-801C-3DB788A00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49255"/>
            <a:ext cx="4377940" cy="466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344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4ED1F-4FB5-DD77-0BE7-1A9B4896B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4 features – Collation support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0116B-29A3-9E86-2E34-ACCA3B17A4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Collations bring SQL-standard string comparisons to Spark</a:t>
            </a:r>
          </a:p>
          <a:p>
            <a:r>
              <a:rPr lang="en-US" dirty="0"/>
              <a:t>Case-insensitive </a:t>
            </a:r>
            <a:r>
              <a:rPr lang="en-US" dirty="0" err="1"/>
              <a:t>comparisions</a:t>
            </a:r>
            <a:r>
              <a:rPr lang="en-US" dirty="0"/>
              <a:t> without LOWER() everywhere</a:t>
            </a:r>
          </a:p>
          <a:p>
            <a:r>
              <a:rPr lang="en-US" dirty="0"/>
              <a:t>Locale-aware sorting and </a:t>
            </a:r>
            <a:r>
              <a:rPr lang="en-US" dirty="0" err="1"/>
              <a:t>comparisions</a:t>
            </a:r>
            <a:r>
              <a:rPr lang="en-US" dirty="0"/>
              <a:t>, build into Spark SQL</a:t>
            </a:r>
          </a:p>
          <a:p>
            <a:r>
              <a:rPr lang="en-US" dirty="0"/>
              <a:t>Choose how strings compare, not just what they contain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98DB03-77E1-7F4D-E23A-25C6B70C7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2692" y="2517113"/>
            <a:ext cx="2621341" cy="18237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192B68-9645-C78F-E61E-95B8EF20F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4385" y="2341860"/>
            <a:ext cx="876422" cy="20672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8EE8F8-C86C-7841-2872-4451144ED2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7264" y="4531426"/>
            <a:ext cx="2347824" cy="2261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0930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DAF80-4D5D-C613-4E76-25028E47B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4 features – Data Source API’s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33DC5-0DDC-9257-BE74-1B276A3BD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0436" y="2477541"/>
            <a:ext cx="8362392" cy="3678303"/>
          </a:xfrm>
        </p:spPr>
        <p:txBody>
          <a:bodyPr/>
          <a:lstStyle/>
          <a:p>
            <a:r>
              <a:rPr lang="en-US" dirty="0"/>
              <a:t>The Data Source API is a JVM (Java/Scala) API only </a:t>
            </a:r>
          </a:p>
          <a:p>
            <a:r>
              <a:rPr lang="en-US" dirty="0"/>
              <a:t>A data source is simply anything spark can read from or write to: CSV, Parquet, JDBC, Kafka, Snowflake, etc. </a:t>
            </a:r>
          </a:p>
          <a:p>
            <a:r>
              <a:rPr lang="en-US" dirty="0"/>
              <a:t>We typically only use these in </a:t>
            </a:r>
            <a:r>
              <a:rPr lang="en-US" dirty="0" err="1"/>
              <a:t>PySpark</a:t>
            </a:r>
            <a:r>
              <a:rPr lang="en-US" dirty="0"/>
              <a:t>, we won’t make our own: ‘</a:t>
            </a:r>
            <a:r>
              <a:rPr lang="en-US" dirty="0" err="1"/>
              <a:t>spark.read.format</a:t>
            </a:r>
            <a:r>
              <a:rPr lang="en-US" dirty="0"/>
              <a:t>()’ </a:t>
            </a:r>
          </a:p>
          <a:p>
            <a:r>
              <a:rPr lang="en-US" dirty="0"/>
              <a:t>The new Data Source APIs are primarily for developers who want to build custom data sources (connectors for databases, APIs, cloud storage, proprietary formats, etc.)</a:t>
            </a:r>
          </a:p>
        </p:txBody>
      </p:sp>
    </p:spTree>
    <p:extLst>
      <p:ext uri="{BB962C8B-B14F-4D97-AF65-F5344CB8AC3E}">
        <p14:creationId xmlns:p14="http://schemas.microsoft.com/office/powerpoint/2010/main" val="6119588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CD29E-95B3-7F35-D6D3-821956A84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85E892-0A91-3F8D-C047-4EF16A7C1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9" y="2140612"/>
            <a:ext cx="7306695" cy="41153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CF11C3-B6BB-E143-0DB6-A5E43A938215}"/>
              </a:ext>
            </a:extLst>
          </p:cNvPr>
          <p:cNvSpPr txBox="1"/>
          <p:nvPr/>
        </p:nvSpPr>
        <p:spPr>
          <a:xfrm>
            <a:off x="8198285" y="3015641"/>
            <a:ext cx="364507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Spark takes our driver program, i.e. our scripts, and figures how best to distribute the work</a:t>
            </a:r>
          </a:p>
          <a:p>
            <a:endParaRPr lang="en-US" dirty="0"/>
          </a:p>
          <a:p>
            <a:r>
              <a:rPr lang="en-US" dirty="0"/>
              <a:t>Has built-in cluster manager, but we can also use Amazon EMR (Elastic MapReduce)  </a:t>
            </a:r>
          </a:p>
        </p:txBody>
      </p:sp>
    </p:spTree>
    <p:extLst>
      <p:ext uri="{BB962C8B-B14F-4D97-AF65-F5344CB8AC3E}">
        <p14:creationId xmlns:p14="http://schemas.microsoft.com/office/powerpoint/2010/main" val="30113821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8DE1D-6A30-759A-692A-234158B93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Spark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426E4-B24C-807F-5B61-B12FFEAE2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16482"/>
            <a:ext cx="11029615" cy="1221287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Spark streaming: analyze real-time data streams</a:t>
            </a:r>
          </a:p>
          <a:p>
            <a:r>
              <a:rPr lang="en-US" dirty="0"/>
              <a:t>Spark SQL: run SQL on top of Spark </a:t>
            </a:r>
          </a:p>
          <a:p>
            <a:r>
              <a:rPr lang="en-US" dirty="0" err="1"/>
              <a:t>MlLib</a:t>
            </a:r>
            <a:r>
              <a:rPr lang="en-US" dirty="0"/>
              <a:t>: library for simplifying machine learning tasks</a:t>
            </a:r>
          </a:p>
          <a:p>
            <a:r>
              <a:rPr lang="en-US" dirty="0" err="1"/>
              <a:t>GraphX</a:t>
            </a:r>
            <a:r>
              <a:rPr lang="en-US" dirty="0"/>
              <a:t>: Gain insights in data with many relationships/correlations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CB127A-4736-F529-FE41-110FD84BA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782" y="3297945"/>
            <a:ext cx="8478433" cy="285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4465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3C59B-621F-050B-2726-2F7751196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</a:t>
            </a:r>
            <a:r>
              <a:rPr lang="en-US" dirty="0" err="1"/>
              <a:t>Pyspark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E86BC-BF7C-EA47-516D-F00FE82A3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495877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+mj-lt"/>
              <a:buAutoNum type="arabicParenR"/>
            </a:pPr>
            <a:r>
              <a:rPr lang="en-US" dirty="0"/>
              <a:t>Your python code (the driver)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 err="1"/>
              <a:t>PySpark</a:t>
            </a:r>
            <a:r>
              <a:rPr lang="en-US" dirty="0"/>
              <a:t> API (</a:t>
            </a:r>
            <a:r>
              <a:rPr lang="en-US" dirty="0" err="1"/>
              <a:t>DataFrame</a:t>
            </a:r>
            <a:r>
              <a:rPr lang="en-US" dirty="0"/>
              <a:t>, SQL, RDD APIs)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/>
              <a:t>Py4J Bridge (Python-to-Java Communication)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/>
              <a:t>Spark JVM</a:t>
            </a:r>
          </a:p>
          <a:p>
            <a:pPr marL="666900" lvl="1" indent="-342900">
              <a:buFont typeface="+mj-lt"/>
              <a:buAutoNum type="arabicParenR"/>
            </a:pPr>
            <a:r>
              <a:rPr lang="en-US" dirty="0"/>
              <a:t>Optimizes queries via the Catalyst by building logical plans</a:t>
            </a:r>
          </a:p>
          <a:p>
            <a:pPr marL="666900" lvl="1" indent="-342900">
              <a:buFont typeface="+mj-lt"/>
              <a:buAutoNum type="arabicParenR"/>
            </a:pPr>
            <a:r>
              <a:rPr lang="en-US" dirty="0"/>
              <a:t>Schedules tasks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/>
              <a:t>Cluster Manager (optional but important)</a:t>
            </a:r>
          </a:p>
          <a:p>
            <a:pPr marL="666900" lvl="1" indent="-342900">
              <a:buFont typeface="+mj-lt"/>
              <a:buAutoNum type="arabicParenR"/>
            </a:pPr>
            <a:r>
              <a:rPr lang="en-US" dirty="0"/>
              <a:t>Standalone, YARN, Kubernetes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/>
              <a:t>Spark Executors (JVMs on the worker nodes)</a:t>
            </a:r>
          </a:p>
          <a:p>
            <a:pPr marL="666900" lvl="1" indent="-342900">
              <a:buFont typeface="+mj-lt"/>
              <a:buAutoNum type="arabicParenR"/>
            </a:pPr>
            <a:r>
              <a:rPr lang="en-US" dirty="0"/>
              <a:t>Execute tasks</a:t>
            </a:r>
          </a:p>
          <a:p>
            <a:pPr marL="666900" lvl="1" indent="-342900">
              <a:buFont typeface="+mj-lt"/>
              <a:buAutoNum type="arabicParenR"/>
            </a:pPr>
            <a:r>
              <a:rPr lang="en-US" dirty="0"/>
              <a:t>Store cached data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/>
              <a:t>Python workers (for Python UDFs and RDD operations)</a:t>
            </a:r>
          </a:p>
          <a:p>
            <a:pPr marL="666900" lvl="1" indent="-342900">
              <a:buFont typeface="+mj-lt"/>
              <a:buAutoNum type="arabicParenR"/>
            </a:pPr>
            <a:r>
              <a:rPr lang="en-US" dirty="0"/>
              <a:t>Spawned by executors when Python code must run </a:t>
            </a:r>
          </a:p>
          <a:p>
            <a:pPr marL="342900" indent="-342900">
              <a:buFont typeface="+mj-lt"/>
              <a:buAutoNum type="arabicParenR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0171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3674B-0283-2556-4220-31738C4D1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RDD – The Resilient Distributed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CFED0-C127-20DA-C21B-9DDE97623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10428"/>
            <a:ext cx="11029615" cy="4753628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Resilient Distributed Dataset (RDD)</a:t>
            </a:r>
            <a:r>
              <a:rPr lang="en-US" dirty="0"/>
              <a:t> is the fundamental data structure in </a:t>
            </a:r>
            <a:r>
              <a:rPr lang="en-US" b="1" dirty="0"/>
              <a:t>Apache Spark</a:t>
            </a:r>
            <a:r>
              <a:rPr lang="en-US" dirty="0"/>
              <a:t>. It is an </a:t>
            </a:r>
            <a:r>
              <a:rPr lang="en-US" b="1" dirty="0"/>
              <a:t>immutable, distributed collection of objects</a:t>
            </a:r>
            <a:r>
              <a:rPr lang="en-US" dirty="0"/>
              <a:t> that can be processed in parallel across a cluster of computers. (</a:t>
            </a:r>
            <a:r>
              <a:rPr lang="en-US" dirty="0" err="1"/>
              <a:t>DataFrame</a:t>
            </a:r>
            <a:r>
              <a:rPr lang="en-US" dirty="0"/>
              <a:t> API is typically </a:t>
            </a:r>
            <a:r>
              <a:rPr lang="en-US" dirty="0" err="1"/>
              <a:t>prefferred</a:t>
            </a:r>
            <a:r>
              <a:rPr lang="en-US" dirty="0"/>
              <a:t>)</a:t>
            </a:r>
          </a:p>
          <a:p>
            <a:pPr lvl="1"/>
            <a:r>
              <a:rPr lang="en-US" b="1" dirty="0"/>
              <a:t>Resilient</a:t>
            </a:r>
            <a:endParaRPr lang="en-US" dirty="0"/>
          </a:p>
          <a:p>
            <a:pPr lvl="2"/>
            <a:r>
              <a:rPr lang="en-US" dirty="0"/>
              <a:t>RDDs are fault-tolerant. </a:t>
            </a:r>
          </a:p>
          <a:p>
            <a:pPr lvl="2"/>
            <a:r>
              <a:rPr lang="en-US" dirty="0"/>
              <a:t>If a partition is lost due to a node failure, Spark can automatically reconstruct it using the lineage (the sequence of transformations used to create the RDD).</a:t>
            </a:r>
          </a:p>
          <a:p>
            <a:pPr lvl="1"/>
            <a:r>
              <a:rPr lang="en-US" b="1" dirty="0"/>
              <a:t>Distributed</a:t>
            </a:r>
            <a:endParaRPr lang="en-US" dirty="0"/>
          </a:p>
          <a:p>
            <a:pPr lvl="2"/>
            <a:r>
              <a:rPr lang="en-US" dirty="0"/>
              <a:t>Data is split into partitions and stored across multiple nodes in a cluster. </a:t>
            </a:r>
          </a:p>
          <a:p>
            <a:pPr lvl="2"/>
            <a:r>
              <a:rPr lang="en-US" dirty="0"/>
              <a:t>This enables parallel processing of large datasets.</a:t>
            </a:r>
          </a:p>
          <a:p>
            <a:pPr lvl="1"/>
            <a:r>
              <a:rPr lang="en-US" b="1" dirty="0"/>
              <a:t>Immutable</a:t>
            </a:r>
            <a:endParaRPr lang="en-US" dirty="0"/>
          </a:p>
          <a:p>
            <a:pPr lvl="2"/>
            <a:r>
              <a:rPr lang="en-US" dirty="0"/>
              <a:t>Once an RDD is created, it cannot be modified. </a:t>
            </a:r>
          </a:p>
          <a:p>
            <a:pPr lvl="2"/>
            <a:r>
              <a:rPr lang="en-US" dirty="0"/>
              <a:t>Operations on an RDD create a new RDD rather than changing the existing one.</a:t>
            </a:r>
          </a:p>
          <a:p>
            <a:pPr lvl="1"/>
            <a:r>
              <a:rPr lang="en-US" b="1" dirty="0"/>
              <a:t>Lazy Evaluation</a:t>
            </a:r>
            <a:endParaRPr lang="en-US" dirty="0"/>
          </a:p>
          <a:p>
            <a:pPr lvl="2"/>
            <a:r>
              <a:rPr lang="en-US" dirty="0"/>
              <a:t>Transformations (such as map() and filter()) are not executed immediately. </a:t>
            </a:r>
          </a:p>
          <a:p>
            <a:pPr lvl="2"/>
            <a:r>
              <a:rPr lang="en-US" dirty="0"/>
              <a:t>Spark builds a logical execution plan and performs the computation only when an action is called.</a:t>
            </a:r>
          </a:p>
          <a:p>
            <a:pPr lvl="1"/>
            <a:r>
              <a:rPr lang="en-US" b="1" dirty="0"/>
              <a:t>Parallel Processing</a:t>
            </a:r>
            <a:endParaRPr lang="en-US" dirty="0"/>
          </a:p>
          <a:p>
            <a:pPr lvl="2"/>
            <a:r>
              <a:rPr lang="en-US" dirty="0"/>
              <a:t>Multiple partitions can be processed simultaneously, improving performance for big data workloads.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4155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655E0-0B21-93C2-496F-D369BA4DD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Sparkcontext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F0370-5519-D24C-E40E-CC5186487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368962" cy="3678303"/>
          </a:xfrm>
        </p:spPr>
        <p:txBody>
          <a:bodyPr/>
          <a:lstStyle/>
          <a:p>
            <a:r>
              <a:rPr lang="en-US" dirty="0"/>
              <a:t>Created by our driver program</a:t>
            </a:r>
          </a:p>
          <a:p>
            <a:r>
              <a:rPr lang="en-US" dirty="0"/>
              <a:t>Is responsible for making RDDs resilient and distributed</a:t>
            </a:r>
          </a:p>
          <a:p>
            <a:r>
              <a:rPr lang="en-US" dirty="0"/>
              <a:t>Creates RDDs</a:t>
            </a:r>
          </a:p>
          <a:p>
            <a:r>
              <a:rPr lang="en-US" dirty="0"/>
              <a:t>The spark shell creates an ‘</a:t>
            </a:r>
            <a:r>
              <a:rPr lang="en-US" dirty="0" err="1"/>
              <a:t>sc</a:t>
            </a:r>
            <a:r>
              <a:rPr lang="en-US" dirty="0"/>
              <a:t>’ object for us</a:t>
            </a:r>
          </a:p>
          <a:p>
            <a:pPr lvl="1"/>
            <a:r>
              <a:rPr lang="en-US" dirty="0"/>
              <a:t>I.e. when we run ‘</a:t>
            </a:r>
            <a:r>
              <a:rPr lang="en-US" dirty="0" err="1"/>
              <a:t>pyspark</a:t>
            </a:r>
            <a:r>
              <a:rPr lang="en-US" dirty="0"/>
              <a:t>’ from our CLI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2F2DE8-2403-4F1A-3015-D05FAE576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8286" y="2962872"/>
            <a:ext cx="5982521" cy="2179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1213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50B94-9370-5F85-FFC4-2B2030F09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</a:t>
            </a:r>
            <a:r>
              <a:rPr lang="en-US" dirty="0" err="1"/>
              <a:t>Rdd’s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68FBA-A328-7D02-CA62-BD4F67E52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60324"/>
            <a:ext cx="11029615" cy="4521896"/>
          </a:xfrm>
        </p:spPr>
        <p:txBody>
          <a:bodyPr>
            <a:normAutofit/>
          </a:bodyPr>
          <a:lstStyle/>
          <a:p>
            <a:r>
              <a:rPr lang="en-US" dirty="0" err="1"/>
              <a:t>nums</a:t>
            </a:r>
            <a:r>
              <a:rPr lang="en-US" dirty="0"/>
              <a:t> = parallelize([1, 2, 3, 4])</a:t>
            </a:r>
          </a:p>
          <a:p>
            <a:r>
              <a:rPr lang="en-US" dirty="0" err="1"/>
              <a:t>sc.textFile</a:t>
            </a:r>
            <a:r>
              <a:rPr lang="en-US" dirty="0"/>
              <a:t>(“file:///c:/users/ethan/something.txt”)</a:t>
            </a:r>
          </a:p>
          <a:p>
            <a:pPr lvl="1"/>
            <a:r>
              <a:rPr lang="en-US" dirty="0"/>
              <a:t>OR: s3n:// OR hdfs://</a:t>
            </a:r>
          </a:p>
          <a:p>
            <a:r>
              <a:rPr lang="en-US" dirty="0" err="1"/>
              <a:t>hiveCtx</a:t>
            </a:r>
            <a:r>
              <a:rPr lang="en-US" dirty="0"/>
              <a:t> = </a:t>
            </a:r>
            <a:r>
              <a:rPr lang="en-US" dirty="0" err="1"/>
              <a:t>HiveContext</a:t>
            </a:r>
            <a:r>
              <a:rPr lang="en-US" dirty="0"/>
              <a:t>(</a:t>
            </a:r>
            <a:r>
              <a:rPr lang="en-US" dirty="0" err="1"/>
              <a:t>sc</a:t>
            </a:r>
            <a:r>
              <a:rPr lang="en-US" dirty="0"/>
              <a:t>) rows = </a:t>
            </a:r>
            <a:r>
              <a:rPr lang="en-US" dirty="0" err="1"/>
              <a:t>hiveCtx.sql</a:t>
            </a:r>
            <a:r>
              <a:rPr lang="en-US" dirty="0"/>
              <a:t>(“SELECT name, age FROM users”)</a:t>
            </a:r>
          </a:p>
          <a:p>
            <a:r>
              <a:rPr lang="en-US" dirty="0"/>
              <a:t>Can also create from:</a:t>
            </a:r>
          </a:p>
          <a:p>
            <a:pPr lvl="1"/>
            <a:r>
              <a:rPr lang="en-US" dirty="0"/>
              <a:t>JDBC</a:t>
            </a:r>
          </a:p>
          <a:p>
            <a:pPr lvl="1"/>
            <a:r>
              <a:rPr lang="en-US" dirty="0"/>
              <a:t>Cassandra</a:t>
            </a:r>
          </a:p>
          <a:p>
            <a:pPr lvl="1"/>
            <a:r>
              <a:rPr lang="en-US" dirty="0" err="1"/>
              <a:t>Hbase</a:t>
            </a:r>
            <a:endParaRPr lang="en-US" dirty="0"/>
          </a:p>
          <a:p>
            <a:pPr lvl="1"/>
            <a:r>
              <a:rPr lang="en-US" dirty="0" err="1"/>
              <a:t>Elastisearch</a:t>
            </a:r>
            <a:endParaRPr lang="en-US" dirty="0"/>
          </a:p>
          <a:p>
            <a:pPr lvl="1"/>
            <a:r>
              <a:rPr lang="en-US" dirty="0"/>
              <a:t>JSON, CSV, sequence files, object files, various compressed formats</a:t>
            </a:r>
          </a:p>
        </p:txBody>
      </p:sp>
    </p:spTree>
    <p:extLst>
      <p:ext uri="{BB962C8B-B14F-4D97-AF65-F5344CB8AC3E}">
        <p14:creationId xmlns:p14="http://schemas.microsoft.com/office/powerpoint/2010/main" val="22530229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154E8-B8BE-A0B9-570E-CA8D7B269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Transforming RDD’s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A28A6-1DF1-1398-EB8D-1056F34B7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7266364" cy="367830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Transformations will produce a new RDD </a:t>
            </a:r>
          </a:p>
          <a:p>
            <a:r>
              <a:rPr lang="en-US" dirty="0"/>
              <a:t>Not a complete list (but most common):</a:t>
            </a:r>
          </a:p>
          <a:p>
            <a:pPr lvl="1"/>
            <a:r>
              <a:rPr lang="en-US" dirty="0"/>
              <a:t>map – give a function that transforms each entry in RDD</a:t>
            </a:r>
          </a:p>
          <a:p>
            <a:pPr lvl="1"/>
            <a:r>
              <a:rPr lang="en-US" dirty="0" err="1"/>
              <a:t>mapValues</a:t>
            </a:r>
            <a:r>
              <a:rPr lang="en-US" dirty="0"/>
              <a:t> – same as above but may only act on the values, keys unaffected (but still returned)</a:t>
            </a:r>
          </a:p>
          <a:p>
            <a:pPr lvl="1"/>
            <a:r>
              <a:rPr lang="en-US" dirty="0" err="1"/>
              <a:t>flatmap</a:t>
            </a:r>
            <a:r>
              <a:rPr lang="en-US" dirty="0"/>
              <a:t> /</a:t>
            </a:r>
            <a:r>
              <a:rPr lang="en-US" dirty="0" err="1"/>
              <a:t>flatMapValues</a:t>
            </a:r>
            <a:r>
              <a:rPr lang="en-US" dirty="0"/>
              <a:t> – similar to map, but can produce multiple values or none for every entry</a:t>
            </a:r>
          </a:p>
          <a:p>
            <a:pPr lvl="1"/>
            <a:r>
              <a:rPr lang="en-US" dirty="0"/>
              <a:t>filter – get an RDD with values filtered out </a:t>
            </a:r>
          </a:p>
          <a:p>
            <a:pPr lvl="1"/>
            <a:r>
              <a:rPr lang="en-US" dirty="0"/>
              <a:t>distinct – get unique values in RDD and throw away duplicates</a:t>
            </a:r>
          </a:p>
          <a:p>
            <a:pPr lvl="1"/>
            <a:r>
              <a:rPr lang="en-US" dirty="0"/>
              <a:t>sample – get smaller sub-dataset from RDD</a:t>
            </a:r>
          </a:p>
          <a:p>
            <a:pPr lvl="1"/>
            <a:r>
              <a:rPr lang="en-US" dirty="0"/>
              <a:t>union, intersection, subtract, cartesian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A83484-039B-24F3-A4D0-5140ACEF8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1752" y="3069935"/>
            <a:ext cx="3543795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224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F3A55-4E45-E201-2C5D-5A08C19E9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Lambdas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7FBC5C-22BB-5F7D-4CE1-31098616A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3864" y="2434531"/>
            <a:ext cx="5344271" cy="248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5442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C1B9A-7880-3637-6AB1-600F1E7DE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Actions on </a:t>
            </a:r>
            <a:r>
              <a:rPr lang="en-US" dirty="0" err="1"/>
              <a:t>Rdd’s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A63BC-2B38-E7F7-D96F-2AA3847B80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collect – returns all data from the RDD to the driver as a list.</a:t>
            </a:r>
          </a:p>
          <a:p>
            <a:r>
              <a:rPr lang="en-US" dirty="0"/>
              <a:t>count – returns the total number of elements in the RDD.</a:t>
            </a:r>
          </a:p>
          <a:p>
            <a:r>
              <a:rPr lang="en-US" dirty="0" err="1"/>
              <a:t>countByValue</a:t>
            </a:r>
            <a:r>
              <a:rPr lang="en-US" dirty="0"/>
              <a:t> – returns a dictionary of {value: count} showing how many times each unique value appears in the RDD.</a:t>
            </a:r>
          </a:p>
          <a:p>
            <a:r>
              <a:rPr lang="en-US" dirty="0"/>
              <a:t>take – returns the first n elements of the RDD as a list.</a:t>
            </a:r>
          </a:p>
          <a:p>
            <a:r>
              <a:rPr lang="en-US" dirty="0"/>
              <a:t>top – returns the largest n elements in the RDD according to the default or specified ordering.</a:t>
            </a:r>
          </a:p>
          <a:p>
            <a:r>
              <a:rPr lang="en-US" dirty="0"/>
              <a:t>reduce – aggregates all elements of the RDD into a single value by repeatedly applying a user-defined binary function (e.g., summing all numbers)</a:t>
            </a:r>
          </a:p>
        </p:txBody>
      </p:sp>
    </p:spTree>
    <p:extLst>
      <p:ext uri="{BB962C8B-B14F-4D97-AF65-F5344CB8AC3E}">
        <p14:creationId xmlns:p14="http://schemas.microsoft.com/office/powerpoint/2010/main" val="9855223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12179-6242-16D0-EFCE-D7A6F9B78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Breakdown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E20D5-86F9-8D78-DC1E-C47A7A71C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3952" y="2187811"/>
            <a:ext cx="4705258" cy="442593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We import what we need </a:t>
            </a:r>
          </a:p>
          <a:p>
            <a:r>
              <a:rPr lang="en-US" dirty="0" err="1"/>
              <a:t>SparkConf</a:t>
            </a:r>
            <a:r>
              <a:rPr lang="en-US" dirty="0"/>
              <a:t> helps setup our configuration for the </a:t>
            </a:r>
            <a:r>
              <a:rPr lang="en-US" dirty="0" err="1"/>
              <a:t>SparkContext</a:t>
            </a:r>
            <a:endParaRPr lang="en-US" dirty="0"/>
          </a:p>
          <a:p>
            <a:pPr lvl="1"/>
            <a:r>
              <a:rPr lang="en-US" dirty="0" err="1"/>
              <a:t>setMaster</a:t>
            </a:r>
            <a:r>
              <a:rPr lang="en-US" dirty="0"/>
              <a:t>(“local”) – run locally as opposed to in a cluster in the cloud for example </a:t>
            </a:r>
          </a:p>
          <a:p>
            <a:pPr lvl="1"/>
            <a:r>
              <a:rPr lang="en-US" dirty="0" err="1"/>
              <a:t>setAppName</a:t>
            </a:r>
            <a:r>
              <a:rPr lang="en-US" dirty="0"/>
              <a:t>() – gives our process a name; best practice</a:t>
            </a:r>
          </a:p>
          <a:p>
            <a:r>
              <a:rPr lang="en-US" dirty="0"/>
              <a:t>lines = RDD made from </a:t>
            </a:r>
            <a:r>
              <a:rPr lang="en-US" dirty="0" err="1"/>
              <a:t>sc.textFile</a:t>
            </a:r>
            <a:r>
              <a:rPr lang="en-US" dirty="0"/>
              <a:t>()</a:t>
            </a:r>
          </a:p>
          <a:p>
            <a:r>
              <a:rPr lang="en-US" dirty="0"/>
              <a:t>ratings = RDD made from </a:t>
            </a:r>
            <a:r>
              <a:rPr lang="en-US" dirty="0" err="1"/>
              <a:t>lines.map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Split() returns list of elements in-between whitespace/tabs/newlines/etc. </a:t>
            </a:r>
          </a:p>
          <a:p>
            <a:pPr lvl="1"/>
            <a:r>
              <a:rPr lang="en-US" dirty="0"/>
              <a:t>lines (each row) = </a:t>
            </a:r>
            <a:r>
              <a:rPr lang="en-US" dirty="0" err="1"/>
              <a:t>UserId</a:t>
            </a:r>
            <a:r>
              <a:rPr lang="en-US" dirty="0"/>
              <a:t>, </a:t>
            </a:r>
            <a:r>
              <a:rPr lang="en-US" dirty="0" err="1"/>
              <a:t>MovieId</a:t>
            </a:r>
            <a:r>
              <a:rPr lang="en-US" dirty="0"/>
              <a:t>, Rating, Timestamp </a:t>
            </a:r>
          </a:p>
          <a:p>
            <a:r>
              <a:rPr lang="en-US" dirty="0"/>
              <a:t>result is a python </a:t>
            </a:r>
            <a:r>
              <a:rPr lang="en-US" dirty="0" err="1"/>
              <a:t>dict</a:t>
            </a:r>
            <a:r>
              <a:rPr lang="en-US" dirty="0"/>
              <a:t>, so we can call items() against it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A5D859-CACB-3CBC-C9EE-0ED0F0370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5" y="4415986"/>
            <a:ext cx="4902245" cy="23814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7969E8-43C9-E836-A2FD-65439B43B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404" y="2127176"/>
            <a:ext cx="5859086" cy="2134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5599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C08FA-D042-8238-DC15-36E244C43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B8F00-1A6F-88E1-FC05-DD1C7B18B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Breakdown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4F4DED-2BA8-B201-0B18-7FDDF4F7F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0561" y="2894043"/>
            <a:ext cx="4229690" cy="242921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EED5EF5-6A4B-5573-EFC4-3DD03B6B9C3E}"/>
              </a:ext>
            </a:extLst>
          </p:cNvPr>
          <p:cNvSpPr txBox="1"/>
          <p:nvPr/>
        </p:nvSpPr>
        <p:spPr>
          <a:xfrm>
            <a:off x="6708944" y="2150669"/>
            <a:ext cx="4901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an Action, NOT a transformation, so we don’t get back an RDD, we get values </a:t>
            </a:r>
            <a:r>
              <a:rPr lang="en-US" dirty="0" err="1"/>
              <a:t>Dict</a:t>
            </a:r>
            <a:r>
              <a:rPr lang="en-US" dirty="0"/>
              <a:t>[str, int]: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557ADFF-8993-E860-A165-2319F6E04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149" y="2965753"/>
            <a:ext cx="6275228" cy="2285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9622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A1754-EF5A-C139-CFAA-D750CEB40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06D83-F0BF-39A3-F2ED-8B93E726C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Breakdown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2DE0F8-1CD7-FE62-2C94-BFB657FD2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366" y="2836886"/>
            <a:ext cx="6707650" cy="24433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29FC5E-E09C-3D0A-80FF-EE001E3A9DF3}"/>
              </a:ext>
            </a:extLst>
          </p:cNvPr>
          <p:cNvSpPr txBox="1"/>
          <p:nvPr/>
        </p:nvSpPr>
        <p:spPr>
          <a:xfrm>
            <a:off x="7221688" y="3100233"/>
            <a:ext cx="45939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Items() returns a set of tuples: (rating, count)</a:t>
            </a:r>
          </a:p>
          <a:p>
            <a:endParaRPr lang="en-US" dirty="0"/>
          </a:p>
          <a:p>
            <a:r>
              <a:rPr lang="en-US" dirty="0"/>
              <a:t>key: provided lambda to sort on the second column (rating counts)</a:t>
            </a:r>
          </a:p>
          <a:p>
            <a:endParaRPr lang="en-US" dirty="0"/>
          </a:p>
          <a:p>
            <a:r>
              <a:rPr lang="en-US" dirty="0"/>
              <a:t>reverse: set to true to sort in descending order</a:t>
            </a:r>
          </a:p>
        </p:txBody>
      </p:sp>
    </p:spTree>
    <p:extLst>
      <p:ext uri="{BB962C8B-B14F-4D97-AF65-F5344CB8AC3E}">
        <p14:creationId xmlns:p14="http://schemas.microsoft.com/office/powerpoint/2010/main" val="8850649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1D961-9397-0E16-E31A-8C9698A79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Spark-submit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41B4E0-5C9F-5A9B-53D1-5C4F2C10B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030" y="2871707"/>
            <a:ext cx="7106642" cy="2572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8337B6-A206-C9EE-F211-A288F9AAB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6596" y="2443023"/>
            <a:ext cx="828791" cy="11145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8D890F-3D7E-D42D-C066-C2D16B5AE2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4600" y="4048638"/>
            <a:ext cx="6982799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4848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3ABE6-62BC-5FFE-2A0C-F7D92E198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/ Value RDD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6CC7C-5A38-B044-4C76-C9316122B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4264220"/>
            <a:ext cx="11029615" cy="2534717"/>
          </a:xfrm>
        </p:spPr>
        <p:txBody>
          <a:bodyPr/>
          <a:lstStyle/>
          <a:p>
            <a:r>
              <a:rPr lang="en-US" dirty="0" err="1"/>
              <a:t>reduceByKey</a:t>
            </a:r>
            <a:r>
              <a:rPr lang="en-US" dirty="0"/>
              <a:t>(): combine values with the same key using some function</a:t>
            </a:r>
          </a:p>
          <a:p>
            <a:pPr lvl="1"/>
            <a:r>
              <a:rPr lang="en-US" dirty="0" err="1"/>
              <a:t>rdd.reduceByKey</a:t>
            </a:r>
            <a:r>
              <a:rPr lang="en-US" dirty="0"/>
              <a:t>(lambda x, y: x + y) </a:t>
            </a:r>
            <a:r>
              <a:rPr lang="en-US" dirty="0">
                <a:sym typeface="Wingdings" panose="05000000000000000000" pitchFamily="2" charset="2"/>
              </a:rPr>
              <a:t> x is the accumulator; y is current value</a:t>
            </a:r>
            <a:endParaRPr lang="en-US" dirty="0"/>
          </a:p>
          <a:p>
            <a:r>
              <a:rPr lang="en-US" dirty="0" err="1"/>
              <a:t>groupByKey</a:t>
            </a:r>
            <a:r>
              <a:rPr lang="en-US" dirty="0"/>
              <a:t>(): group values with the same key (no reduction/accumulation)</a:t>
            </a:r>
          </a:p>
          <a:p>
            <a:r>
              <a:rPr lang="en-US" dirty="0" err="1"/>
              <a:t>sortByKey</a:t>
            </a:r>
            <a:r>
              <a:rPr lang="en-US" dirty="0"/>
              <a:t>(): sort RDD by key values</a:t>
            </a:r>
          </a:p>
          <a:p>
            <a:r>
              <a:rPr lang="en-US" dirty="0"/>
              <a:t>keys(), values(): create an RDD of just the keys, or just the values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C741B7-5FE4-F9D0-E4C7-DFE8C13F8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601" y="2428691"/>
            <a:ext cx="5068007" cy="15051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20BCA6-4E8E-672E-1114-72A1C3E0F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016" y="2721299"/>
            <a:ext cx="2295845" cy="15432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8FB4B3-18D7-A368-0A51-D4F88E2BDDE4}"/>
              </a:ext>
            </a:extLst>
          </p:cNvPr>
          <p:cNvSpPr txBox="1"/>
          <p:nvPr/>
        </p:nvSpPr>
        <p:spPr>
          <a:xfrm>
            <a:off x="7268283" y="2020591"/>
            <a:ext cx="3536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Key / Value RDDs are a list of tuples that have at least 2 elements:</a:t>
            </a:r>
          </a:p>
        </p:txBody>
      </p:sp>
    </p:spTree>
    <p:extLst>
      <p:ext uri="{BB962C8B-B14F-4D97-AF65-F5344CB8AC3E}">
        <p14:creationId xmlns:p14="http://schemas.microsoft.com/office/powerpoint/2010/main" val="13382891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BF23E-EC58-CB61-43F3-943F3DEB9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SQL-style Joins on 2 key/value RDD’s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63C91-2419-D7EA-18D0-3A6D1776D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join, </a:t>
            </a:r>
            <a:r>
              <a:rPr lang="en-US" dirty="0" err="1"/>
              <a:t>rightOuterJoin</a:t>
            </a:r>
            <a:r>
              <a:rPr lang="en-US" dirty="0"/>
              <a:t>, </a:t>
            </a:r>
            <a:r>
              <a:rPr lang="en-US" dirty="0" err="1"/>
              <a:t>leftOuterJoin</a:t>
            </a:r>
            <a:r>
              <a:rPr lang="en-US" dirty="0"/>
              <a:t>, cogroup, </a:t>
            </a:r>
            <a:r>
              <a:rPr lang="en-US" dirty="0" err="1"/>
              <a:t>subtractByKey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0725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F7AE5-BD1D-9A58-144C-A0E91B3C7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RDD 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19C3A-CE1F-0FF6-CADD-6849436BC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key/value data, use </a:t>
            </a:r>
            <a:r>
              <a:rPr lang="en-US" dirty="0" err="1"/>
              <a:t>mapValues</a:t>
            </a:r>
            <a:r>
              <a:rPr lang="en-US" dirty="0"/>
              <a:t>() and </a:t>
            </a:r>
            <a:r>
              <a:rPr lang="en-US" dirty="0" err="1"/>
              <a:t>flatMapValues</a:t>
            </a:r>
            <a:r>
              <a:rPr lang="en-US" dirty="0"/>
              <a:t>() if your transformation doesn’t affect the keys</a:t>
            </a:r>
          </a:p>
          <a:p>
            <a:r>
              <a:rPr lang="en-US" dirty="0"/>
              <a:t>The key will still exist, we just won’t have edit access</a:t>
            </a:r>
          </a:p>
          <a:p>
            <a:r>
              <a:rPr lang="en-US" dirty="0"/>
              <a:t>It’s more performant under the hood</a:t>
            </a:r>
          </a:p>
        </p:txBody>
      </p:sp>
    </p:spTree>
    <p:extLst>
      <p:ext uri="{BB962C8B-B14F-4D97-AF65-F5344CB8AC3E}">
        <p14:creationId xmlns:p14="http://schemas.microsoft.com/office/powerpoint/2010/main" val="20378410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86527-7131-2338-6F4C-31F6DFA92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PrettyTable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7D500-9BFF-563C-07B2-0D7EBDEF1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537" y="2371930"/>
            <a:ext cx="8206924" cy="31712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8A8F5E-884E-F631-FCCC-D3D8EDEE8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6574" y="5917686"/>
            <a:ext cx="6458851" cy="23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3381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5D198-B1EC-B48F-0BE9-DEC9F8749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Friends by Age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919EE-395C-644A-EE2B-2CE53C4BA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147" y="2202442"/>
            <a:ext cx="5300229" cy="3678303"/>
          </a:xfrm>
        </p:spPr>
        <p:txBody>
          <a:bodyPr/>
          <a:lstStyle/>
          <a:p>
            <a:r>
              <a:rPr lang="en-US" dirty="0"/>
              <a:t>Input data: ID, name, age, number of friends</a:t>
            </a:r>
          </a:p>
          <a:p>
            <a:r>
              <a:rPr lang="en-US" dirty="0"/>
              <a:t>0,Will,33,385</a:t>
            </a:r>
          </a:p>
          <a:p>
            <a:r>
              <a:rPr lang="en-US" dirty="0"/>
              <a:t>1,Jean-Luc,33,2</a:t>
            </a:r>
          </a:p>
          <a:p>
            <a:r>
              <a:rPr lang="en-US" dirty="0"/>
              <a:t>2,Hugh,55,221</a:t>
            </a:r>
          </a:p>
          <a:p>
            <a:r>
              <a:rPr lang="en-US" dirty="0"/>
              <a:t>3,Deanna,40,465</a:t>
            </a:r>
          </a:p>
          <a:p>
            <a:r>
              <a:rPr lang="en-US" dirty="0"/>
              <a:t>4,Quark,68,21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41E1B5-7C02-E077-9877-043711BF2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148" y="2301386"/>
            <a:ext cx="3748589" cy="367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1949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81CB1-41C8-E2C2-C98E-EC4BC527D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Friends by age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E7AA68-792B-9592-6BB2-89FCF0964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347" y="2114092"/>
            <a:ext cx="4083502" cy="42747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F24D4F-1068-F559-42CC-7CB241F75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0862" y="2556094"/>
            <a:ext cx="5889946" cy="3390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4798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F3729-60D9-F4E4-6078-0B22E9191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Filter() – 1800s </a:t>
            </a:r>
            <a:r>
              <a:rPr lang="en-US" dirty="0" err="1"/>
              <a:t>weatherstation</a:t>
            </a:r>
            <a:r>
              <a:rPr lang="en-US" dirty="0"/>
              <a:t>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63D6B-B5E2-FE96-7657-4D84FF987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651358" cy="3678303"/>
          </a:xfrm>
        </p:spPr>
        <p:txBody>
          <a:bodyPr/>
          <a:lstStyle/>
          <a:p>
            <a:r>
              <a:rPr lang="en-US" dirty="0"/>
              <a:t>filter() removes data from your RDD</a:t>
            </a:r>
          </a:p>
          <a:p>
            <a:r>
              <a:rPr lang="en-US" dirty="0"/>
              <a:t>Takes a function that returns a Boolean</a:t>
            </a:r>
          </a:p>
          <a:p>
            <a:endParaRPr lang="en-US" dirty="0"/>
          </a:p>
          <a:p>
            <a:r>
              <a:rPr lang="en-US" dirty="0" err="1"/>
              <a:t>minTemps</a:t>
            </a:r>
            <a:r>
              <a:rPr lang="en-US" dirty="0"/>
              <a:t> = </a:t>
            </a:r>
            <a:r>
              <a:rPr lang="en-US" dirty="0" err="1"/>
              <a:t>parsedLines.filter</a:t>
            </a:r>
            <a:r>
              <a:rPr lang="en-US" dirty="0"/>
              <a:t>(lambda x: ‘TMIN’ in x[1])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3ACD95-6294-8F7C-850D-B78E4F0AC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4887" y="2867284"/>
            <a:ext cx="4474969" cy="22963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DB9AEF-8D52-C2EC-C7ED-D105E0A23760}"/>
              </a:ext>
            </a:extLst>
          </p:cNvPr>
          <p:cNvSpPr txBox="1"/>
          <p:nvPr/>
        </p:nvSpPr>
        <p:spPr>
          <a:xfrm>
            <a:off x="5926238" y="2550020"/>
            <a:ext cx="568456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/>
              <a:t>WeatherStationID</a:t>
            </a:r>
            <a:r>
              <a:rPr lang="en-US" sz="1100" dirty="0"/>
              <a:t>, Date, </a:t>
            </a:r>
            <a:r>
              <a:rPr lang="en-US" sz="1100" dirty="0" err="1"/>
              <a:t>ObservationType</a:t>
            </a:r>
            <a:r>
              <a:rPr lang="en-US" sz="1100" dirty="0"/>
              <a:t>, </a:t>
            </a:r>
            <a:r>
              <a:rPr lang="en-US" sz="1100" dirty="0" err="1"/>
              <a:t>ObservationValue</a:t>
            </a:r>
            <a:r>
              <a:rPr lang="en-US" sz="1100" dirty="0"/>
              <a:t> (tenth degree C), (ignore others)</a:t>
            </a:r>
          </a:p>
        </p:txBody>
      </p:sp>
    </p:spTree>
    <p:extLst>
      <p:ext uri="{BB962C8B-B14F-4D97-AF65-F5344CB8AC3E}">
        <p14:creationId xmlns:p14="http://schemas.microsoft.com/office/powerpoint/2010/main" val="31067600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1C12E-EE03-07B6-628A-F5D68830E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 Minimum Temps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3D1F8F-3DC3-74CB-AE6B-71E84C820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4977" y="2040940"/>
            <a:ext cx="4182046" cy="459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2546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C0702-1701-2863-CE2B-3366125CE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0AA22-6468-A7F3-80E5-29ABD4855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Find Maximum temps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DDB70-8B3E-348A-6D43-660332CC3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Find Maximum temps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6EF4AB-9166-6AC8-72C1-9D230A48CF2B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4BC2A5-694F-6A1A-4A92-31361BA9E2E5}"/>
              </a:ext>
            </a:extLst>
          </p:cNvPr>
          <p:cNvSpPr txBox="1"/>
          <p:nvPr/>
        </p:nvSpPr>
        <p:spPr>
          <a:xfrm>
            <a:off x="6949165" y="2402747"/>
            <a:ext cx="4661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5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838C9BE-8917-3014-CD8A-F83E7439D1DF}"/>
              </a:ext>
            </a:extLst>
          </p:cNvPr>
          <p:cNvSpPr txBox="1">
            <a:spLocks/>
          </p:cNvSpPr>
          <p:nvPr/>
        </p:nvSpPr>
        <p:spPr>
          <a:xfrm>
            <a:off x="6545749" y="2772079"/>
            <a:ext cx="4661642" cy="1681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Find maximum temps for each station</a:t>
            </a:r>
          </a:p>
        </p:txBody>
      </p:sp>
    </p:spTree>
    <p:extLst>
      <p:ext uri="{BB962C8B-B14F-4D97-AF65-F5344CB8AC3E}">
        <p14:creationId xmlns:p14="http://schemas.microsoft.com/office/powerpoint/2010/main" val="6506234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BFC18-8A71-D8CF-BCC9-B3B622C13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vs </a:t>
            </a:r>
            <a:r>
              <a:rPr lang="en-US" dirty="0" err="1"/>
              <a:t>Flatmap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E3009E-B480-AC20-D2C2-E532C26A6FC8}"/>
              </a:ext>
            </a:extLst>
          </p:cNvPr>
          <p:cNvSpPr txBox="1"/>
          <p:nvPr/>
        </p:nvSpPr>
        <p:spPr>
          <a:xfrm>
            <a:off x="3459271" y="3003114"/>
            <a:ext cx="527345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Map – returns single item for each entry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Wouldn’t be the choice here, each line is a single entry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 err="1"/>
              <a:t>flatmap</a:t>
            </a:r>
            <a:r>
              <a:rPr lang="en-US" dirty="0"/>
              <a:t> – possibly returns many items for each entry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For each entry (line), we can split() and get each word (multiple values per entry)</a:t>
            </a:r>
          </a:p>
        </p:txBody>
      </p:sp>
    </p:spTree>
    <p:extLst>
      <p:ext uri="{BB962C8B-B14F-4D97-AF65-F5344CB8AC3E}">
        <p14:creationId xmlns:p14="http://schemas.microsoft.com/office/powerpoint/2010/main" val="38679002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B0E96-8DD0-A449-28F0-044794CF7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Count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4C72E5-FDB2-DDF2-9576-FEE0E449A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183" y="2352214"/>
            <a:ext cx="5420481" cy="37819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878FD9-5C0A-4096-66B7-E680570D61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1510" y="2522980"/>
            <a:ext cx="4001058" cy="331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5738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FB6D2-A83F-5614-5D9A-F3714BD64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Normalization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812A0-B40A-0816-7599-1123184F6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963372"/>
            <a:ext cx="11029615" cy="1333055"/>
          </a:xfrm>
        </p:spPr>
        <p:txBody>
          <a:bodyPr/>
          <a:lstStyle/>
          <a:p>
            <a:r>
              <a:rPr lang="en-US" dirty="0"/>
              <a:t>Problem: word variants with different capitalization, punctuation, </a:t>
            </a:r>
            <a:r>
              <a:rPr lang="en-US" dirty="0" err="1"/>
              <a:t>etc</a:t>
            </a:r>
            <a:r>
              <a:rPr lang="en-US" dirty="0"/>
              <a:t> </a:t>
            </a:r>
          </a:p>
          <a:p>
            <a:r>
              <a:rPr lang="en-US" dirty="0"/>
              <a:t>There are fancy natural language processing toolkits like: natural language toolkit (NLTK)</a:t>
            </a:r>
          </a:p>
          <a:p>
            <a:r>
              <a:rPr lang="en-US" dirty="0"/>
              <a:t>But we’ll keep it simple, and use a regular expression to fix this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8A0461-CD21-6E07-0F3F-970F07661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7838" y="4993090"/>
            <a:ext cx="4096322" cy="46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9035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93DD0-54B0-4856-82AD-CB95C1C32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Improved Word Count Example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FC630F-FE35-EE84-B335-8D77DC78F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976769"/>
            <a:ext cx="4060712" cy="47648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FC6124-9272-841A-1271-8E660DFB0CE0}"/>
              </a:ext>
            </a:extLst>
          </p:cNvPr>
          <p:cNvSpPr txBox="1"/>
          <p:nvPr/>
        </p:nvSpPr>
        <p:spPr>
          <a:xfrm>
            <a:off x="6842819" y="2318317"/>
            <a:ext cx="423550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Creating a tokenized regex via compile() is ideal for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include Unicode support so we can also catch words with unique letters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á: U+00E1 (Alt + 0225)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é: U+00E9 (Alt + 0233)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í: U+00ED (Alt + 0237)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ó: U+00F3 (Alt + 0243)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ú: U+00FA (Alt + 0250)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ü: U+00FC (Alt + 0252)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ñ: U+00F1 (Alt + 0241)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Ñ: U+00D1 (Alt + 0209)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¡: U+00A1 (Alt + 0161)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¿: U+00BF (Alt + 0191) </a:t>
            </a:r>
          </a:p>
        </p:txBody>
      </p:sp>
    </p:spTree>
    <p:extLst>
      <p:ext uri="{BB962C8B-B14F-4D97-AF65-F5344CB8AC3E}">
        <p14:creationId xmlns:p14="http://schemas.microsoft.com/office/powerpoint/2010/main" val="38908246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17F64-EE97-52A6-F4EB-27C9995E5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 Word Count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0C2E5-5645-9EF6-E5F4-4FA855A67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77242"/>
            <a:ext cx="11029615" cy="3064803"/>
          </a:xfrm>
        </p:spPr>
        <p:txBody>
          <a:bodyPr/>
          <a:lstStyle/>
          <a:p>
            <a:r>
              <a:rPr lang="en-US" dirty="0" err="1"/>
              <a:t>countByValue</a:t>
            </a:r>
            <a:r>
              <a:rPr lang="en-US" dirty="0"/>
              <a:t>() returns a python </a:t>
            </a:r>
            <a:r>
              <a:rPr lang="en-US" dirty="0" err="1"/>
              <a:t>dict</a:t>
            </a:r>
            <a:r>
              <a:rPr lang="en-US" dirty="0"/>
              <a:t>, we could do sorting in-memory, but this isn’t scalable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Let’s instead use map() and </a:t>
            </a:r>
            <a:r>
              <a:rPr lang="en-US" dirty="0" err="1"/>
              <a:t>reduceByKey</a:t>
            </a:r>
            <a:r>
              <a:rPr lang="en-US" dirty="0"/>
              <a:t>() to recreate the same data in a RDD instead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40C816-C181-BA14-84F4-B70434AE6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261" y="5278375"/>
            <a:ext cx="6496957" cy="2762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691A49-C777-A88C-F97B-8A9EAA231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1342" y="3476274"/>
            <a:ext cx="3000794" cy="26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2295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E1D92-9404-0C1F-C7D1-615735394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 Word Count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35D9D0-7211-EA9F-D685-0A4D1B6BB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2536" y="1881033"/>
            <a:ext cx="4346927" cy="4911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3724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4AD96-FEFB-A57B-FC1A-293ACEC3D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2D6CB-733F-49D3-182B-33189F14F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Customer totals sorted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A0C62-D78C-21DE-CE4B-C51B00F13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8165" y="3245299"/>
            <a:ext cx="5317584" cy="1681246"/>
          </a:xfrm>
        </p:spPr>
        <p:txBody>
          <a:bodyPr/>
          <a:lstStyle/>
          <a:p>
            <a:r>
              <a:rPr lang="en-US" dirty="0"/>
              <a:t>Find and sort customer IDs and the total spent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B66207-A9BF-4842-8A2E-5EAE38B44463}"/>
              </a:ext>
            </a:extLst>
          </p:cNvPr>
          <p:cNvSpPr txBox="1"/>
          <p:nvPr/>
        </p:nvSpPr>
        <p:spPr>
          <a:xfrm>
            <a:off x="1228165" y="3429000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1760ED-2D71-F681-2A15-8A547EF0D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3466" y="2828248"/>
            <a:ext cx="2553056" cy="265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6115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76BB2-5769-992C-B4B2-8B6CDDC1E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Shuffling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80823-6ED8-8A08-CD61-F782015FF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6202380" cy="3678303"/>
          </a:xfrm>
        </p:spPr>
        <p:txBody>
          <a:bodyPr/>
          <a:lstStyle/>
          <a:p>
            <a:r>
              <a:rPr lang="en-US" b="1" dirty="0"/>
              <a:t>Shuffling</a:t>
            </a:r>
            <a:r>
              <a:rPr lang="en-US" dirty="0"/>
              <a:t> in </a:t>
            </a:r>
            <a:r>
              <a:rPr lang="en-US" b="1" dirty="0"/>
              <a:t>Apache Spark</a:t>
            </a:r>
            <a:r>
              <a:rPr lang="en-US" dirty="0"/>
              <a:t> is the process of </a:t>
            </a:r>
            <a:r>
              <a:rPr lang="en-US" b="1" dirty="0"/>
              <a:t>redistributing data across partitions</a:t>
            </a:r>
            <a:r>
              <a:rPr lang="en-US" dirty="0"/>
              <a:t> so that records with the same key (or related data) end up on the same executor or partition</a:t>
            </a:r>
          </a:p>
          <a:p>
            <a:r>
              <a:rPr lang="en-US" dirty="0"/>
              <a:t>It is one of the most expensive operations in Spark because it involves moving data over the network, writing intermediate data to disk, and sorting.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E6AFCB-E873-D9AE-EFE5-6A4BC2EC4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7749" y="2751953"/>
            <a:ext cx="4363059" cy="15242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4F99FDB-483A-B97A-34B8-6D5F91B084F1}"/>
              </a:ext>
            </a:extLst>
          </p:cNvPr>
          <p:cNvSpPr txBox="1"/>
          <p:nvPr/>
        </p:nvSpPr>
        <p:spPr>
          <a:xfrm>
            <a:off x="7247749" y="4573499"/>
            <a:ext cx="457908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Initially, records with key </a:t>
            </a:r>
            <a:r>
              <a:rPr lang="en-US" dirty="0">
                <a:latin typeface="Courier New" panose="02070309020205020404" pitchFamily="49" charset="0"/>
              </a:rPr>
              <a:t>"A"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</a:rPr>
              <a:t>"B"</a:t>
            </a:r>
            <a:r>
              <a:rPr lang="en-US" dirty="0"/>
              <a:t> may be spread across different partitions. Spark shuffles the data so all </a:t>
            </a:r>
            <a:r>
              <a:rPr lang="en-US" dirty="0">
                <a:latin typeface="Courier New" panose="02070309020205020404" pitchFamily="49" charset="0"/>
              </a:rPr>
              <a:t>"A"</a:t>
            </a:r>
            <a:r>
              <a:rPr lang="en-US" dirty="0"/>
              <a:t> records are together and all </a:t>
            </a:r>
            <a:r>
              <a:rPr lang="en-US" dirty="0">
                <a:latin typeface="Courier New" panose="02070309020205020404" pitchFamily="49" charset="0"/>
              </a:rPr>
              <a:t>"B"</a:t>
            </a:r>
            <a:r>
              <a:rPr lang="en-US" dirty="0"/>
              <a:t> records are together before performing the reduction.</a:t>
            </a:r>
          </a:p>
        </p:txBody>
      </p:sp>
    </p:spTree>
    <p:extLst>
      <p:ext uri="{BB962C8B-B14F-4D97-AF65-F5344CB8AC3E}">
        <p14:creationId xmlns:p14="http://schemas.microsoft.com/office/powerpoint/2010/main" val="21343699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7D644-9700-CEBE-0461-20C0E9EA7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Shuffling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186D7-0CC2-C478-050A-816A1053E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968464" cy="3678303"/>
          </a:xfrm>
        </p:spPr>
        <p:txBody>
          <a:bodyPr/>
          <a:lstStyle/>
          <a:p>
            <a:r>
              <a:rPr lang="en-US" dirty="0"/>
              <a:t>Each executor processes its local partition. </a:t>
            </a:r>
          </a:p>
          <a:p>
            <a:r>
              <a:rPr lang="en-US" dirty="0"/>
              <a:t>Spark partitions the output based on a partitioning function (typically a hash of the key). </a:t>
            </a:r>
          </a:p>
          <a:p>
            <a:r>
              <a:rPr lang="en-US" dirty="0"/>
              <a:t>Data is written to local disk as intermediate shuffle files. </a:t>
            </a:r>
          </a:p>
          <a:p>
            <a:r>
              <a:rPr lang="en-US" dirty="0"/>
              <a:t>Executors transfer the appropriate data to other executors over the network. </a:t>
            </a:r>
          </a:p>
          <a:p>
            <a:r>
              <a:rPr lang="en-US" dirty="0"/>
              <a:t>The receiving executors merge, sort (if necessary), and process the shuffled data.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88CDF2-CCE4-AD1E-83A6-4A2B24D24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6466" y="2329584"/>
            <a:ext cx="2846440" cy="3856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92543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C7C16-6EC0-3C82-641E-41118E8EA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Narrow vs wide transformations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02165AF-2DD4-F91F-0216-B8601B501E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5002304"/>
              </p:ext>
            </p:extLst>
          </p:nvPr>
        </p:nvGraphicFramePr>
        <p:xfrm>
          <a:off x="804476" y="3712000"/>
          <a:ext cx="11029950" cy="1828800"/>
        </p:xfrm>
        <a:graphic>
          <a:graphicData uri="http://schemas.openxmlformats.org/drawingml/2006/table">
            <a:tbl>
              <a:tblPr/>
              <a:tblGrid>
                <a:gridCol w="5514975">
                  <a:extLst>
                    <a:ext uri="{9D8B030D-6E8A-4147-A177-3AD203B41FA5}">
                      <a16:colId xmlns:a16="http://schemas.microsoft.com/office/drawing/2014/main" val="1143201161"/>
                    </a:ext>
                  </a:extLst>
                </a:gridCol>
                <a:gridCol w="5514975">
                  <a:extLst>
                    <a:ext uri="{9D8B030D-6E8A-4147-A177-3AD203B41FA5}">
                      <a16:colId xmlns:a16="http://schemas.microsoft.com/office/drawing/2014/main" val="20329181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Narrow Transformation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Wide Transformation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4641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map()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groupByKey()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6410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filter()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reduceByKey()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875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flatMap()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join()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710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ourier New" panose="02070309020205020404" pitchFamily="49" charset="0"/>
                        </a:rPr>
                        <a:t>mapValues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()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</a:rPr>
                        <a:t>distinct()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803447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7617C38-9941-A1B4-9B7F-91230C3C1E4F}"/>
              </a:ext>
            </a:extLst>
          </p:cNvPr>
          <p:cNvSpPr txBox="1"/>
          <p:nvPr/>
        </p:nvSpPr>
        <p:spPr>
          <a:xfrm>
            <a:off x="2921295" y="1951672"/>
            <a:ext cx="609777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Narrow transformations</a:t>
            </a:r>
            <a:r>
              <a:rPr lang="en-US" dirty="0"/>
              <a:t>: Each output partition depends on a single input partition. No shuffle is needed. </a:t>
            </a:r>
          </a:p>
          <a:p>
            <a:endParaRPr lang="en-US" b="1" dirty="0"/>
          </a:p>
          <a:p>
            <a:r>
              <a:rPr lang="en-US" b="1" dirty="0"/>
              <a:t>Wide transformations</a:t>
            </a:r>
            <a:r>
              <a:rPr lang="en-US" dirty="0"/>
              <a:t>: An output partition depends on multiple input partitions. Shuffle is required.</a:t>
            </a:r>
          </a:p>
        </p:txBody>
      </p:sp>
    </p:spTree>
    <p:extLst>
      <p:ext uri="{BB962C8B-B14F-4D97-AF65-F5344CB8AC3E}">
        <p14:creationId xmlns:p14="http://schemas.microsoft.com/office/powerpoint/2010/main" val="187081529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F8A83-9167-C2C5-75C1-38C29937D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7DE1B-5B4C-4703-D312-8838595F0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790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7B0CF-2E57-30F0-E83D-05F3BB002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7E7CB-1FB2-9CD9-9733-24D733390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Extends RDD to a </a:t>
            </a:r>
            <a:r>
              <a:rPr lang="en-US" dirty="0" err="1"/>
              <a:t>DataFrame</a:t>
            </a:r>
            <a:r>
              <a:rPr lang="en-US" dirty="0"/>
              <a:t> object</a:t>
            </a:r>
          </a:p>
          <a:p>
            <a:r>
              <a:rPr lang="en-US" dirty="0" err="1"/>
              <a:t>DataFrames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Contain Row objects</a:t>
            </a:r>
          </a:p>
          <a:p>
            <a:pPr lvl="1"/>
            <a:r>
              <a:rPr lang="en-US" dirty="0"/>
              <a:t>Can run SQL queries</a:t>
            </a:r>
          </a:p>
          <a:p>
            <a:pPr lvl="1"/>
            <a:r>
              <a:rPr lang="en-US" dirty="0"/>
              <a:t>Can have a schema (store as correct datatype instead of all strings)</a:t>
            </a:r>
          </a:p>
          <a:p>
            <a:pPr lvl="1"/>
            <a:r>
              <a:rPr lang="en-US" dirty="0"/>
              <a:t>Read and write to JSON, Hive, parquet, csv…</a:t>
            </a:r>
          </a:p>
          <a:p>
            <a:pPr lvl="1"/>
            <a:r>
              <a:rPr lang="en-US" dirty="0"/>
              <a:t>Communication with JDBC/ODBC, Tableau</a:t>
            </a:r>
          </a:p>
        </p:txBody>
      </p:sp>
    </p:spTree>
    <p:extLst>
      <p:ext uri="{BB962C8B-B14F-4D97-AF65-F5344CB8AC3E}">
        <p14:creationId xmlns:p14="http://schemas.microsoft.com/office/powerpoint/2010/main" val="199182475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463D4-1EA0-7811-1996-6DFACEFBF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Spark SQL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A74EC-E990-E570-D4A7-0B5857653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</a:t>
            </a:r>
            <a:r>
              <a:rPr lang="en-US" dirty="0" err="1"/>
              <a:t>pyspark.sql</a:t>
            </a:r>
            <a:r>
              <a:rPr lang="en-US" dirty="0"/>
              <a:t> import </a:t>
            </a:r>
            <a:r>
              <a:rPr lang="en-US" dirty="0" err="1"/>
              <a:t>SparkSession</a:t>
            </a:r>
            <a:r>
              <a:rPr lang="en-US" dirty="0"/>
              <a:t>, Row</a:t>
            </a:r>
          </a:p>
          <a:p>
            <a:r>
              <a:rPr lang="en-US" dirty="0"/>
              <a:t>spark = </a:t>
            </a:r>
            <a:r>
              <a:rPr lang="en-US" dirty="0" err="1"/>
              <a:t>SparkSession.builder.addName</a:t>
            </a:r>
            <a:r>
              <a:rPr lang="en-US" dirty="0"/>
              <a:t>(‘</a:t>
            </a:r>
            <a:r>
              <a:rPr lang="en-US" dirty="0" err="1"/>
              <a:t>SparkSQL</a:t>
            </a:r>
            <a:r>
              <a:rPr lang="en-US" dirty="0"/>
              <a:t>’).</a:t>
            </a:r>
            <a:r>
              <a:rPr lang="en-US" dirty="0" err="1"/>
              <a:t>getOrCreate</a:t>
            </a:r>
            <a:r>
              <a:rPr lang="en-US" dirty="0"/>
              <a:t>()</a:t>
            </a:r>
          </a:p>
          <a:p>
            <a:r>
              <a:rPr lang="en-US" dirty="0" err="1"/>
              <a:t>inputData</a:t>
            </a:r>
            <a:r>
              <a:rPr lang="en-US" dirty="0"/>
              <a:t> = </a:t>
            </a:r>
            <a:r>
              <a:rPr lang="en-US" dirty="0" err="1"/>
              <a:t>spark.read.json</a:t>
            </a:r>
            <a:r>
              <a:rPr lang="en-US" dirty="0"/>
              <a:t>(datafile)</a:t>
            </a:r>
          </a:p>
          <a:p>
            <a:r>
              <a:rPr lang="en-US" dirty="0" err="1"/>
              <a:t>inputData.createOrReplaceTempView</a:t>
            </a:r>
            <a:r>
              <a:rPr lang="en-US" dirty="0"/>
              <a:t>(‘</a:t>
            </a:r>
            <a:r>
              <a:rPr lang="en-US" dirty="0" err="1"/>
              <a:t>TableNameUsually</a:t>
            </a:r>
            <a:r>
              <a:rPr lang="en-US" dirty="0"/>
              <a:t>’) </a:t>
            </a:r>
          </a:p>
          <a:p>
            <a:r>
              <a:rPr lang="en-US" dirty="0" err="1"/>
              <a:t>myResultDataFrame</a:t>
            </a:r>
            <a:r>
              <a:rPr lang="en-US" dirty="0"/>
              <a:t> = </a:t>
            </a:r>
            <a:r>
              <a:rPr lang="en-US" dirty="0" err="1"/>
              <a:t>spark.sql</a:t>
            </a:r>
            <a:r>
              <a:rPr lang="en-US" dirty="0"/>
              <a:t>(‘SELECT ‘something’ FROM </a:t>
            </a:r>
            <a:r>
              <a:rPr lang="en-US" dirty="0" err="1"/>
              <a:t>tableName</a:t>
            </a:r>
            <a:r>
              <a:rPr lang="en-US" dirty="0"/>
              <a:t> ORDER BY ‘something’)</a:t>
            </a:r>
          </a:p>
        </p:txBody>
      </p:sp>
    </p:spTree>
    <p:extLst>
      <p:ext uri="{BB962C8B-B14F-4D97-AF65-F5344CB8AC3E}">
        <p14:creationId xmlns:p14="http://schemas.microsoft.com/office/powerpoint/2010/main" val="42451670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57C40-114E-CF70-94D2-5459E2CD1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stuff you can do with </a:t>
            </a:r>
            <a:r>
              <a:rPr lang="en-US" dirty="0" err="1"/>
              <a:t>dataframes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7CC75A-1971-1E97-DB46-BD49051D14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5047" y="2696184"/>
            <a:ext cx="7201905" cy="264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71868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BE4FB-743F-48BD-2400-A0A9A6702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DataFrames</a:t>
            </a:r>
            <a:r>
              <a:rPr lang="en-US" dirty="0"/>
              <a:t> vs Datasets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0FDA26-B164-59B8-2EF5-249C5D590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975" y="2284707"/>
            <a:ext cx="8634049" cy="320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51533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AF3A2-8001-4A6D-B314-6B6B124E2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Shell Access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381619-7971-A4A5-9979-545D9FA027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6355" y="2253082"/>
            <a:ext cx="8179290" cy="3334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3990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6DB5-2077-68CF-F3C0-5277AA9BA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User-Defined Functions - </a:t>
            </a:r>
            <a:r>
              <a:rPr lang="en-US" dirty="0" err="1"/>
              <a:t>udf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B1C748-A3C1-EADD-DD7C-EBF25D2A71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21674" y="1935215"/>
            <a:ext cx="5948651" cy="15909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BBD91E5-27E4-6D33-E498-4372025DED78}"/>
              </a:ext>
            </a:extLst>
          </p:cNvPr>
          <p:cNvSpPr txBox="1"/>
          <p:nvPr/>
        </p:nvSpPr>
        <p:spPr>
          <a:xfrm>
            <a:off x="3223577" y="3560726"/>
            <a:ext cx="5744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It’s recommended to use the decorator pattern with UDFs: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81D3134-85C5-54B8-C48F-4C2701E3B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7846" y="3964651"/>
            <a:ext cx="4116308" cy="2813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75823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49A55-C643-C09A-B7DE-37F043E0F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 of people by age 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F7E0FA-FEA1-6004-49BC-6EC075E802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0631" y="2754944"/>
            <a:ext cx="7506748" cy="3400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1A3447-BFB7-6751-9410-BE60074621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6593" y="3276433"/>
            <a:ext cx="3334215" cy="22386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7237380-276F-8E1B-7E31-395F7474D52A}"/>
              </a:ext>
            </a:extLst>
          </p:cNvPr>
          <p:cNvSpPr txBox="1"/>
          <p:nvPr/>
        </p:nvSpPr>
        <p:spPr>
          <a:xfrm>
            <a:off x="1278333" y="1982420"/>
            <a:ext cx="5846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 here that we are creating a </a:t>
            </a:r>
            <a:r>
              <a:rPr lang="en-US" dirty="0" err="1"/>
              <a:t>dataframe</a:t>
            </a:r>
            <a:r>
              <a:rPr lang="en-US" dirty="0"/>
              <a:t> from an RDD (there are many other possible ways to create a </a:t>
            </a:r>
            <a:r>
              <a:rPr lang="en-US" dirty="0" err="1"/>
              <a:t>dataframe</a:t>
            </a:r>
            <a:r>
              <a:rPr lang="en-US" dirty="0"/>
              <a:t>):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2AFFDD-BFC3-4845-40CD-8169553BBF61}"/>
              </a:ext>
            </a:extLst>
          </p:cNvPr>
          <p:cNvSpPr txBox="1"/>
          <p:nvPr/>
        </p:nvSpPr>
        <p:spPr>
          <a:xfrm>
            <a:off x="500631" y="6211669"/>
            <a:ext cx="94187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.cache() </a:t>
            </a:r>
            <a:r>
              <a:rPr lang="en-US" dirty="0">
                <a:sym typeface="Wingdings" panose="05000000000000000000" pitchFamily="2" charset="2"/>
              </a:rPr>
              <a:t> remember spark uses lazy evaluation, and computation only happens when an action occurs. If using multiple actions, caching improves performance by storing the </a:t>
            </a:r>
            <a:r>
              <a:rPr lang="en-US" dirty="0" err="1">
                <a:sym typeface="Wingdings" panose="05000000000000000000" pitchFamily="2" charset="2"/>
              </a:rPr>
              <a:t>dataframe</a:t>
            </a:r>
            <a:r>
              <a:rPr lang="en-US" dirty="0">
                <a:sym typeface="Wingdings" panose="05000000000000000000" pitchFamily="2" charset="2"/>
              </a:rPr>
              <a:t> in memory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08220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54985-3BD1-8B2B-460A-614CD6726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Inferring Schema datatypes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B3B81EC-C4F4-29B9-5709-38411D9FD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115" y="2903132"/>
            <a:ext cx="5383588" cy="358140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2A1C064-D334-44FE-0BD8-C6F4C3695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4816" y="2368120"/>
            <a:ext cx="1971902" cy="199492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520F97E-846F-10FA-506B-5A0B2531ED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298" y="2724051"/>
            <a:ext cx="1886213" cy="140989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910780A-72B0-3CD4-4BDE-FFE2EB7FA9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0100" y="4693835"/>
            <a:ext cx="1147631" cy="162702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BE6A112-915F-9109-FA1E-5B4E25BF52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3262" y="4745947"/>
            <a:ext cx="1744514" cy="157490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A67C0A9-5DFF-95E4-98A9-DB6DF00081C0}"/>
              </a:ext>
            </a:extLst>
          </p:cNvPr>
          <p:cNvSpPr txBox="1"/>
          <p:nvPr/>
        </p:nvSpPr>
        <p:spPr>
          <a:xfrm>
            <a:off x="1354897" y="2077720"/>
            <a:ext cx="40453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Without ‘header = true’, spark would name columns like: _c0, _c1, _c2, etc. </a:t>
            </a:r>
          </a:p>
        </p:txBody>
      </p:sp>
    </p:spTree>
    <p:extLst>
      <p:ext uri="{BB962C8B-B14F-4D97-AF65-F5344CB8AC3E}">
        <p14:creationId xmlns:p14="http://schemas.microsoft.com/office/powerpoint/2010/main" val="77949983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24AC2-1E21-16F4-FF37-E12B2F4F4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001EA-B6D3-E9AC-1F13-BA6847D03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Friends by age with </a:t>
            </a:r>
            <a:r>
              <a:rPr lang="en-US" dirty="0" err="1"/>
              <a:t>dataframes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264E85-FB46-7EAA-0543-F7173B830597}"/>
              </a:ext>
            </a:extLst>
          </p:cNvPr>
          <p:cNvSpPr txBox="1"/>
          <p:nvPr/>
        </p:nvSpPr>
        <p:spPr>
          <a:xfrm>
            <a:off x="979448" y="3105834"/>
            <a:ext cx="59195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  <a:p>
            <a:r>
              <a:rPr lang="en-US" b="1" dirty="0"/>
              <a:t>Print a </a:t>
            </a:r>
            <a:r>
              <a:rPr lang="en-US" b="1" dirty="0" err="1"/>
              <a:t>dataframe</a:t>
            </a:r>
            <a:r>
              <a:rPr lang="en-US" b="1" dirty="0"/>
              <a:t> of the name and age for each entry</a:t>
            </a:r>
          </a:p>
          <a:p>
            <a:r>
              <a:rPr lang="en-US" b="1" dirty="0"/>
              <a:t>of fakefriends-header.csv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B158AE-3AF9-5FE1-40F7-51FB13E87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9501" y="2501797"/>
            <a:ext cx="1317861" cy="332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66643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EC5A5-9216-9C26-C31E-5EF52F749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+ Further Examples with AGG()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46435C-4FBF-9C92-6D46-E91BDA720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289" y="2307805"/>
            <a:ext cx="6404801" cy="39247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ED4C3A-BD12-F8AE-76C2-DD5CAC8AD9EA}"/>
              </a:ext>
            </a:extLst>
          </p:cNvPr>
          <p:cNvSpPr txBox="1"/>
          <p:nvPr/>
        </p:nvSpPr>
        <p:spPr>
          <a:xfrm>
            <a:off x="7565502" y="3808513"/>
            <a:ext cx="40453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functions contains many spark SQL methods we can use with </a:t>
            </a:r>
            <a:r>
              <a:rPr lang="en-US" dirty="0" err="1"/>
              <a:t>agg</a:t>
            </a:r>
            <a:r>
              <a:rPr lang="en-US" dirty="0"/>
              <a:t>()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26774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A6410-08E4-FA57-04A7-79862F40A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Count With </a:t>
            </a:r>
            <a:r>
              <a:rPr lang="en-US" dirty="0" err="1"/>
              <a:t>dataframes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BFAABC-BFC1-1BA9-9F84-52E48037CE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5374" y="2709625"/>
            <a:ext cx="6544588" cy="27531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006710-9C66-AAF5-DD12-C0E9DA857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6978" y="3194269"/>
            <a:ext cx="1686160" cy="158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01938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C00C0-BAF5-9D21-0914-60F749260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can use both RDD and </a:t>
            </a:r>
            <a:r>
              <a:rPr lang="en-US" dirty="0" err="1"/>
              <a:t>DataFrames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2181D-C80B-A29F-D7DE-FE91B0595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RDDs are still around for a reason</a:t>
            </a:r>
          </a:p>
          <a:p>
            <a:r>
              <a:rPr lang="en-US" dirty="0"/>
              <a:t>As you have seen, we can use both </a:t>
            </a:r>
            <a:r>
              <a:rPr lang="en-US" dirty="0" err="1"/>
              <a:t>DataFrames</a:t>
            </a:r>
            <a:r>
              <a:rPr lang="en-US" dirty="0"/>
              <a:t> and RDDs for solutions</a:t>
            </a:r>
          </a:p>
          <a:p>
            <a:r>
              <a:rPr lang="en-US" dirty="0"/>
              <a:t>Use the tool best suited for the task</a:t>
            </a:r>
          </a:p>
          <a:p>
            <a:pPr lvl="1"/>
            <a:r>
              <a:rPr lang="en-US" dirty="0"/>
              <a:t>SQL style problem? </a:t>
            </a:r>
            <a:r>
              <a:rPr lang="en-US" dirty="0" err="1"/>
              <a:t>DataFrames</a:t>
            </a:r>
            <a:endParaRPr lang="en-US" dirty="0"/>
          </a:p>
          <a:p>
            <a:pPr lvl="1"/>
            <a:r>
              <a:rPr lang="en-US" dirty="0"/>
              <a:t>Map or Reduce type operations? RDD</a:t>
            </a:r>
          </a:p>
          <a:p>
            <a:r>
              <a:rPr lang="en-US" dirty="0"/>
              <a:t>We can convert between the two, as we have seen</a:t>
            </a:r>
          </a:p>
        </p:txBody>
      </p:sp>
    </p:spTree>
    <p:extLst>
      <p:ext uri="{BB962C8B-B14F-4D97-AF65-F5344CB8AC3E}">
        <p14:creationId xmlns:p14="http://schemas.microsoft.com/office/powerpoint/2010/main" val="13050859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7D3E7-9741-CEF8-099C-8CCC1D2A1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 temps with </a:t>
            </a:r>
            <a:r>
              <a:rPr lang="en-US" dirty="0" err="1"/>
              <a:t>dataframes</a:t>
            </a:r>
            <a:r>
              <a:rPr lang="en-US" dirty="0"/>
              <a:t> &amp; Creating Schemas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7B9799-D077-D188-D08D-BCCCF7DEA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829" y="2104448"/>
            <a:ext cx="7068536" cy="45154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1295C4-1FF8-EE1F-2DCB-40EE6809BA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4626" y="2577665"/>
            <a:ext cx="2562583" cy="310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85380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98FA7-9136-2259-23A8-17E40A036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960FB-67D2-73E8-DEA5-91D383899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Add up amount spent by customer Id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C6EFFC-06CB-03B5-6912-FE6B094F0001}"/>
              </a:ext>
            </a:extLst>
          </p:cNvPr>
          <p:cNvSpPr txBox="1"/>
          <p:nvPr/>
        </p:nvSpPr>
        <p:spPr>
          <a:xfrm>
            <a:off x="1678652" y="2581539"/>
            <a:ext cx="88346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Goal:</a:t>
            </a:r>
          </a:p>
          <a:p>
            <a:r>
              <a:rPr lang="en-US" b="1" dirty="0"/>
              <a:t>Print the id for a customer and the total of all their orders from ‘customer-orders.csv’ in descending order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C9962A-82E8-0604-4D87-F663D0152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7208" y="4698316"/>
            <a:ext cx="6744641" cy="14575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A47D057-9241-F9E7-E8F2-C5FEF26A7C3D}"/>
              </a:ext>
            </a:extLst>
          </p:cNvPr>
          <p:cNvSpPr txBox="1"/>
          <p:nvPr/>
        </p:nvSpPr>
        <p:spPr>
          <a:xfrm>
            <a:off x="1603331" y="4283901"/>
            <a:ext cx="3010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CustomerId</a:t>
            </a:r>
            <a:r>
              <a:rPr lang="en-US" dirty="0"/>
              <a:t>, </a:t>
            </a:r>
            <a:r>
              <a:rPr lang="en-US" dirty="0" err="1"/>
              <a:t>OrderId</a:t>
            </a:r>
            <a:r>
              <a:rPr lang="en-US" dirty="0"/>
              <a:t>, Amount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78448A-CE08-538E-E166-BA2A3E957178}"/>
              </a:ext>
            </a:extLst>
          </p:cNvPr>
          <p:cNvSpPr txBox="1"/>
          <p:nvPr/>
        </p:nvSpPr>
        <p:spPr>
          <a:xfrm>
            <a:off x="6258838" y="4328984"/>
            <a:ext cx="4959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(yeah this isn’t sorted like it’s asking for in the goal)</a:t>
            </a:r>
          </a:p>
        </p:txBody>
      </p:sp>
    </p:spTree>
    <p:extLst>
      <p:ext uri="{BB962C8B-B14F-4D97-AF65-F5344CB8AC3E}">
        <p14:creationId xmlns:p14="http://schemas.microsoft.com/office/powerpoint/2010/main" val="162353930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4F223-F516-7F84-D057-F63498A6C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Pandas on Spark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B1CDF-88BC-5450-9651-510127FB0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Pandas – Python library for data manipulation and analysis</a:t>
            </a:r>
          </a:p>
          <a:p>
            <a:r>
              <a:rPr lang="en-US" dirty="0"/>
              <a:t>Pandas has its own </a:t>
            </a:r>
            <a:r>
              <a:rPr lang="en-US" dirty="0" err="1"/>
              <a:t>DataFrames</a:t>
            </a:r>
            <a:r>
              <a:rPr lang="en-US" dirty="0"/>
              <a:t>, apart from Spark </a:t>
            </a:r>
          </a:p>
          <a:p>
            <a:r>
              <a:rPr lang="en-US" dirty="0"/>
              <a:t>Pandas can do many of the thing's spark can do, many features overlap</a:t>
            </a:r>
          </a:p>
          <a:p>
            <a:r>
              <a:rPr lang="en-US" dirty="0"/>
              <a:t>Pandas will run on the same machine as your driver code, i.e. not scalable</a:t>
            </a:r>
          </a:p>
          <a:p>
            <a:r>
              <a:rPr lang="en-US" dirty="0"/>
              <a:t>We can use Pandas on </a:t>
            </a:r>
            <a:r>
              <a:rPr lang="en-US" dirty="0" err="1"/>
              <a:t>PySpark</a:t>
            </a:r>
            <a:r>
              <a:rPr lang="en-US" dirty="0"/>
              <a:t> to use Panda's syntax in a distributed environment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930469-5D23-604B-48DD-2F32233E2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154" y="6590503"/>
            <a:ext cx="4229690" cy="1905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4ED167-D779-9D94-2871-B5BC400AD899}"/>
              </a:ext>
            </a:extLst>
          </p:cNvPr>
          <p:cNvSpPr txBox="1"/>
          <p:nvPr/>
        </p:nvSpPr>
        <p:spPr>
          <a:xfrm>
            <a:off x="1386056" y="6221171"/>
            <a:ext cx="9419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as of 6/26 I had to downgrade pandas for interoperability with spark 4 (issues with pandas 3)</a:t>
            </a:r>
          </a:p>
        </p:txBody>
      </p:sp>
    </p:spTree>
    <p:extLst>
      <p:ext uri="{BB962C8B-B14F-4D97-AF65-F5344CB8AC3E}">
        <p14:creationId xmlns:p14="http://schemas.microsoft.com/office/powerpoint/2010/main" val="271896316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69A3A-5A34-BC3B-1119-0FBBCB485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– provided materials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503DA1-287A-C2C5-0174-A8D91688E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233" y="2844086"/>
            <a:ext cx="4585534" cy="1759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1403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2FD7A-9D7E-7DD5-A5C2-95EFFD032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Udf</a:t>
            </a:r>
            <a:r>
              <a:rPr lang="en-US" dirty="0"/>
              <a:t> – user defined functions --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74920-53F8-6448-ABF8-D512D0615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514808" cy="3678303"/>
          </a:xfrm>
        </p:spPr>
        <p:txBody>
          <a:bodyPr/>
          <a:lstStyle/>
          <a:p>
            <a:r>
              <a:rPr lang="en-US" dirty="0"/>
              <a:t>UDF’s allow custom logic to be applied row by row in Spark SQL/</a:t>
            </a:r>
            <a:r>
              <a:rPr lang="en-US" dirty="0" err="1"/>
              <a:t>DataFrames</a:t>
            </a:r>
            <a:endParaRPr lang="en-US" dirty="0"/>
          </a:p>
          <a:p>
            <a:pPr lvl="1"/>
            <a:r>
              <a:rPr lang="en-US" dirty="0"/>
              <a:t>One row at a time</a:t>
            </a:r>
          </a:p>
          <a:p>
            <a:pPr lvl="1"/>
            <a:r>
              <a:rPr lang="en-US" dirty="0"/>
              <a:t>Each row must be serialized/deserialized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7A615F-2542-4978-40FD-E79610C3E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270" y="2785482"/>
            <a:ext cx="3801005" cy="271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57941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FAC32-F078-285F-AC14-B7EFD4E01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Udtf</a:t>
            </a:r>
            <a:r>
              <a:rPr lang="en-US" dirty="0"/>
              <a:t> – user defined table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6222C-8129-35D5-ADCF-30F234682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969920" cy="3678303"/>
          </a:xfrm>
        </p:spPr>
        <p:txBody>
          <a:bodyPr/>
          <a:lstStyle/>
          <a:p>
            <a:r>
              <a:rPr lang="en-US" dirty="0"/>
              <a:t>One input row may return multiple output rows and columns</a:t>
            </a:r>
          </a:p>
          <a:p>
            <a:r>
              <a:rPr lang="en-US" dirty="0"/>
              <a:t>Useful for transforming nested or structured data</a:t>
            </a:r>
          </a:p>
          <a:p>
            <a:pPr lvl="1"/>
            <a:r>
              <a:rPr lang="en-US" dirty="0"/>
              <a:t>Expanding JSON, arrays, hierarchical data</a:t>
            </a:r>
          </a:p>
          <a:p>
            <a:r>
              <a:rPr lang="en-US" dirty="0"/>
              <a:t>More efficient on large tables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4E328F-F4D0-785C-B7AB-A0F817E57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930" y="2524584"/>
            <a:ext cx="4706007" cy="333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32439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7A874-E00E-9709-ACE4-3A36411EE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UDF/UDTF examples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D2718E-541F-B576-85DB-E9C40D853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20547"/>
            <a:ext cx="3010177" cy="48130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B97E0B-3E28-30B4-45F6-08D7FBF14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4957" y="2149216"/>
            <a:ext cx="6884663" cy="4541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996325-A85A-76D6-88E5-1D0C1E61F2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5433" y="2766912"/>
            <a:ext cx="7524641" cy="4230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F4E2BC7-C266-6B76-E8A9-D9E8C30885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9316" y="3429000"/>
            <a:ext cx="5176874" cy="197530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A627FC5-1214-1095-3279-DADC122A85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7889" y="5552375"/>
            <a:ext cx="6258798" cy="11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58127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89DEA-0A98-EEC0-F3A4-FD22BF2D7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800D6-5B23-5868-3E47-7A25A7FBF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Get log information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69BB2D-3B58-26FC-5E82-916D3B9F8FA5}"/>
              </a:ext>
            </a:extLst>
          </p:cNvPr>
          <p:cNvSpPr txBox="1"/>
          <p:nvPr/>
        </p:nvSpPr>
        <p:spPr>
          <a:xfrm>
            <a:off x="979449" y="3105834"/>
            <a:ext cx="556765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Goal:</a:t>
            </a:r>
          </a:p>
          <a:p>
            <a:r>
              <a:rPr lang="en-US" b="1" dirty="0"/>
              <a:t>With the provided ‘access_lot.txt’ file:</a:t>
            </a:r>
          </a:p>
          <a:p>
            <a:endParaRPr lang="en-US" b="1" dirty="0"/>
          </a:p>
          <a:p>
            <a:r>
              <a:rPr lang="en-US" b="1" dirty="0"/>
              <a:t>List IP addresses + sum of their requests</a:t>
            </a:r>
          </a:p>
          <a:p>
            <a:endParaRPr lang="en-US" b="1" dirty="0"/>
          </a:p>
          <a:p>
            <a:r>
              <a:rPr lang="en-US" b="1" dirty="0"/>
              <a:t>List requested endpoints + count of number of time they have been called</a:t>
            </a:r>
          </a:p>
          <a:p>
            <a:endParaRPr lang="en-US" b="1" dirty="0"/>
          </a:p>
          <a:p>
            <a:r>
              <a:rPr lang="en-US" b="1" dirty="0"/>
              <a:t>List HTTP status codes + count from all requests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F47992-7FCB-7B16-4B12-53DC22D79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7424" y="2039851"/>
            <a:ext cx="2406860" cy="21251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E7783B-8C5E-35D1-DBDA-C8CCE9CBA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5" y="2039851"/>
            <a:ext cx="2254394" cy="23791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3737D38-7726-D165-A476-F31540C96C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2027" y="4620743"/>
            <a:ext cx="1667108" cy="199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51101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1DFE6-EC41-9B83-3B97-EF0C0A8B9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194F0-9B57-428A-D045-F0E69F8D5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Find the most popular movies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BC2CF7-6DFC-3ACE-4E19-53D74E1E120E}"/>
              </a:ext>
            </a:extLst>
          </p:cNvPr>
          <p:cNvSpPr txBox="1"/>
          <p:nvPr/>
        </p:nvSpPr>
        <p:spPr>
          <a:xfrm>
            <a:off x="1871902" y="2421383"/>
            <a:ext cx="787194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Goal:</a:t>
            </a:r>
          </a:p>
          <a:p>
            <a:r>
              <a:rPr lang="en-US" b="1" dirty="0"/>
              <a:t>Find the top 10 most popular movies in the ML-100k </a:t>
            </a:r>
            <a:r>
              <a:rPr lang="en-US" b="1" dirty="0" err="1"/>
              <a:t>movielens</a:t>
            </a:r>
            <a:r>
              <a:rPr lang="en-US" b="1" dirty="0"/>
              <a:t> dataset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Hint:</a:t>
            </a:r>
          </a:p>
          <a:p>
            <a:r>
              <a:rPr lang="en-US" b="1" dirty="0"/>
              <a:t>You will need a schema, and this file uses ‘Tab’ as separators, so we specify that as an option: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Only return 10 rows: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13AD36-802D-8A38-85BB-F389A0143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903" y="4564325"/>
            <a:ext cx="9573961" cy="314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FD6F72-A671-1812-6D2E-86993D464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902" y="5381971"/>
            <a:ext cx="1971950" cy="33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30980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C16B0-CD13-31C8-FEAC-821027A00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Broadcast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CB6FD-3981-3303-51F8-FA29661A6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Allows us to broadcast objects to the executors, such that they’re always available</a:t>
            </a:r>
          </a:p>
          <a:p>
            <a:r>
              <a:rPr lang="en-US" dirty="0"/>
              <a:t>Just use </a:t>
            </a:r>
            <a:r>
              <a:rPr lang="en-US" dirty="0" err="1"/>
              <a:t>sc.broadcast</a:t>
            </a:r>
            <a:r>
              <a:rPr lang="en-US" dirty="0"/>
              <a:t>() to ship off whatever you want</a:t>
            </a:r>
          </a:p>
          <a:p>
            <a:r>
              <a:rPr lang="en-US" dirty="0"/>
              <a:t>Then use .value() to get the object back</a:t>
            </a:r>
          </a:p>
          <a:p>
            <a:r>
              <a:rPr lang="en-US" dirty="0"/>
              <a:t>Use the broadcasted object however you want – map functions, UDFs, etc. </a:t>
            </a:r>
          </a:p>
        </p:txBody>
      </p:sp>
    </p:spTree>
    <p:extLst>
      <p:ext uri="{BB962C8B-B14F-4D97-AF65-F5344CB8AC3E}">
        <p14:creationId xmlns:p14="http://schemas.microsoft.com/office/powerpoint/2010/main" val="196141061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5672E-9362-A56A-B633-F98F1AE5E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Top 10 movies with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D2CA0-D080-69E7-F1DF-EB583282A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152099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Broadcast() – sends a dictionary to all executors</a:t>
            </a:r>
          </a:p>
          <a:p>
            <a:r>
              <a:rPr lang="en-US" dirty="0"/>
              <a:t>.value() – get the dictionary value back</a:t>
            </a:r>
          </a:p>
          <a:p>
            <a:r>
              <a:rPr lang="en-US" dirty="0"/>
              <a:t>See the provided example in our repo: ‘popular-movies-nice-dataframe.py’</a:t>
            </a:r>
          </a:p>
          <a:p>
            <a:r>
              <a:rPr lang="en-US" dirty="0"/>
              <a:t>This example is a bit contrived; we will talk about performance concerns after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5A9271-AC3C-E61F-ACEC-DC7E98313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8654" y="4092143"/>
            <a:ext cx="5134692" cy="3715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D8D659-88B6-3DFE-F918-E4994D40D2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4943" y="5234995"/>
            <a:ext cx="4382112" cy="6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91038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5FC87-F51A-4BFD-36B5-228FA5DAD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top 10 movies with title (join)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F6217D-D09E-13F9-09E7-77C0CCFD3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618" y="2004449"/>
            <a:ext cx="5852031" cy="46648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0D3B4F-D995-CB47-5AAF-D9602EE53272}"/>
              </a:ext>
            </a:extLst>
          </p:cNvPr>
          <p:cNvSpPr txBox="1"/>
          <p:nvPr/>
        </p:nvSpPr>
        <p:spPr>
          <a:xfrm>
            <a:off x="8046720" y="3781959"/>
            <a:ext cx="3408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approach would be preferred with larger datasets</a:t>
            </a:r>
          </a:p>
        </p:txBody>
      </p:sp>
    </p:spTree>
    <p:extLst>
      <p:ext uri="{BB962C8B-B14F-4D97-AF65-F5344CB8AC3E}">
        <p14:creationId xmlns:p14="http://schemas.microsoft.com/office/powerpoint/2010/main" val="173050838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F753A-357C-A59D-C304-32C87C328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a node Dictionary + Graph Adjacency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C33A0-B7ED-582E-2E14-0204DB917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131617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Data comes in many shapes</a:t>
            </a:r>
          </a:p>
          <a:p>
            <a:r>
              <a:rPr lang="en-US" dirty="0"/>
              <a:t>In our next example with superheroes we will work with 2 files</a:t>
            </a:r>
          </a:p>
          <a:p>
            <a:r>
              <a:rPr lang="en-US" dirty="0"/>
              <a:t>MarvelNames.txt – Id + name of hero </a:t>
            </a:r>
          </a:p>
          <a:p>
            <a:r>
              <a:rPr lang="en-US" dirty="0"/>
              <a:t>MarvelGraph.txt – graph adjacency list; the first value is the hero, and every following value on the same line is a relation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CB6222-E08B-0D2E-534C-782877FE5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005" y="4126736"/>
            <a:ext cx="2324424" cy="2029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F04A5A-FABD-6EB8-8EDA-8281BE812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3865" y="4381508"/>
            <a:ext cx="8018615" cy="1316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61788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09CD0-D065-07CA-DA47-88E6D1FFB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Find the most popular superhero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8B34AC-21C1-3FE5-CB17-8475E000D8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02794" y="2146449"/>
            <a:ext cx="7586412" cy="4298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88419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3E06D-6776-B355-DC74-C7FFF7E21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BB9FF-AF06-34D9-A581-F287D37EA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Find the most obscure heroes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4F7240-4396-8A8D-956B-6F3D2C06C964}"/>
              </a:ext>
            </a:extLst>
          </p:cNvPr>
          <p:cNvSpPr txBox="1"/>
          <p:nvPr/>
        </p:nvSpPr>
        <p:spPr>
          <a:xfrm>
            <a:off x="1871902" y="2421383"/>
            <a:ext cx="787194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Goal:</a:t>
            </a:r>
          </a:p>
          <a:p>
            <a:r>
              <a:rPr lang="en-US" b="1" dirty="0"/>
              <a:t>Find all obscure heroes (there may be ties)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Hint code snippets:</a:t>
            </a:r>
          </a:p>
          <a:p>
            <a:endParaRPr lang="en-US" b="1" dirty="0"/>
          </a:p>
          <a:p>
            <a:r>
              <a:rPr lang="en-US" b="1" dirty="0" err="1"/>
              <a:t>Dataframename.agg</a:t>
            </a:r>
            <a:r>
              <a:rPr lang="en-US" b="1" dirty="0"/>
              <a:t>(</a:t>
            </a:r>
            <a:r>
              <a:rPr lang="en-US" b="1" dirty="0" err="1"/>
              <a:t>func.min</a:t>
            </a:r>
            <a:r>
              <a:rPr lang="en-US" b="1" dirty="0"/>
              <a:t>(‘</a:t>
            </a:r>
            <a:r>
              <a:rPr lang="en-US" b="1" dirty="0" err="1"/>
              <a:t>columnName</a:t>
            </a:r>
            <a:r>
              <a:rPr lang="en-US" b="1" dirty="0"/>
              <a:t>’).first()[0]</a:t>
            </a:r>
          </a:p>
          <a:p>
            <a:endParaRPr lang="en-US" b="1" dirty="0"/>
          </a:p>
          <a:p>
            <a:r>
              <a:rPr lang="en-US" b="1" dirty="0" err="1"/>
              <a:t>Dataframename.filter</a:t>
            </a:r>
            <a:r>
              <a:rPr lang="en-US" b="1" dirty="0"/>
              <a:t>(</a:t>
            </a:r>
            <a:r>
              <a:rPr lang="en-US" b="1" dirty="0" err="1"/>
              <a:t>func.col</a:t>
            </a:r>
            <a:r>
              <a:rPr lang="en-US" b="1" dirty="0"/>
              <a:t>(‘</a:t>
            </a:r>
            <a:r>
              <a:rPr lang="en-US" b="1" dirty="0" err="1"/>
              <a:t>columnName</a:t>
            </a:r>
            <a:r>
              <a:rPr lang="en-US" b="1" dirty="0"/>
              <a:t>’) == </a:t>
            </a:r>
            <a:r>
              <a:rPr lang="en-US" b="1" dirty="0" err="1"/>
              <a:t>someValue</a:t>
            </a:r>
            <a:r>
              <a:rPr lang="en-US" b="1" dirty="0"/>
              <a:t>)</a:t>
            </a:r>
          </a:p>
          <a:p>
            <a:endParaRPr lang="en-US" b="1" dirty="0"/>
          </a:p>
          <a:p>
            <a:r>
              <a:rPr lang="en-US" b="1" dirty="0" err="1"/>
              <a:t>Dataframename.join</a:t>
            </a:r>
            <a:r>
              <a:rPr lang="en-US" b="1" dirty="0"/>
              <a:t>(</a:t>
            </a:r>
            <a:r>
              <a:rPr lang="en-US" b="1" dirty="0" err="1"/>
              <a:t>otherDataframeWithACommonColumnName</a:t>
            </a:r>
            <a:r>
              <a:rPr lang="en-US" b="1" dirty="0"/>
              <a:t>, ‘</a:t>
            </a:r>
            <a:r>
              <a:rPr lang="en-US" b="1" dirty="0" err="1"/>
              <a:t>commonColumnName</a:t>
            </a:r>
            <a:r>
              <a:rPr lang="en-US" b="1" dirty="0"/>
              <a:t>’)</a:t>
            </a:r>
          </a:p>
        </p:txBody>
      </p:sp>
    </p:spTree>
    <p:extLst>
      <p:ext uri="{BB962C8B-B14F-4D97-AF65-F5344CB8AC3E}">
        <p14:creationId xmlns:p14="http://schemas.microsoft.com/office/powerpoint/2010/main" val="261552362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5DAD8-C9F2-E72F-5B31-42EE7BB2C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Breadth-First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26868-3B99-3053-63BE-7547209B8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297" y="2556277"/>
            <a:ext cx="5763240" cy="3678303"/>
          </a:xfrm>
        </p:spPr>
        <p:txBody>
          <a:bodyPr/>
          <a:lstStyle/>
          <a:p>
            <a:r>
              <a:rPr lang="en-US" dirty="0"/>
              <a:t>Good for problems that use a graph of relationships</a:t>
            </a:r>
          </a:p>
          <a:p>
            <a:r>
              <a:rPr lang="en-US" dirty="0"/>
              <a:t>Social networks</a:t>
            </a:r>
          </a:p>
          <a:p>
            <a:r>
              <a:rPr lang="en-US" dirty="0"/>
              <a:t>Degrees of separation problems (our example)</a:t>
            </a:r>
          </a:p>
          <a:p>
            <a:r>
              <a:rPr lang="en-US" dirty="0"/>
              <a:t>Network graphs</a:t>
            </a:r>
          </a:p>
          <a:p>
            <a:r>
              <a:rPr lang="en-US" dirty="0"/>
              <a:t>Recommendation systems</a:t>
            </a:r>
          </a:p>
          <a:p>
            <a:r>
              <a:rPr lang="en-US" dirty="0"/>
              <a:t>Etc.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DE3711-FBF7-1FB8-4A70-D22B77772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4433" y="3493179"/>
            <a:ext cx="4144022" cy="1904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73843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A99E2-DBF2-30DA-F6BA-A39750D53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BFS in </a:t>
            </a:r>
            <a:r>
              <a:rPr lang="en-US" dirty="0" err="1"/>
              <a:t>Pyspark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59487-2D53-A6BA-FEA3-41ACADD9E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Represent each line as a node with connections, a color, and a distance</a:t>
            </a:r>
          </a:p>
          <a:p>
            <a:r>
              <a:rPr lang="en-US" dirty="0"/>
              <a:t>For example:</a:t>
            </a:r>
          </a:p>
          <a:p>
            <a:pPr lvl="1"/>
            <a:r>
              <a:rPr lang="en-US" dirty="0"/>
              <a:t>5983 1165 3836 4361 1282</a:t>
            </a:r>
          </a:p>
          <a:p>
            <a:pPr lvl="1"/>
            <a:r>
              <a:rPr lang="en-US" dirty="0"/>
              <a:t>Becomes</a:t>
            </a:r>
          </a:p>
          <a:p>
            <a:pPr lvl="1"/>
            <a:r>
              <a:rPr lang="en-US" dirty="0"/>
              <a:t>(5983, (1165, 3836, 4361, 1282), 9999, WHITE) </a:t>
            </a:r>
          </a:p>
          <a:p>
            <a:pPr lvl="1"/>
            <a:r>
              <a:rPr lang="en-US" dirty="0"/>
              <a:t>Our initial condition is that a node is infinitely distant (9999) and WHITE</a:t>
            </a:r>
          </a:p>
        </p:txBody>
      </p:sp>
    </p:spTree>
    <p:extLst>
      <p:ext uri="{BB962C8B-B14F-4D97-AF65-F5344CB8AC3E}">
        <p14:creationId xmlns:p14="http://schemas.microsoft.com/office/powerpoint/2010/main" val="302086028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2DDEE-607F-B7C6-07EA-9FD5C6647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function to convert graph to </a:t>
            </a:r>
            <a:r>
              <a:rPr lang="en-US" dirty="0" err="1"/>
              <a:t>bfs</a:t>
            </a:r>
            <a:r>
              <a:rPr lang="en-US" dirty="0"/>
              <a:t> nodes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DD5B79-DEF4-C6B4-867C-9DA5C6B332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19154" y="2124429"/>
            <a:ext cx="4953691" cy="357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06407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091AB-3E17-AC0C-07AA-2F0DA5A7F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in action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4F72FF-4BE3-6550-4952-D7C51C02F6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8814" y="2426022"/>
            <a:ext cx="4743821" cy="21303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1C43D9-DF9D-8B7A-D694-1818B0C9BF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9364" y="2458843"/>
            <a:ext cx="4828792" cy="20975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228B0F-894E-F941-4FC0-01B88AA129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8814" y="4660716"/>
            <a:ext cx="4743821" cy="20975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E5E5902-56ED-D36E-500C-CE95C373A9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9364" y="4659564"/>
            <a:ext cx="4669365" cy="209750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09904F9-4458-89AE-0003-EFEC7114D6B6}"/>
              </a:ext>
            </a:extLst>
          </p:cNvPr>
          <p:cNvSpPr txBox="1"/>
          <p:nvPr/>
        </p:nvSpPr>
        <p:spPr>
          <a:xfrm>
            <a:off x="2851971" y="1952324"/>
            <a:ext cx="6488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See ‘degrees-of-separation.py’ in provided materials for full example</a:t>
            </a:r>
          </a:p>
        </p:txBody>
      </p:sp>
    </p:spTree>
    <p:extLst>
      <p:ext uri="{BB962C8B-B14F-4D97-AF65-F5344CB8AC3E}">
        <p14:creationId xmlns:p14="http://schemas.microsoft.com/office/powerpoint/2010/main" val="157330301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D8542-5DB6-E33F-0071-2813D5777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Item-Based collaborative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97374-C2DF-71E0-A34D-DB525FCF5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334745" cy="3678303"/>
          </a:xfrm>
        </p:spPr>
        <p:txBody>
          <a:bodyPr/>
          <a:lstStyle/>
          <a:p>
            <a:r>
              <a:rPr lang="en-US" dirty="0"/>
              <a:t>Simple recommendation pattern; If sally and joe like both star wars movies, then John, only having seen the second one, will probably like the first one too</a:t>
            </a:r>
          </a:p>
          <a:p>
            <a:r>
              <a:rPr lang="en-US" dirty="0"/>
              <a:t>Find every pair of movies that were watched by the same person</a:t>
            </a:r>
          </a:p>
          <a:p>
            <a:r>
              <a:rPr lang="en-US" dirty="0"/>
              <a:t>Measure the similarity of their ratings across all users who watched both</a:t>
            </a:r>
          </a:p>
          <a:p>
            <a:r>
              <a:rPr lang="en-US" dirty="0"/>
              <a:t>Sort by movie, then by similarity strength</a:t>
            </a:r>
          </a:p>
          <a:p>
            <a:r>
              <a:rPr lang="en-US" dirty="0"/>
              <a:t>This is just one design pattern for making recommendations, there are many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1D014-05EA-C55E-313C-49E924217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063" y="2295571"/>
            <a:ext cx="5334744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02020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70807-D1EE-30ED-D4C1-0D0B822F0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it a spark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0FBFF-8428-A5C3-2FED-3C60C1C49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20" y="2332536"/>
            <a:ext cx="5957804" cy="367830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Select </a:t>
            </a:r>
            <a:r>
              <a:rPr lang="en-US" dirty="0" err="1"/>
              <a:t>userID</a:t>
            </a:r>
            <a:r>
              <a:rPr lang="en-US" dirty="0"/>
              <a:t>, </a:t>
            </a:r>
            <a:r>
              <a:rPr lang="en-US" dirty="0" err="1"/>
              <a:t>movieID</a:t>
            </a:r>
            <a:r>
              <a:rPr lang="en-US" dirty="0"/>
              <a:t>, and rating columns</a:t>
            </a:r>
          </a:p>
          <a:p>
            <a:r>
              <a:rPr lang="en-US" dirty="0"/>
              <a:t>Find every movie pair rated by the same user</a:t>
            </a:r>
          </a:p>
          <a:p>
            <a:pPr lvl="1"/>
            <a:r>
              <a:rPr lang="en-US" dirty="0"/>
              <a:t>This can be done with a ‘self-join’ operation</a:t>
            </a:r>
          </a:p>
          <a:p>
            <a:pPr lvl="1"/>
            <a:r>
              <a:rPr lang="en-US" dirty="0"/>
              <a:t>At the point we have movie1, movie2, rating1, rating2</a:t>
            </a:r>
          </a:p>
          <a:p>
            <a:pPr lvl="1"/>
            <a:r>
              <a:rPr lang="en-US" dirty="0"/>
              <a:t>Filter out duplicate pairs (movie1, movie2) is same as (movie2, movie1)</a:t>
            </a:r>
          </a:p>
          <a:p>
            <a:r>
              <a:rPr lang="en-US" dirty="0"/>
              <a:t>Compute cosine similarity scores for every pair</a:t>
            </a:r>
          </a:p>
          <a:p>
            <a:pPr lvl="1"/>
            <a:r>
              <a:rPr lang="en-US" dirty="0"/>
              <a:t>Add x^2, y^2, </a:t>
            </a:r>
            <a:r>
              <a:rPr lang="en-US" dirty="0" err="1"/>
              <a:t>xy</a:t>
            </a:r>
            <a:r>
              <a:rPr lang="en-US" dirty="0"/>
              <a:t> columns</a:t>
            </a:r>
          </a:p>
          <a:p>
            <a:pPr lvl="1"/>
            <a:r>
              <a:rPr lang="en-US" dirty="0"/>
              <a:t>Group by (movie1, movie2) pairs</a:t>
            </a:r>
          </a:p>
          <a:p>
            <a:pPr lvl="1"/>
            <a:r>
              <a:rPr lang="en-US" dirty="0"/>
              <a:t>Compute similarity score for each aggregated pair</a:t>
            </a:r>
          </a:p>
          <a:p>
            <a:r>
              <a:rPr lang="en-US" dirty="0"/>
              <a:t>Filter, sort, and display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2B99C4-506D-79CC-9A37-2438E4115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24" y="2229734"/>
            <a:ext cx="5334744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42692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00E01-C229-DCE8-5FE0-29B7EB163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Caching 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B78A7-2BF1-E14E-8DAB-0CBA8F26A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example, we’ll query the final dataset of movie similarities a couple of times</a:t>
            </a:r>
          </a:p>
          <a:p>
            <a:r>
              <a:rPr lang="en-US" dirty="0"/>
              <a:t>Any time you will perform more than one action on a </a:t>
            </a:r>
            <a:r>
              <a:rPr lang="en-US" dirty="0" err="1"/>
              <a:t>dataframe</a:t>
            </a:r>
            <a:r>
              <a:rPr lang="en-US" dirty="0"/>
              <a:t>, you should cache it!</a:t>
            </a:r>
          </a:p>
          <a:p>
            <a:pPr lvl="1"/>
            <a:r>
              <a:rPr lang="en-US" dirty="0"/>
              <a:t>Otherwise, spark may re-evaluate the entire </a:t>
            </a:r>
            <a:r>
              <a:rPr lang="en-US" dirty="0" err="1"/>
              <a:t>dataframe</a:t>
            </a:r>
            <a:r>
              <a:rPr lang="en-US" dirty="0"/>
              <a:t> all over again</a:t>
            </a:r>
          </a:p>
          <a:p>
            <a:r>
              <a:rPr lang="en-US" dirty="0"/>
              <a:t>Use .</a:t>
            </a:r>
            <a:r>
              <a:rPr lang="en-US" dirty="0" err="1"/>
              <a:t>cahce</a:t>
            </a:r>
            <a:r>
              <a:rPr lang="en-US" dirty="0"/>
              <a:t>() or .persist() </a:t>
            </a:r>
          </a:p>
          <a:p>
            <a:pPr lvl="1"/>
            <a:r>
              <a:rPr lang="en-US" dirty="0"/>
              <a:t>What’s the difference?</a:t>
            </a:r>
          </a:p>
          <a:p>
            <a:pPr lvl="1"/>
            <a:r>
              <a:rPr lang="en-US" dirty="0"/>
              <a:t>Persist() optionally lets you cache it to disk instead of just memory, just in case a node fails </a:t>
            </a:r>
          </a:p>
        </p:txBody>
      </p:sp>
    </p:spTree>
    <p:extLst>
      <p:ext uri="{BB962C8B-B14F-4D97-AF65-F5344CB8AC3E}">
        <p14:creationId xmlns:p14="http://schemas.microsoft.com/office/powerpoint/2010/main" val="55653951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D209A-F9B4-1093-DE6B-8420F1E02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item based collaborative filtering &amp; Caching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AAF5B-6006-7501-388B-88F821849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See the ‘movie-similarities-dataframe.py’ script in the course materials</a:t>
            </a:r>
          </a:p>
        </p:txBody>
      </p:sp>
    </p:spTree>
    <p:extLst>
      <p:ext uri="{BB962C8B-B14F-4D97-AF65-F5344CB8AC3E}">
        <p14:creationId xmlns:p14="http://schemas.microsoft.com/office/powerpoint/2010/main" val="307681409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21AFF-5D8E-D6F6-090F-BC392EB91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Connect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F908B-81CB-5F9B-6C3A-C0FFCBB9F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514808" cy="367830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Client/Server Architecture for Spark</a:t>
            </a:r>
          </a:p>
          <a:p>
            <a:r>
              <a:rPr lang="en-US" dirty="0"/>
              <a:t>Spark Connect API only supports </a:t>
            </a:r>
            <a:r>
              <a:rPr lang="en-US" dirty="0" err="1"/>
              <a:t>DataFrames</a:t>
            </a:r>
            <a:endParaRPr lang="en-US" dirty="0"/>
          </a:p>
          <a:p>
            <a:r>
              <a:rPr lang="en-US" dirty="0"/>
              <a:t>Spark Driver is remote and centralized</a:t>
            </a:r>
          </a:p>
          <a:p>
            <a:r>
              <a:rPr lang="en-US" dirty="0"/>
              <a:t>Clients are then and lightweight</a:t>
            </a:r>
          </a:p>
          <a:p>
            <a:pPr lvl="1"/>
            <a:r>
              <a:rPr lang="en-US" dirty="0"/>
              <a:t>Standalone Python / Go / R scripts</a:t>
            </a:r>
          </a:p>
          <a:p>
            <a:pPr lvl="1"/>
            <a:r>
              <a:rPr lang="en-US" dirty="0"/>
              <a:t>Great for IDE’s and notebooks</a:t>
            </a:r>
          </a:p>
          <a:p>
            <a:pPr lvl="1"/>
            <a:r>
              <a:rPr lang="en-US" dirty="0"/>
              <a:t>Standalone applications </a:t>
            </a:r>
          </a:p>
          <a:p>
            <a:r>
              <a:rPr lang="en-US" dirty="0"/>
              <a:t>Under the hood:</a:t>
            </a:r>
          </a:p>
          <a:p>
            <a:pPr lvl="1"/>
            <a:r>
              <a:rPr lang="en-US" dirty="0"/>
              <a:t>Clients send logical parse plans via </a:t>
            </a:r>
            <a:r>
              <a:rPr lang="en-US" dirty="0" err="1"/>
              <a:t>gRPC</a:t>
            </a:r>
            <a:r>
              <a:rPr lang="en-US" dirty="0"/>
              <a:t> / </a:t>
            </a:r>
            <a:r>
              <a:rPr lang="en-US" dirty="0" err="1"/>
              <a:t>probuf</a:t>
            </a:r>
            <a:endParaRPr lang="en-US" dirty="0"/>
          </a:p>
          <a:p>
            <a:pPr lvl="1"/>
            <a:r>
              <a:rPr lang="en-US" dirty="0"/>
              <a:t>Results streamed from server to clients via </a:t>
            </a:r>
            <a:r>
              <a:rPr lang="en-US" dirty="0" err="1"/>
              <a:t>gRPC</a:t>
            </a:r>
            <a:r>
              <a:rPr lang="en-US" dirty="0"/>
              <a:t> / Apache Arrow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B1AE36-1197-0EB4-6CA6-F650E90FA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483" y="2328723"/>
            <a:ext cx="5191850" cy="338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89114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B3894-CE09-A597-2857-A3E18DA01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Spark connect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A8738-2139-3BFB-D0D2-72A2727CC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Applications are isolated and less likely to bring down your entire Spark server</a:t>
            </a:r>
          </a:p>
          <a:p>
            <a:r>
              <a:rPr lang="en-US" dirty="0"/>
              <a:t>Applications require less memory and start faster</a:t>
            </a:r>
          </a:p>
          <a:p>
            <a:pPr lvl="1"/>
            <a:r>
              <a:rPr lang="en-US" dirty="0"/>
              <a:t>This also speeds up development and prototyping</a:t>
            </a:r>
          </a:p>
          <a:p>
            <a:r>
              <a:rPr lang="en-US" dirty="0"/>
              <a:t>Easier to upgrade Spark versions (just upgrade the server, not the clients / application)</a:t>
            </a:r>
          </a:p>
          <a:p>
            <a:r>
              <a:rPr lang="en-US" dirty="0"/>
              <a:t>Easier to debug applications that aren’t wound into Spark itself</a:t>
            </a:r>
          </a:p>
          <a:p>
            <a:r>
              <a:rPr lang="en-US" dirty="0"/>
              <a:t>Centralizing Spark can save resources</a:t>
            </a:r>
          </a:p>
          <a:p>
            <a:r>
              <a:rPr lang="en-US" dirty="0"/>
              <a:t>Executors are better utilized (as they can run multiple client apps)</a:t>
            </a:r>
          </a:p>
        </p:txBody>
      </p:sp>
    </p:spTree>
    <p:extLst>
      <p:ext uri="{BB962C8B-B14F-4D97-AF65-F5344CB8AC3E}">
        <p14:creationId xmlns:p14="http://schemas.microsoft.com/office/powerpoint/2010/main" val="420188603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54CFF-6E6B-919E-1C53-95860AF35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Spark Connect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48191-19CC-F770-127D-46FC14F86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Install Spark as usual on the server</a:t>
            </a:r>
          </a:p>
          <a:p>
            <a:r>
              <a:rPr lang="en-US" dirty="0"/>
              <a:t>Start it with the sbin/start-connect-server.sh script</a:t>
            </a:r>
          </a:p>
          <a:p>
            <a:pPr lvl="1"/>
            <a:r>
              <a:rPr lang="en-US" dirty="0"/>
              <a:t>start-connect-server.sh –packages org.apache.spark:spark-connect_2.13:4.0.0 (substitute your own spark/scala versions)</a:t>
            </a:r>
          </a:p>
          <a:p>
            <a:r>
              <a:rPr lang="en-US" dirty="0"/>
              <a:t>Python client: install </a:t>
            </a:r>
            <a:r>
              <a:rPr lang="en-US" dirty="0" err="1"/>
              <a:t>pyspark</a:t>
            </a:r>
            <a:r>
              <a:rPr lang="en-US" dirty="0"/>
              <a:t>[connect] package</a:t>
            </a:r>
          </a:p>
          <a:p>
            <a:r>
              <a:rPr lang="en-US" dirty="0"/>
              <a:t>Construct your </a:t>
            </a:r>
            <a:r>
              <a:rPr lang="en-US" dirty="0" err="1"/>
              <a:t>SparkSession</a:t>
            </a:r>
            <a:r>
              <a:rPr lang="en-US" dirty="0"/>
              <a:t> like this:</a:t>
            </a:r>
          </a:p>
          <a:p>
            <a:pPr lvl="1"/>
            <a:r>
              <a:rPr lang="en-US" dirty="0"/>
              <a:t>spark = </a:t>
            </a:r>
            <a:r>
              <a:rPr lang="en-US" dirty="0" err="1"/>
              <a:t>SparkSession.builder.remote</a:t>
            </a:r>
            <a:r>
              <a:rPr lang="en-US" dirty="0"/>
              <a:t>(“</a:t>
            </a:r>
            <a:r>
              <a:rPr lang="en-US" dirty="0" err="1"/>
              <a:t>sc</a:t>
            </a:r>
            <a:r>
              <a:rPr lang="en-US" dirty="0"/>
              <a:t>://hostname.company.com:15002”).</a:t>
            </a:r>
            <a:r>
              <a:rPr lang="en-US" dirty="0" err="1"/>
              <a:t>appName</a:t>
            </a:r>
            <a:r>
              <a:rPr lang="en-US" dirty="0"/>
              <a:t>(“</a:t>
            </a:r>
            <a:r>
              <a:rPr lang="en-US" dirty="0" err="1"/>
              <a:t>MyApp</a:t>
            </a:r>
            <a:r>
              <a:rPr lang="en-US" dirty="0"/>
              <a:t>”).</a:t>
            </a:r>
            <a:r>
              <a:rPr lang="en-US" dirty="0" err="1"/>
              <a:t>getOrCreate</a:t>
            </a:r>
            <a:r>
              <a:rPr lang="en-US" dirty="0"/>
              <a:t>()</a:t>
            </a:r>
          </a:p>
          <a:p>
            <a:r>
              <a:rPr lang="en-US" dirty="0"/>
              <a:t>Can’t use RDD’s or </a:t>
            </a:r>
            <a:r>
              <a:rPr lang="en-US" dirty="0" err="1"/>
              <a:t>SparkContext</a:t>
            </a:r>
            <a:r>
              <a:rPr lang="en-US" dirty="0"/>
              <a:t> APIs </a:t>
            </a:r>
          </a:p>
          <a:p>
            <a:pPr lvl="1"/>
            <a:r>
              <a:rPr lang="en-US" dirty="0"/>
              <a:t>(and some others like </a:t>
            </a:r>
            <a:r>
              <a:rPr lang="en-US" dirty="0" err="1"/>
              <a:t>SessionState</a:t>
            </a:r>
            <a:r>
              <a:rPr lang="en-US" dirty="0"/>
              <a:t>, but the list is always changing)</a:t>
            </a:r>
          </a:p>
        </p:txBody>
      </p:sp>
    </p:spTree>
    <p:extLst>
      <p:ext uri="{BB962C8B-B14F-4D97-AF65-F5344CB8AC3E}">
        <p14:creationId xmlns:p14="http://schemas.microsoft.com/office/powerpoint/2010/main" val="28205220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5314C-14C0-AB9F-3992-5A5E75D9D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Amazon EMR – elastic Map Reduce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E615E-5A02-1804-74B1-26EDBF21C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359293"/>
          </a:xfrm>
        </p:spPr>
        <p:txBody>
          <a:bodyPr/>
          <a:lstStyle/>
          <a:p>
            <a:r>
              <a:rPr lang="en-US" dirty="0"/>
              <a:t>Very quick and easy way to rent time on a cluster of your own</a:t>
            </a:r>
          </a:p>
          <a:p>
            <a:r>
              <a:rPr lang="en-US" dirty="0"/>
              <a:t>Sets up a default spark configuration for you on top of Hadoop’s YARN cluster manager</a:t>
            </a:r>
          </a:p>
          <a:p>
            <a:r>
              <a:rPr lang="en-US" dirty="0"/>
              <a:t>Spark also has a built-in standalone cluster manager, and scripts to set up its own EC2 based cluster</a:t>
            </a:r>
          </a:p>
          <a:p>
            <a:pPr lvl="1"/>
            <a:r>
              <a:rPr lang="en-US" dirty="0"/>
              <a:t>The AWS console makes this even easier </a:t>
            </a:r>
          </a:p>
          <a:p>
            <a:r>
              <a:rPr lang="en-US" dirty="0"/>
              <a:t>Spark on EMR isn’t really expensive, but it’s also not cheap</a:t>
            </a:r>
          </a:p>
          <a:p>
            <a:pPr lvl="1"/>
            <a:r>
              <a:rPr lang="en-US" dirty="0"/>
              <a:t>Will likely be using a m3.xlarge instance or similar </a:t>
            </a:r>
          </a:p>
          <a:p>
            <a:pPr lvl="1"/>
            <a:r>
              <a:rPr lang="en-US" dirty="0"/>
              <a:t>You need to remember to shut down your clusters when done or else…</a:t>
            </a:r>
          </a:p>
          <a:p>
            <a:pPr lvl="1"/>
            <a:r>
              <a:rPr lang="en-US" dirty="0"/>
              <a:t>You may want to make sure things run locally on a subset of the data first</a:t>
            </a:r>
          </a:p>
        </p:txBody>
      </p:sp>
    </p:spTree>
    <p:extLst>
      <p:ext uri="{BB962C8B-B14F-4D97-AF65-F5344CB8AC3E}">
        <p14:creationId xmlns:p14="http://schemas.microsoft.com/office/powerpoint/2010/main" val="362744809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84968-76F5-E61E-3143-AD18F1450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61467-6BE0-B930-3948-6E3DCE6C4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18190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C488F-53EE-158B-83F1-79F64C7EB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BCF0C0D-391B-0915-F0DA-93E9EAB33EA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1192" y="2180496"/>
          <a:ext cx="11029615" cy="3678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6345634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3C9AD-CEB2-5802-6F5E-C97C93608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6C32F-873A-1EB8-6503-0C374A948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972217"/>
          </a:xfrm>
        </p:spPr>
        <p:txBody>
          <a:bodyPr>
            <a:normAutofit/>
          </a:bodyPr>
          <a:lstStyle/>
          <a:p>
            <a:pPr marL="305435" indent="-305435"/>
            <a:r>
              <a:rPr lang="en-US" dirty="0">
                <a:latin typeface="Gill Sans MT"/>
                <a:cs typeface="Segoe UI"/>
              </a:rPr>
              <a:t>I’ve been at Revature 4 years</a:t>
            </a:r>
          </a:p>
          <a:p>
            <a:pPr marL="305435" indent="-305435"/>
            <a:r>
              <a:rPr lang="en-US" dirty="0">
                <a:latin typeface="Gill Sans MT"/>
                <a:cs typeface="Segoe UI"/>
              </a:rPr>
              <a:t>I teach Salesforce, ServiceNow, &amp; .NET</a:t>
            </a:r>
          </a:p>
          <a:p>
            <a:pPr marL="305435" indent="-305435"/>
            <a:r>
              <a:rPr lang="en-US" dirty="0">
                <a:latin typeface="Gill Sans MT"/>
                <a:cs typeface="Segoe UI"/>
              </a:rPr>
              <a:t>Currently hold the CSA certification</a:t>
            </a:r>
          </a:p>
          <a:p>
            <a:pPr marL="305435" indent="-305435"/>
            <a:r>
              <a:rPr lang="en-US" dirty="0">
                <a:latin typeface="Gill Sans MT"/>
                <a:cs typeface="Segoe UI"/>
              </a:rPr>
              <a:t>Current favorite game: WoW </a:t>
            </a:r>
          </a:p>
        </p:txBody>
      </p:sp>
      <p:pic>
        <p:nvPicPr>
          <p:cNvPr id="5" name="Picture 4" descr="A person in a suit&#10;&#10;AI-generated content may be incorrect.">
            <a:extLst>
              <a:ext uri="{FF2B5EF4-FFF2-40B4-BE49-F238E27FC236}">
                <a16:creationId xmlns:a16="http://schemas.microsoft.com/office/drawing/2014/main" id="{CC025A48-B339-8A17-FC35-75E691CF8E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850" y="2737854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24681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98399-EA03-424C-8D31-C6B6817F6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 dirty="0"/>
              <a:t>What to Expect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E5ECF4-F003-4F1C-B9D1-DBB1C70A8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2180496"/>
            <a:ext cx="3703320" cy="4045683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logo of a coffee cup&#10;&#10;AI-generated content may be incorrect.">
            <a:extLst>
              <a:ext uri="{FF2B5EF4-FFF2-40B4-BE49-F238E27FC236}">
                <a16:creationId xmlns:a16="http://schemas.microsoft.com/office/drawing/2014/main" id="{1443CB83-FEC9-7C45-7E5D-605CF7E416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110" y="2361057"/>
            <a:ext cx="2845404" cy="1778378"/>
          </a:xfrm>
          <a:prstGeom prst="rect">
            <a:avLst/>
          </a:prstGeom>
        </p:spPr>
      </p:pic>
      <p:pic>
        <p:nvPicPr>
          <p:cNvPr id="4" name="Picture 3" descr="ServiceNow logo transparent PNG - StickPNG">
            <a:extLst>
              <a:ext uri="{FF2B5EF4-FFF2-40B4-BE49-F238E27FC236}">
                <a16:creationId xmlns:a16="http://schemas.microsoft.com/office/drawing/2014/main" id="{9720925D-B793-4C31-82D2-B813C1DC8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4836014"/>
            <a:ext cx="3305175" cy="57014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26B51-4938-4211-37F2-2A081C5D1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5325" y="2180496"/>
            <a:ext cx="7105481" cy="4045683"/>
          </a:xfrm>
        </p:spPr>
        <p:txBody>
          <a:bodyPr>
            <a:normAutofit/>
          </a:bodyPr>
          <a:lstStyle/>
          <a:p>
            <a:pPr marL="305435" indent="-305435"/>
            <a:r>
              <a:rPr lang="en-US" dirty="0"/>
              <a:t>13-week course</a:t>
            </a:r>
          </a:p>
          <a:p>
            <a:pPr marL="629435" lvl="1" indent="-305435"/>
            <a:r>
              <a:rPr lang="en-US" dirty="0"/>
              <a:t>First 8 weeks is ServiceNow</a:t>
            </a:r>
          </a:p>
          <a:p>
            <a:pPr marL="629435" lvl="1" indent="-305435"/>
            <a:r>
              <a:rPr lang="en-US" dirty="0"/>
              <a:t>Remaining 5 weeks will focus on Java</a:t>
            </a:r>
          </a:p>
          <a:p>
            <a:pPr marL="305435" indent="-305435"/>
            <a:r>
              <a:rPr lang="en-US" dirty="0"/>
              <a:t>Various Assessment Types</a:t>
            </a:r>
          </a:p>
          <a:p>
            <a:pPr marL="629435" lvl="1" indent="-305435"/>
            <a:r>
              <a:rPr lang="en-US" dirty="0"/>
              <a:t>Exams – Multiple Choice, Multiple Select, Short Answers</a:t>
            </a:r>
          </a:p>
          <a:p>
            <a:pPr marL="629435" lvl="1" indent="-305435"/>
            <a:r>
              <a:rPr lang="en-US" dirty="0"/>
              <a:t>QC – Panel-Type Live Interviews</a:t>
            </a:r>
          </a:p>
          <a:p>
            <a:pPr marL="629435" lvl="1" indent="-305435"/>
            <a:r>
              <a:rPr lang="en-US" dirty="0"/>
              <a:t>1-on-1s – Evaluations completed by the trainer (Loom or face-to-face)</a:t>
            </a:r>
          </a:p>
          <a:p>
            <a:pPr marL="629435" lvl="1" indent="-305435"/>
            <a:r>
              <a:rPr lang="en-US" dirty="0"/>
              <a:t>Projects – Assigned project work that covers discussed topics (keep up day-to-day and you won’t be behind)</a:t>
            </a:r>
          </a:p>
        </p:txBody>
      </p:sp>
    </p:spTree>
    <p:extLst>
      <p:ext uri="{BB962C8B-B14F-4D97-AF65-F5344CB8AC3E}">
        <p14:creationId xmlns:p14="http://schemas.microsoft.com/office/powerpoint/2010/main" val="254069211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92356-009E-B671-396C-A5A470486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Excel in this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EFB58-5DAE-C3C2-2D49-7AE40E759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2918"/>
            <a:ext cx="11029615" cy="1681246"/>
          </a:xfrm>
        </p:spPr>
        <p:txBody>
          <a:bodyPr/>
          <a:lstStyle/>
          <a:p>
            <a:r>
              <a:rPr lang="en-US" dirty="0"/>
              <a:t>We will use slide decks throughout the course. </a:t>
            </a:r>
          </a:p>
          <a:p>
            <a:r>
              <a:rPr lang="en-US" dirty="0"/>
              <a:t>If it is on the slide deck, it is important, and you should consider writing it down. </a:t>
            </a:r>
          </a:p>
          <a:p>
            <a:r>
              <a:rPr lang="en-US" dirty="0"/>
              <a:t>Sometimes, you may see a definition, like this: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52E508-0D10-9772-84C7-FCC523BB1A8A}"/>
              </a:ext>
            </a:extLst>
          </p:cNvPr>
          <p:cNvSpPr txBox="1"/>
          <p:nvPr/>
        </p:nvSpPr>
        <p:spPr>
          <a:xfrm>
            <a:off x="1739151" y="3429000"/>
            <a:ext cx="87136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Definition: </a:t>
            </a:r>
            <a:r>
              <a:rPr lang="en-US" dirty="0">
                <a:solidFill>
                  <a:srgbClr val="00B050"/>
                </a:solidFill>
              </a:rPr>
              <a:t>ServiceNow</a:t>
            </a:r>
            <a:r>
              <a:rPr lang="en-US" dirty="0"/>
              <a:t> – A cloud-based, ITSM platform that helps organizations manage and automate their work processes across IT, HR, Customer Service, and more.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4BB974-FD75-0303-8FBE-56D4DFC4209D}"/>
              </a:ext>
            </a:extLst>
          </p:cNvPr>
          <p:cNvSpPr txBox="1"/>
          <p:nvPr/>
        </p:nvSpPr>
        <p:spPr>
          <a:xfrm>
            <a:off x="581190" y="4361691"/>
            <a:ext cx="88586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If you see a definition: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Write it down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Write down what its context is in the larger scope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E.G. ServiceNow is often just one piece in an enterprise system.  An organization may have many off-the-shelf software products that may integrate with ServiceNow.</a:t>
            </a:r>
          </a:p>
        </p:txBody>
      </p:sp>
    </p:spTree>
    <p:extLst>
      <p:ext uri="{BB962C8B-B14F-4D97-AF65-F5344CB8AC3E}">
        <p14:creationId xmlns:p14="http://schemas.microsoft.com/office/powerpoint/2010/main" val="387037044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83D92F2-BD3F-5502-960E-3CFF35778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234C-D59D-E997-1AA0-D508BFFD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Demo – How to Excel in this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8E57B-9E41-4816-C2F2-1105A90F8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Complete a hands-on challenge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E50FF0-C783-F3C0-044D-2F094F317804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5306AE-2095-D0AE-E069-321DBC55370F}"/>
              </a:ext>
            </a:extLst>
          </p:cNvPr>
          <p:cNvSpPr txBox="1"/>
          <p:nvPr/>
        </p:nvSpPr>
        <p:spPr>
          <a:xfrm>
            <a:off x="6949165" y="2402747"/>
            <a:ext cx="4661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5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1B443B1-E14C-64AB-9E9D-75FFCF923C2B}"/>
              </a:ext>
            </a:extLst>
          </p:cNvPr>
          <p:cNvSpPr txBox="1">
            <a:spLocks/>
          </p:cNvSpPr>
          <p:nvPr/>
        </p:nvSpPr>
        <p:spPr>
          <a:xfrm>
            <a:off x="6545749" y="2772079"/>
            <a:ext cx="4661642" cy="1681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to relay technical concepts to you. Clients often need to do the same. Take a few moments to get some pen and paper ready to take notes. </a:t>
            </a:r>
          </a:p>
        </p:txBody>
      </p:sp>
    </p:spTree>
    <p:extLst>
      <p:ext uri="{BB962C8B-B14F-4D97-AF65-F5344CB8AC3E}">
        <p14:creationId xmlns:p14="http://schemas.microsoft.com/office/powerpoint/2010/main" val="358787138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Metadata/LabelInfo.xml><?xml version="1.0" encoding="utf-8"?>
<clbl:labelList xmlns:clbl="http://schemas.microsoft.com/office/2020/mipLabelMetadata">
  <clbl:label id="{6b63e28a-a8f9-47b5-aa40-97e231215164}" enabled="0" method="" siteId="{6b63e28a-a8f9-47b5-aa40-97e2312151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23126</TotalTime>
  <Words>4489</Words>
  <Application>Microsoft Office PowerPoint</Application>
  <PresentationFormat>Widescreen</PresentationFormat>
  <Paragraphs>532</Paragraphs>
  <Slides>94</Slides>
  <Notes>0</Notes>
  <HiddenSlides>5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94</vt:i4>
      </vt:variant>
    </vt:vector>
  </HeadingPairs>
  <TitlesOfParts>
    <vt:vector size="100" baseType="lpstr">
      <vt:lpstr>Arial</vt:lpstr>
      <vt:lpstr>Courier New</vt:lpstr>
      <vt:lpstr>Gill Sans MT</vt:lpstr>
      <vt:lpstr>Wingdings</vt:lpstr>
      <vt:lpstr>Wingdings 2</vt:lpstr>
      <vt:lpstr>Dividend</vt:lpstr>
      <vt:lpstr>pySpark</vt:lpstr>
      <vt:lpstr>Curriculum</vt:lpstr>
      <vt:lpstr>SPARK vs PySpark</vt:lpstr>
      <vt:lpstr>Spark vs PySpark</vt:lpstr>
      <vt:lpstr>Apache Hadoop</vt:lpstr>
      <vt:lpstr>PySpark Setup</vt:lpstr>
      <vt:lpstr>Other Apt Commands</vt:lpstr>
      <vt:lpstr>PySpark Setup</vt:lpstr>
      <vt:lpstr>PySpark Setup</vt:lpstr>
      <vt:lpstr>VSCODE – Recommended Extensions</vt:lpstr>
      <vt:lpstr>PySpark Example</vt:lpstr>
      <vt:lpstr>Spark 3.5 features</vt:lpstr>
      <vt:lpstr>SPARK 4 features – Ansi mode by default</vt:lpstr>
      <vt:lpstr>SPARK 4 features – Variant data type</vt:lpstr>
      <vt:lpstr>SPARK 4 features – Collation support</vt:lpstr>
      <vt:lpstr>SPARK 4 features – Data Source API’s</vt:lpstr>
      <vt:lpstr>Spark Architecture</vt:lpstr>
      <vt:lpstr>Components of Spark</vt:lpstr>
      <vt:lpstr>Components of Pyspark</vt:lpstr>
      <vt:lpstr>RDD – The Resilient Distributed Dataset</vt:lpstr>
      <vt:lpstr>The Sparkcontext</vt:lpstr>
      <vt:lpstr>Creating Rdd’s</vt:lpstr>
      <vt:lpstr>Transforming RDD’s</vt:lpstr>
      <vt:lpstr>Python Lambdas</vt:lpstr>
      <vt:lpstr>Actions on Rdd’s</vt:lpstr>
      <vt:lpstr>Sample Breakdown</vt:lpstr>
      <vt:lpstr>Sample Breakdown</vt:lpstr>
      <vt:lpstr>Sample Breakdown</vt:lpstr>
      <vt:lpstr>Spark-submit</vt:lpstr>
      <vt:lpstr>Key / Value RDD</vt:lpstr>
      <vt:lpstr>SQL-style Joins on 2 key/value RDD’s</vt:lpstr>
      <vt:lpstr>RDD Best Practices</vt:lpstr>
      <vt:lpstr>PrettyTable</vt:lpstr>
      <vt:lpstr>Friends by Age Example</vt:lpstr>
      <vt:lpstr>Friends by age Example</vt:lpstr>
      <vt:lpstr>Filter() – 1800s weatherstation data</vt:lpstr>
      <vt:lpstr>Measure Minimum Temps</vt:lpstr>
      <vt:lpstr>Challenge – Find Maximum temps</vt:lpstr>
      <vt:lpstr>Map vs Flatmap</vt:lpstr>
      <vt:lpstr>Word Count Example</vt:lpstr>
      <vt:lpstr>Text Normalization</vt:lpstr>
      <vt:lpstr>Improved Word Count Example</vt:lpstr>
      <vt:lpstr>Sort Word Count Example</vt:lpstr>
      <vt:lpstr>Sort Word Count Example</vt:lpstr>
      <vt:lpstr>Challenge – Customer totals sorted</vt:lpstr>
      <vt:lpstr>Shuffling</vt:lpstr>
      <vt:lpstr>Shuffling</vt:lpstr>
      <vt:lpstr>Narrow vs wide transformations</vt:lpstr>
      <vt:lpstr>PowerPoint Presentation</vt:lpstr>
      <vt:lpstr>Spark SQL</vt:lpstr>
      <vt:lpstr>Using Spark SQL in Python</vt:lpstr>
      <vt:lpstr>Other stuff you can do with dataframes</vt:lpstr>
      <vt:lpstr>DataFrames vs Datasets</vt:lpstr>
      <vt:lpstr>Shell Access</vt:lpstr>
      <vt:lpstr>User-Defined Functions - udf</vt:lpstr>
      <vt:lpstr># of people by age example</vt:lpstr>
      <vt:lpstr>Inferring Schema datatypes</vt:lpstr>
      <vt:lpstr>Challenge – Friends by age with dataframes</vt:lpstr>
      <vt:lpstr>Solution + Further Examples with AGG()</vt:lpstr>
      <vt:lpstr>Word Count With dataframes</vt:lpstr>
      <vt:lpstr>We can use both RDD and DataFrames</vt:lpstr>
      <vt:lpstr>Min temps with dataframes &amp; Creating Schemas</vt:lpstr>
      <vt:lpstr>Challenge – Add up amount spent by customer Id</vt:lpstr>
      <vt:lpstr>Pandas on Spark</vt:lpstr>
      <vt:lpstr>Examples – provided materials</vt:lpstr>
      <vt:lpstr>Udf – user defined functions -- Review</vt:lpstr>
      <vt:lpstr>Udtf – user defined table functions</vt:lpstr>
      <vt:lpstr>UDF/UDTF examples</vt:lpstr>
      <vt:lpstr>Challenge – Get log information</vt:lpstr>
      <vt:lpstr>Challenge – Find the most popular movies</vt:lpstr>
      <vt:lpstr>Broadcast Variables</vt:lpstr>
      <vt:lpstr>Example – Top 10 movies with title</vt:lpstr>
      <vt:lpstr>Example – top 10 movies with title (join)</vt:lpstr>
      <vt:lpstr>Working with a node Dictionary + Graph Adjacency list</vt:lpstr>
      <vt:lpstr>Example – Find the most popular superhero</vt:lpstr>
      <vt:lpstr>Challenge – Find the most obscure heroes</vt:lpstr>
      <vt:lpstr>Breadth-First search</vt:lpstr>
      <vt:lpstr>Implementing BFS in Pyspark</vt:lpstr>
      <vt:lpstr>Map function to convert graph to bfs nodes</vt:lpstr>
      <vt:lpstr>BFS in action</vt:lpstr>
      <vt:lpstr>Item-Based collaborative filtering</vt:lpstr>
      <vt:lpstr>Making it a spark problem</vt:lpstr>
      <vt:lpstr>Caching datasets</vt:lpstr>
      <vt:lpstr>Example – item based collaborative filtering &amp; Caching</vt:lpstr>
      <vt:lpstr>Spark Connect</vt:lpstr>
      <vt:lpstr>Why Spark connect</vt:lpstr>
      <vt:lpstr>Using Spark Connect</vt:lpstr>
      <vt:lpstr>Amazon EMR – elastic Map Reduce</vt:lpstr>
      <vt:lpstr>PowerPoint Presentation</vt:lpstr>
      <vt:lpstr>Overview</vt:lpstr>
      <vt:lpstr>Introductions</vt:lpstr>
      <vt:lpstr>What to Expect</vt:lpstr>
      <vt:lpstr>How to Excel in this Course</vt:lpstr>
      <vt:lpstr>Challenge Demo – How to Excel in this course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Wilson</dc:creator>
  <cp:lastModifiedBy>Ethan Wilson</cp:lastModifiedBy>
  <cp:revision>616</cp:revision>
  <dcterms:created xsi:type="dcterms:W3CDTF">2025-02-12T19:53:45Z</dcterms:created>
  <dcterms:modified xsi:type="dcterms:W3CDTF">2026-06-30T19:27:18Z</dcterms:modified>
</cp:coreProperties>
</file>