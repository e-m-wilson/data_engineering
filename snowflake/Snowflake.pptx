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2" r:id="rId10"/>
    <p:sldId id="270" r:id="rId11"/>
    <p:sldId id="271" r:id="rId12"/>
    <p:sldId id="273" r:id="rId13"/>
    <p:sldId id="274" r:id="rId14"/>
    <p:sldId id="257" r:id="rId15"/>
    <p:sldId id="258" r:id="rId16"/>
    <p:sldId id="260" r:id="rId17"/>
    <p:sldId id="261" r:id="rId18"/>
    <p:sldId id="26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60" d="100"/>
          <a:sy n="60" d="100"/>
        </p:scale>
        <p:origin x="6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snowflake.com/en/certifications/snowpro-core-c03/?pdf_name=SnowProCoreStudyGuideC03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Snowflake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720D2-4A2C-FD9D-A6C9-83346468A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COF-co3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DDB022B-D990-55D0-E122-3F1A4F4E35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0858" y="3194125"/>
            <a:ext cx="11029950" cy="31012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2F3247-AF7F-D743-96E0-46B5A99A45D3}"/>
              </a:ext>
            </a:extLst>
          </p:cNvPr>
          <p:cNvSpPr txBox="1"/>
          <p:nvPr/>
        </p:nvSpPr>
        <p:spPr>
          <a:xfrm>
            <a:off x="866899" y="2270374"/>
            <a:ext cx="45237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Access the study guide and get more info </a:t>
            </a:r>
            <a:r>
              <a:rPr lang="en-US" dirty="0">
                <a:hlinkClick r:id="rId3"/>
              </a:rPr>
              <a:t>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262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CC695-6CAB-6F7D-5C05-1BC48012B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 Weights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F033B54-1230-F637-F16C-001E65C359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75783" y="2329420"/>
            <a:ext cx="8840434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305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01033-D5A3-1CAE-D25B-F5890FA3E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86DEC-BCA2-7318-7F94-E2169D3682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required for our training </a:t>
            </a:r>
          </a:p>
          <a:p>
            <a:r>
              <a:rPr lang="en-US" dirty="0"/>
              <a:t>$175</a:t>
            </a:r>
          </a:p>
          <a:p>
            <a:r>
              <a:rPr lang="en-US" dirty="0"/>
              <a:t>100 questions </a:t>
            </a:r>
          </a:p>
          <a:p>
            <a:r>
              <a:rPr lang="en-US" dirty="0"/>
              <a:t>115 minutes </a:t>
            </a:r>
          </a:p>
          <a:p>
            <a:r>
              <a:rPr lang="en-US" dirty="0"/>
              <a:t>That’s about 1 minutes 9 seconds per question</a:t>
            </a:r>
          </a:p>
          <a:p>
            <a:r>
              <a:rPr lang="en-US" dirty="0"/>
              <a:t>Multiple choice</a:t>
            </a:r>
          </a:p>
          <a:p>
            <a:r>
              <a:rPr lang="en-US" dirty="0"/>
              <a:t>75% is passing – use the question flagging feature </a:t>
            </a:r>
          </a:p>
        </p:txBody>
      </p:sp>
    </p:spTree>
    <p:extLst>
      <p:ext uri="{BB962C8B-B14F-4D97-AF65-F5344CB8AC3E}">
        <p14:creationId xmlns:p14="http://schemas.microsoft.com/office/powerpoint/2010/main" val="912292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380F6-F002-799C-1072-2D3B859C6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Cert exam tips (for any technical cert exam)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0BB53-B3B0-245E-B5F7-11A423742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84099"/>
          </a:xfrm>
        </p:spPr>
        <p:txBody>
          <a:bodyPr>
            <a:normAutofit/>
          </a:bodyPr>
          <a:lstStyle/>
          <a:p>
            <a:r>
              <a:rPr lang="en-US" b="1" dirty="0"/>
              <a:t>Use the 60-second rule.</a:t>
            </a:r>
            <a:r>
              <a:rPr lang="en-US" dirty="0"/>
              <a:t> If you don't have a strong idea after about a minute, eliminate what you can, choose your best answer, flag it, and move on. Spending 3–4 minutes on one question is usually a net loss. </a:t>
            </a:r>
          </a:p>
          <a:p>
            <a:r>
              <a:rPr lang="en-US" b="1" dirty="0"/>
              <a:t>Answer every question.</a:t>
            </a:r>
            <a:r>
              <a:rPr lang="en-US" dirty="0"/>
              <a:t> There's typically no penalty for incorrect answers on certification exams, so never leave one blank. </a:t>
            </a:r>
          </a:p>
          <a:p>
            <a:r>
              <a:rPr lang="en-US" b="1" dirty="0"/>
              <a:t>Eliminate before choosing.</a:t>
            </a:r>
            <a:r>
              <a:rPr lang="en-US" dirty="0"/>
              <a:t> Often you can remove two clearly incorrect options, improving your odds from 25% to 50%. </a:t>
            </a:r>
          </a:p>
          <a:p>
            <a:r>
              <a:rPr lang="en-US" b="1" dirty="0"/>
              <a:t>Don't overthink familiar topics.</a:t>
            </a:r>
            <a:r>
              <a:rPr lang="en-US" dirty="0"/>
              <a:t> Your first instinct is often correct when you recognize the concept. Only change an answer during review if you can identify a concrete reason it was wrong. </a:t>
            </a:r>
          </a:p>
          <a:p>
            <a:r>
              <a:rPr lang="en-US" b="1" dirty="0"/>
              <a:t>Keep an eye on the clock every 20–25 questions.</a:t>
            </a:r>
            <a:r>
              <a:rPr lang="en-US" dirty="0"/>
              <a:t> Small adjustments are much easier than realizing you're 15 minutes behind near the end.</a:t>
            </a:r>
          </a:p>
        </p:txBody>
      </p:sp>
    </p:spTree>
    <p:extLst>
      <p:ext uri="{BB962C8B-B14F-4D97-AF65-F5344CB8AC3E}">
        <p14:creationId xmlns:p14="http://schemas.microsoft.com/office/powerpoint/2010/main" val="1515050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C7C46-F45C-EDA6-B4C9-3DBE8D8D1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Trial Signup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3C1622E-FA17-106D-7527-65352D28FB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973" y="2151417"/>
            <a:ext cx="6220693" cy="15527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BED7FA-2C01-0349-166A-D3CA363498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8338" y="2297639"/>
            <a:ext cx="3104544" cy="42872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2D6BD50-1719-0B2E-F0F7-C1A1F9D55011}"/>
              </a:ext>
            </a:extLst>
          </p:cNvPr>
          <p:cNvSpPr txBox="1"/>
          <p:nvPr/>
        </p:nvSpPr>
        <p:spPr>
          <a:xfrm>
            <a:off x="635630" y="4524499"/>
            <a:ext cx="685937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Signup for the 30-day trial</a:t>
            </a:r>
          </a:p>
          <a:p>
            <a:pPr marL="285750" indent="-285750">
              <a:buFontTx/>
              <a:buChar char="-"/>
            </a:pPr>
            <a:r>
              <a:rPr lang="en-US" dirty="0"/>
              <a:t>We will get $400 in free credits</a:t>
            </a:r>
          </a:p>
          <a:p>
            <a:pPr marL="285750" indent="-285750">
              <a:buFontTx/>
              <a:buChar char="-"/>
            </a:pPr>
            <a:r>
              <a:rPr lang="en-US" dirty="0"/>
              <a:t>Click the link they send to your email to create our first user, Admin</a:t>
            </a:r>
          </a:p>
        </p:txBody>
      </p:sp>
    </p:spTree>
    <p:extLst>
      <p:ext uri="{BB962C8B-B14F-4D97-AF65-F5344CB8AC3E}">
        <p14:creationId xmlns:p14="http://schemas.microsoft.com/office/powerpoint/2010/main" val="2154447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370DE-8130-C287-3342-6B6CBAF1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 note of your account number &amp; Account Identifier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18197-BA8C-F0BE-7A31-1CA6713C0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596450" cy="1453353"/>
          </a:xfrm>
        </p:spPr>
        <p:txBody>
          <a:bodyPr>
            <a:normAutofit/>
          </a:bodyPr>
          <a:lstStyle/>
          <a:p>
            <a:r>
              <a:rPr lang="en-US" dirty="0"/>
              <a:t>Account Number in </a:t>
            </a:r>
            <a:r>
              <a:rPr lang="en-US" dirty="0" err="1"/>
              <a:t>Snowsight</a:t>
            </a:r>
            <a:r>
              <a:rPr lang="en-US" dirty="0"/>
              <a:t> UI – used for billing, etc. </a:t>
            </a:r>
          </a:p>
          <a:p>
            <a:r>
              <a:rPr lang="en-US" dirty="0"/>
              <a:t>Account Identifier (used to login, and many other things)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5E82BA-9A75-86BD-A3F6-2F43919D7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91430"/>
            <a:ext cx="4433304" cy="45884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DC10965-CFC8-A2C6-24EF-4641A8B7E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688" y="4591638"/>
            <a:ext cx="6535062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4862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E357D-C455-17D9-76B7-57CE75F43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- Workspaces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178760-51D5-5599-C7F8-7AD92D3B05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9875" y="3528781"/>
            <a:ext cx="7368417" cy="32113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54A2E45-48A0-DCA6-10D5-411E0718FE65}"/>
              </a:ext>
            </a:extLst>
          </p:cNvPr>
          <p:cNvSpPr txBox="1"/>
          <p:nvPr/>
        </p:nvSpPr>
        <p:spPr>
          <a:xfrm>
            <a:off x="922475" y="1951672"/>
            <a:ext cx="1060321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 workspace is an environment within the </a:t>
            </a:r>
            <a:r>
              <a:rPr lang="en-US" dirty="0" err="1"/>
              <a:t>Snowsight</a:t>
            </a:r>
            <a:r>
              <a:rPr lang="en-US" dirty="0"/>
              <a:t> user interface that organizes and stores development and analytical assets—such as SQL worksheets, notebooks, and dashboards.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Workspaces enable users to manage, access, and collaborate on these assets independently of the underlying Snowflake data objects (databases, schemas, and warehouses).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Workspaces can be private or shared.</a:t>
            </a:r>
          </a:p>
        </p:txBody>
      </p:sp>
    </p:spTree>
    <p:extLst>
      <p:ext uri="{BB962C8B-B14F-4D97-AF65-F5344CB8AC3E}">
        <p14:creationId xmlns:p14="http://schemas.microsoft.com/office/powerpoint/2010/main" val="874723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B9DA3-1C95-C4CD-4BCA-848B5CF71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Warehouse vs Data lake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D110107-A6C9-32F7-76D8-5EFF4372BD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9033662"/>
              </p:ext>
            </p:extLst>
          </p:nvPr>
        </p:nvGraphicFramePr>
        <p:xfrm>
          <a:off x="2134504" y="2291409"/>
          <a:ext cx="7922991" cy="3695376"/>
        </p:xfrm>
        <a:graphic>
          <a:graphicData uri="http://schemas.openxmlformats.org/drawingml/2006/table">
            <a:tbl>
              <a:tblPr/>
              <a:tblGrid>
                <a:gridCol w="2640997">
                  <a:extLst>
                    <a:ext uri="{9D8B030D-6E8A-4147-A177-3AD203B41FA5}">
                      <a16:colId xmlns:a16="http://schemas.microsoft.com/office/drawing/2014/main" val="3855626703"/>
                    </a:ext>
                  </a:extLst>
                </a:gridCol>
                <a:gridCol w="2640997">
                  <a:extLst>
                    <a:ext uri="{9D8B030D-6E8A-4147-A177-3AD203B41FA5}">
                      <a16:colId xmlns:a16="http://schemas.microsoft.com/office/drawing/2014/main" val="1455984046"/>
                    </a:ext>
                  </a:extLst>
                </a:gridCol>
                <a:gridCol w="2640997">
                  <a:extLst>
                    <a:ext uri="{9D8B030D-6E8A-4147-A177-3AD203B41FA5}">
                      <a16:colId xmlns:a16="http://schemas.microsoft.com/office/drawing/2014/main" val="2804569480"/>
                    </a:ext>
                  </a:extLst>
                </a:gridCol>
              </a:tblGrid>
              <a:tr h="2627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Feature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Data Warehouse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Data Lake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7513938"/>
                  </a:ext>
                </a:extLst>
              </a:tr>
              <a:tr h="459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Purpose</a:t>
                      </a:r>
                      <a:endParaRPr lang="en-US" sz="1300"/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Supports business reporting and analytics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Stores large amounts of raw data for various uses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4709851"/>
                  </a:ext>
                </a:extLst>
              </a:tr>
              <a:tr h="459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Data Type</a:t>
                      </a:r>
                      <a:endParaRPr lang="en-US" sz="1300"/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Primarily structured data (tables, rows, columns)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Structured, semi-structured, and unstructured data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1249007"/>
                  </a:ext>
                </a:extLst>
              </a:tr>
              <a:tr h="6568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Data Processing</a:t>
                      </a:r>
                      <a:endParaRPr lang="en-US" sz="1300"/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Data is cleaned and transformed before loading ("schema-on-write")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Data is stored in its raw form and structured when read ("schema-on-read")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2401944"/>
                  </a:ext>
                </a:extLst>
              </a:tr>
              <a:tr h="459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Users</a:t>
                      </a:r>
                      <a:endParaRPr lang="en-US" sz="1300"/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Business analysts, executives, BI teams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Data scientists, data engineers, ML engineers, analysts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1275722"/>
                  </a:ext>
                </a:extLst>
              </a:tr>
              <a:tr h="459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Performance</a:t>
                      </a:r>
                      <a:endParaRPr lang="en-US" sz="1300"/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Optimized for fast SQL queries and dashboards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Optimized for scalable storage and advanced analytics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6254637"/>
                  </a:ext>
                </a:extLst>
              </a:tr>
              <a:tr h="459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Storage Cost</a:t>
                      </a:r>
                      <a:endParaRPr lang="en-US" sz="1300"/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Typically higher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Typically lower because it uses inexpensive object storage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8989479"/>
                  </a:ext>
                </a:extLst>
              </a:tr>
              <a:tr h="459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b="1"/>
                        <a:t>Examples</a:t>
                      </a:r>
                      <a:endParaRPr lang="en-US" sz="1300"/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Financial reporting, sales dashboards, KPI tracking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 dirty="0"/>
                        <a:t>Machine learning, log analysis, IoT data, clickstream analysis</a:t>
                      </a:r>
                    </a:p>
                  </a:txBody>
                  <a:tcPr marL="65683" marR="65683" marT="32841" marB="32841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403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84614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42ABA-4BA8-E5B2-BE81-4982F5500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snowflake?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8B899-0EC2-0956-B703-1A6128349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cloud native, data platform, that is a SaaS</a:t>
            </a:r>
          </a:p>
          <a:p>
            <a:pPr lvl="1"/>
            <a:r>
              <a:rPr lang="en-US" dirty="0"/>
              <a:t>Cloud Native: under the hood it runs: AWS (native), Azure (2018), Google (2020)</a:t>
            </a:r>
          </a:p>
          <a:p>
            <a:pPr lvl="1"/>
            <a:r>
              <a:rPr lang="en-US" dirty="0"/>
              <a:t>Data Platform</a:t>
            </a:r>
          </a:p>
          <a:p>
            <a:pPr lvl="2"/>
            <a:r>
              <a:rPr lang="en-US" dirty="0"/>
              <a:t>data lake + data warehouse = </a:t>
            </a:r>
            <a:r>
              <a:rPr lang="en-US" dirty="0" err="1"/>
              <a:t>lakehouse</a:t>
            </a:r>
            <a:r>
              <a:rPr lang="en-US" dirty="0"/>
              <a:t> approach; snowflake is more than that</a:t>
            </a:r>
          </a:p>
          <a:p>
            <a:pPr lvl="2"/>
            <a:r>
              <a:rPr lang="en-US" dirty="0"/>
              <a:t>Integrated AI and ML capabilities</a:t>
            </a:r>
          </a:p>
          <a:p>
            <a:pPr lvl="2"/>
            <a:r>
              <a:rPr lang="en-US" dirty="0"/>
              <a:t>Supports ingestion, transformation, orchestration, streaming, and pipelines within the same platform, reducing the need for separate ETL infrastructure</a:t>
            </a:r>
          </a:p>
          <a:p>
            <a:pPr lvl="2"/>
            <a:r>
              <a:rPr lang="en-US" dirty="0"/>
              <a:t>Governance and Security </a:t>
            </a:r>
          </a:p>
          <a:p>
            <a:pPr lvl="1"/>
            <a:r>
              <a:rPr lang="en-US" dirty="0"/>
              <a:t>SaaS – software as a service; many things are managed for us;</a:t>
            </a:r>
          </a:p>
          <a:p>
            <a:pPr lvl="2"/>
            <a:r>
              <a:rPr lang="en-US" dirty="0"/>
              <a:t>Pay as you go model</a:t>
            </a:r>
          </a:p>
        </p:txBody>
      </p:sp>
    </p:spTree>
    <p:extLst>
      <p:ext uri="{BB962C8B-B14F-4D97-AF65-F5344CB8AC3E}">
        <p14:creationId xmlns:p14="http://schemas.microsoft.com/office/powerpoint/2010/main" val="3204299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91639-5A53-831E-D65F-C1909847D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E81EF9-EC3A-4C93-5BBE-13F81CC08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Shared Disk – not scalable due to throughput</a:t>
            </a:r>
          </a:p>
          <a:p>
            <a:r>
              <a:rPr lang="en-US" dirty="0"/>
              <a:t>Shared Nothing – has throughput, but joins aren’t scalable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70A41D-3641-7F5A-AB27-19A081572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1423" y="3877037"/>
            <a:ext cx="4243282" cy="2240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FF36A6-1625-8932-EA13-D6F3F6FAF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7688" y="3040168"/>
            <a:ext cx="3370864" cy="3473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5672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7138E-AA5B-18DD-2E4E-00D282A76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Multi-cluster shared data architecture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439DB2A-F158-C553-8A42-954008BC40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45618" y="1828800"/>
            <a:ext cx="7500763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17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ADEE-3AAD-3BE8-C9BB-5D45C325F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Storage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46BB9-0F69-C88C-909C-82F53999C1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8937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1608</TotalTime>
  <Words>879</Words>
  <Application>Microsoft Office PowerPoint</Application>
  <PresentationFormat>Widescreen</PresentationFormat>
  <Paragraphs>101</Paragraphs>
  <Slides>18</Slides>
  <Notes>0</Notes>
  <HiddenSlides>5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Gill Sans MT</vt:lpstr>
      <vt:lpstr>Wingdings</vt:lpstr>
      <vt:lpstr>Wingdings 2</vt:lpstr>
      <vt:lpstr>Dividend</vt:lpstr>
      <vt:lpstr>Snowflake</vt:lpstr>
      <vt:lpstr>COF-co3</vt:lpstr>
      <vt:lpstr>Exam Weights</vt:lpstr>
      <vt:lpstr>Exam details</vt:lpstr>
      <vt:lpstr>Cert exam tips (for any technical cert exam)</vt:lpstr>
      <vt:lpstr>Trial Signup</vt:lpstr>
      <vt:lpstr>Take note of your account number &amp; Account Identifier</vt:lpstr>
      <vt:lpstr>UI - Workspaces</vt:lpstr>
      <vt:lpstr>Data Warehouse vs Data lake</vt:lpstr>
      <vt:lpstr>What is snowflake?</vt:lpstr>
      <vt:lpstr>Distributed Architectures</vt:lpstr>
      <vt:lpstr>Multi-cluster shared data architecture</vt:lpstr>
      <vt:lpstr>Storage Layer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591</cp:revision>
  <dcterms:created xsi:type="dcterms:W3CDTF">2025-02-12T19:53:45Z</dcterms:created>
  <dcterms:modified xsi:type="dcterms:W3CDTF">2026-07-08T22:31:25Z</dcterms:modified>
</cp:coreProperties>
</file>