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63" r:id="rId3"/>
    <p:sldId id="264" r:id="rId4"/>
    <p:sldId id="265" r:id="rId5"/>
    <p:sldId id="266" r:id="rId6"/>
    <p:sldId id="295" r:id="rId7"/>
    <p:sldId id="267" r:id="rId8"/>
    <p:sldId id="268" r:id="rId9"/>
    <p:sldId id="269" r:id="rId10"/>
    <p:sldId id="272" r:id="rId11"/>
    <p:sldId id="270" r:id="rId12"/>
    <p:sldId id="271" r:id="rId13"/>
    <p:sldId id="273" r:id="rId14"/>
    <p:sldId id="274" r:id="rId15"/>
    <p:sldId id="275" r:id="rId16"/>
    <p:sldId id="276" r:id="rId17"/>
    <p:sldId id="277" r:id="rId18"/>
    <p:sldId id="278" r:id="rId19"/>
    <p:sldId id="279" r:id="rId20"/>
    <p:sldId id="280" r:id="rId21"/>
    <p:sldId id="281" r:id="rId22"/>
    <p:sldId id="282" r:id="rId23"/>
    <p:sldId id="283" r:id="rId24"/>
    <p:sldId id="284" r:id="rId25"/>
    <p:sldId id="285" r:id="rId26"/>
    <p:sldId id="286" r:id="rId27"/>
    <p:sldId id="287" r:id="rId28"/>
    <p:sldId id="288" r:id="rId29"/>
    <p:sldId id="289" r:id="rId30"/>
    <p:sldId id="290" r:id="rId31"/>
    <p:sldId id="291" r:id="rId32"/>
    <p:sldId id="293" r:id="rId33"/>
    <p:sldId id="292" r:id="rId34"/>
    <p:sldId id="294" r:id="rId35"/>
    <p:sldId id="296" r:id="rId36"/>
    <p:sldId id="297" r:id="rId37"/>
    <p:sldId id="299" r:id="rId38"/>
    <p:sldId id="298" r:id="rId39"/>
    <p:sldId id="300" r:id="rId40"/>
    <p:sldId id="301" r:id="rId41"/>
    <p:sldId id="304" r:id="rId42"/>
    <p:sldId id="303" r:id="rId43"/>
    <p:sldId id="302" r:id="rId44"/>
    <p:sldId id="305" r:id="rId45"/>
    <p:sldId id="306" r:id="rId46"/>
    <p:sldId id="307" r:id="rId47"/>
    <p:sldId id="308" r:id="rId48"/>
    <p:sldId id="309" r:id="rId49"/>
    <p:sldId id="310" r:id="rId50"/>
    <p:sldId id="311" r:id="rId51"/>
    <p:sldId id="312" r:id="rId52"/>
    <p:sldId id="313" r:id="rId53"/>
    <p:sldId id="314" r:id="rId54"/>
    <p:sldId id="315" r:id="rId55"/>
    <p:sldId id="316" r:id="rId56"/>
    <p:sldId id="317" r:id="rId57"/>
    <p:sldId id="318" r:id="rId58"/>
    <p:sldId id="319" r:id="rId59"/>
    <p:sldId id="320" r:id="rId60"/>
    <p:sldId id="321" r:id="rId61"/>
    <p:sldId id="322" r:id="rId62"/>
    <p:sldId id="323" r:id="rId63"/>
    <p:sldId id="324" r:id="rId64"/>
    <p:sldId id="325" r:id="rId65"/>
    <p:sldId id="326" r:id="rId66"/>
    <p:sldId id="329" r:id="rId67"/>
    <p:sldId id="327" r:id="rId68"/>
    <p:sldId id="328" r:id="rId69"/>
    <p:sldId id="330" r:id="rId70"/>
    <p:sldId id="331" r:id="rId71"/>
    <p:sldId id="257" r:id="rId72"/>
    <p:sldId id="258" r:id="rId73"/>
    <p:sldId id="260" r:id="rId74"/>
    <p:sldId id="261" r:id="rId75"/>
    <p:sldId id="262" r:id="rId7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D3D3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C8EF453-3095-AE8A-2F6D-B0378CA79EC1}" v="28" dt="2025-06-02T16:07:27.587"/>
    <p1510:client id="{DEF17522-F9FC-8578-697D-16CF15692E13}" v="5" dt="2025-06-03T14:51:56.48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2" autoAdjust="0"/>
    <p:restoredTop sz="94660"/>
  </p:normalViewPr>
  <p:slideViewPr>
    <p:cSldViewPr snapToGrid="0">
      <p:cViewPr varScale="1">
        <p:scale>
          <a:sx n="60" d="100"/>
          <a:sy n="60" d="100"/>
        </p:scale>
        <p:origin x="64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8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diagrams/_rels/data1.xml.rels><?xml version="1.0" encoding="UTF-8" standalone="yes"?>
<Relationships xmlns="http://schemas.openxmlformats.org/package/2006/relationships"><Relationship Id="rId3" Type="http://schemas.openxmlformats.org/officeDocument/2006/relationships/image" Target="../media/image71.svg"/><Relationship Id="rId2" Type="http://schemas.openxmlformats.org/officeDocument/2006/relationships/image" Target="../media/image70.svg"/><Relationship Id="rId1" Type="http://schemas.openxmlformats.org/officeDocument/2006/relationships/image" Target="../media/image69.svg"/></Relationships>
</file>

<file path=ppt/diagrams/_rels/drawing1.xml.rels><?xml version="1.0" encoding="UTF-8" standalone="yes"?>
<Relationships xmlns="http://schemas.openxmlformats.org/package/2006/relationships"><Relationship Id="rId3" Type="http://schemas.openxmlformats.org/officeDocument/2006/relationships/image" Target="../media/image71.svg"/><Relationship Id="rId2" Type="http://schemas.openxmlformats.org/officeDocument/2006/relationships/image" Target="../media/image70.svg"/><Relationship Id="rId1" Type="http://schemas.openxmlformats.org/officeDocument/2006/relationships/image" Target="../media/image69.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726E050-110D-4658-B496-2252EDD5D109}"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57923C1A-FF59-4300-9997-9B5EFFCD9BFC}">
      <dgm:prSet/>
      <dgm:spPr/>
      <dgm:t>
        <a:bodyPr/>
        <a:lstStyle/>
        <a:p>
          <a:pPr>
            <a:lnSpc>
              <a:spcPct val="100000"/>
            </a:lnSpc>
          </a:pPr>
          <a:r>
            <a:rPr lang="en-US"/>
            <a:t>Introductions</a:t>
          </a:r>
        </a:p>
      </dgm:t>
    </dgm:pt>
    <dgm:pt modelId="{2FA4B52F-8D46-4A76-B2B8-6677FB63F86C}" type="parTrans" cxnId="{AA9147CA-D6AF-437C-AE34-BAA5F20A547A}">
      <dgm:prSet/>
      <dgm:spPr/>
      <dgm:t>
        <a:bodyPr/>
        <a:lstStyle/>
        <a:p>
          <a:endParaRPr lang="en-US"/>
        </a:p>
      </dgm:t>
    </dgm:pt>
    <dgm:pt modelId="{E1BA9985-B1BF-4BFF-AFF0-048E2215BD88}" type="sibTrans" cxnId="{AA9147CA-D6AF-437C-AE34-BAA5F20A547A}">
      <dgm:prSet/>
      <dgm:spPr/>
      <dgm:t>
        <a:bodyPr/>
        <a:lstStyle/>
        <a:p>
          <a:endParaRPr lang="en-US"/>
        </a:p>
      </dgm:t>
    </dgm:pt>
    <dgm:pt modelId="{EA2DB709-2347-445B-9848-85D77F670862}">
      <dgm:prSet/>
      <dgm:spPr/>
      <dgm:t>
        <a:bodyPr/>
        <a:lstStyle/>
        <a:p>
          <a:pPr>
            <a:lnSpc>
              <a:spcPct val="100000"/>
            </a:lnSpc>
          </a:pPr>
          <a:r>
            <a:rPr lang="en-US"/>
            <a:t>What to Expect</a:t>
          </a:r>
        </a:p>
      </dgm:t>
    </dgm:pt>
    <dgm:pt modelId="{8BF4C137-F227-4C28-95A4-F210521D190E}" type="parTrans" cxnId="{FD6A8E58-6D21-409C-889A-7E66BC4677F7}">
      <dgm:prSet/>
      <dgm:spPr/>
      <dgm:t>
        <a:bodyPr/>
        <a:lstStyle/>
        <a:p>
          <a:endParaRPr lang="en-US"/>
        </a:p>
      </dgm:t>
    </dgm:pt>
    <dgm:pt modelId="{A8BA4347-4386-4AA2-8329-B0C65B7CAEDC}" type="sibTrans" cxnId="{FD6A8E58-6D21-409C-889A-7E66BC4677F7}">
      <dgm:prSet/>
      <dgm:spPr/>
      <dgm:t>
        <a:bodyPr/>
        <a:lstStyle/>
        <a:p>
          <a:endParaRPr lang="en-US"/>
        </a:p>
      </dgm:t>
    </dgm:pt>
    <dgm:pt modelId="{0A104462-619F-4DC7-BFF1-9C9A22513BB5}">
      <dgm:prSet/>
      <dgm:spPr/>
      <dgm:t>
        <a:bodyPr/>
        <a:lstStyle/>
        <a:p>
          <a:pPr>
            <a:lnSpc>
              <a:spcPct val="100000"/>
            </a:lnSpc>
          </a:pPr>
          <a:r>
            <a:rPr lang="en-US"/>
            <a:t>How to Excel in this Course</a:t>
          </a:r>
        </a:p>
      </dgm:t>
    </dgm:pt>
    <dgm:pt modelId="{EEE27C43-63A5-4528-AC22-72821129BE47}" type="parTrans" cxnId="{5B9560AB-F1C8-42FF-9B08-3250BBA89DF9}">
      <dgm:prSet/>
      <dgm:spPr/>
      <dgm:t>
        <a:bodyPr/>
        <a:lstStyle/>
        <a:p>
          <a:endParaRPr lang="en-US"/>
        </a:p>
      </dgm:t>
    </dgm:pt>
    <dgm:pt modelId="{FE9586A2-A7C4-4FC2-9E55-398D3A44D157}" type="sibTrans" cxnId="{5B9560AB-F1C8-42FF-9B08-3250BBA89DF9}">
      <dgm:prSet/>
      <dgm:spPr/>
      <dgm:t>
        <a:bodyPr/>
        <a:lstStyle/>
        <a:p>
          <a:endParaRPr lang="en-US"/>
        </a:p>
      </dgm:t>
    </dgm:pt>
    <dgm:pt modelId="{7FF25906-3454-4A54-877E-EAD1BB173A8D}" type="pres">
      <dgm:prSet presAssocID="{6726E050-110D-4658-B496-2252EDD5D109}" presName="root" presStyleCnt="0">
        <dgm:presLayoutVars>
          <dgm:dir/>
          <dgm:resizeHandles val="exact"/>
        </dgm:presLayoutVars>
      </dgm:prSet>
      <dgm:spPr/>
    </dgm:pt>
    <dgm:pt modelId="{9C9E42D0-6C64-45D7-A725-0E8364597ED8}" type="pres">
      <dgm:prSet presAssocID="{57923C1A-FF59-4300-9997-9B5EFFCD9BFC}" presName="compNode" presStyleCnt="0"/>
      <dgm:spPr/>
    </dgm:pt>
    <dgm:pt modelId="{94354C5B-BBC5-4AC9-A20D-73E61A8F6231}" type="pres">
      <dgm:prSet presAssocID="{57923C1A-FF59-4300-9997-9B5EFFCD9BFC}" presName="bgRect" presStyleLbl="bgShp" presStyleIdx="0" presStyleCnt="3"/>
      <dgm:spPr/>
    </dgm:pt>
    <dgm:pt modelId="{5648FDBD-141E-4873-86B4-6BC7A2C6D834}" type="pres">
      <dgm:prSet presAssocID="{57923C1A-FF59-4300-9997-9B5EFFCD9BFC}"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Handshake"/>
        </a:ext>
      </dgm:extLst>
    </dgm:pt>
    <dgm:pt modelId="{96682B1E-9176-4BB9-9A25-974EDBFAF284}" type="pres">
      <dgm:prSet presAssocID="{57923C1A-FF59-4300-9997-9B5EFFCD9BFC}" presName="spaceRect" presStyleCnt="0"/>
      <dgm:spPr/>
    </dgm:pt>
    <dgm:pt modelId="{459361BD-8E9E-4710-BD6B-F0798A448837}" type="pres">
      <dgm:prSet presAssocID="{57923C1A-FF59-4300-9997-9B5EFFCD9BFC}" presName="parTx" presStyleLbl="revTx" presStyleIdx="0" presStyleCnt="3">
        <dgm:presLayoutVars>
          <dgm:chMax val="0"/>
          <dgm:chPref val="0"/>
        </dgm:presLayoutVars>
      </dgm:prSet>
      <dgm:spPr/>
    </dgm:pt>
    <dgm:pt modelId="{B643C6CA-7983-420D-B77A-74B078063629}" type="pres">
      <dgm:prSet presAssocID="{E1BA9985-B1BF-4BFF-AFF0-048E2215BD88}" presName="sibTrans" presStyleCnt="0"/>
      <dgm:spPr/>
    </dgm:pt>
    <dgm:pt modelId="{4D9ACDDC-669E-4936-B852-F3E2856B6CB4}" type="pres">
      <dgm:prSet presAssocID="{EA2DB709-2347-445B-9848-85D77F670862}" presName="compNode" presStyleCnt="0"/>
      <dgm:spPr/>
    </dgm:pt>
    <dgm:pt modelId="{83295714-FB3A-4E9A-9889-AA3B82C3770C}" type="pres">
      <dgm:prSet presAssocID="{EA2DB709-2347-445B-9848-85D77F670862}" presName="bgRect" presStyleLbl="bgShp" presStyleIdx="1" presStyleCnt="3"/>
      <dgm:spPr/>
    </dgm:pt>
    <dgm:pt modelId="{3989ACC5-978D-4FCC-91E8-0FA6CCDB06AB}" type="pres">
      <dgm:prSet presAssocID="{EA2DB709-2347-445B-9848-85D77F670862}"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Head with Gears"/>
        </a:ext>
      </dgm:extLst>
    </dgm:pt>
    <dgm:pt modelId="{9B9BA50C-F4D4-4F29-B43E-AAFA582629EA}" type="pres">
      <dgm:prSet presAssocID="{EA2DB709-2347-445B-9848-85D77F670862}" presName="spaceRect" presStyleCnt="0"/>
      <dgm:spPr/>
    </dgm:pt>
    <dgm:pt modelId="{0A96CB8C-0E81-4823-B442-799062EA9C60}" type="pres">
      <dgm:prSet presAssocID="{EA2DB709-2347-445B-9848-85D77F670862}" presName="parTx" presStyleLbl="revTx" presStyleIdx="1" presStyleCnt="3">
        <dgm:presLayoutVars>
          <dgm:chMax val="0"/>
          <dgm:chPref val="0"/>
        </dgm:presLayoutVars>
      </dgm:prSet>
      <dgm:spPr/>
    </dgm:pt>
    <dgm:pt modelId="{A16FF7F3-924B-4321-A995-D2C6A9DFF16A}" type="pres">
      <dgm:prSet presAssocID="{A8BA4347-4386-4AA2-8329-B0C65B7CAEDC}" presName="sibTrans" presStyleCnt="0"/>
      <dgm:spPr/>
    </dgm:pt>
    <dgm:pt modelId="{70F6743F-4AF4-4CAC-882C-D1E4188B43FE}" type="pres">
      <dgm:prSet presAssocID="{0A104462-619F-4DC7-BFF1-9C9A22513BB5}" presName="compNode" presStyleCnt="0"/>
      <dgm:spPr/>
    </dgm:pt>
    <dgm:pt modelId="{17710B87-EA1F-43D3-84CB-7A9900740D92}" type="pres">
      <dgm:prSet presAssocID="{0A104462-619F-4DC7-BFF1-9C9A22513BB5}" presName="bgRect" presStyleLbl="bgShp" presStyleIdx="2" presStyleCnt="3"/>
      <dgm:spPr/>
    </dgm:pt>
    <dgm:pt modelId="{44734F5C-C79B-402B-B528-1585A94E315F}" type="pres">
      <dgm:prSet presAssocID="{0A104462-619F-4DC7-BFF1-9C9A22513BB5}"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Bar chart"/>
        </a:ext>
      </dgm:extLst>
    </dgm:pt>
    <dgm:pt modelId="{4561652D-2B42-4BF3-B36B-0D27B50C33CD}" type="pres">
      <dgm:prSet presAssocID="{0A104462-619F-4DC7-BFF1-9C9A22513BB5}" presName="spaceRect" presStyleCnt="0"/>
      <dgm:spPr/>
    </dgm:pt>
    <dgm:pt modelId="{E463817E-6898-4C70-BAB2-E3944B75D82E}" type="pres">
      <dgm:prSet presAssocID="{0A104462-619F-4DC7-BFF1-9C9A22513BB5}" presName="parTx" presStyleLbl="revTx" presStyleIdx="2" presStyleCnt="3">
        <dgm:presLayoutVars>
          <dgm:chMax val="0"/>
          <dgm:chPref val="0"/>
        </dgm:presLayoutVars>
      </dgm:prSet>
      <dgm:spPr/>
    </dgm:pt>
  </dgm:ptLst>
  <dgm:cxnLst>
    <dgm:cxn modelId="{7715E01D-9CCE-49DF-A6DC-4F79BFBBBECB}" type="presOf" srcId="{EA2DB709-2347-445B-9848-85D77F670862}" destId="{0A96CB8C-0E81-4823-B442-799062EA9C60}" srcOrd="0" destOrd="0" presId="urn:microsoft.com/office/officeart/2018/2/layout/IconVerticalSolidList"/>
    <dgm:cxn modelId="{F28E252F-8064-4E32-85AA-308AF64BEECA}" type="presOf" srcId="{0A104462-619F-4DC7-BFF1-9C9A22513BB5}" destId="{E463817E-6898-4C70-BAB2-E3944B75D82E}" srcOrd="0" destOrd="0" presId="urn:microsoft.com/office/officeart/2018/2/layout/IconVerticalSolidList"/>
    <dgm:cxn modelId="{55117766-26CF-4462-A69A-5BBED9A9E3E3}" type="presOf" srcId="{57923C1A-FF59-4300-9997-9B5EFFCD9BFC}" destId="{459361BD-8E9E-4710-BD6B-F0798A448837}" srcOrd="0" destOrd="0" presId="urn:microsoft.com/office/officeart/2018/2/layout/IconVerticalSolidList"/>
    <dgm:cxn modelId="{23CBC84E-78E8-4C62-AC52-7CAF1690DFF0}" type="presOf" srcId="{6726E050-110D-4658-B496-2252EDD5D109}" destId="{7FF25906-3454-4A54-877E-EAD1BB173A8D}" srcOrd="0" destOrd="0" presId="urn:microsoft.com/office/officeart/2018/2/layout/IconVerticalSolidList"/>
    <dgm:cxn modelId="{FD6A8E58-6D21-409C-889A-7E66BC4677F7}" srcId="{6726E050-110D-4658-B496-2252EDD5D109}" destId="{EA2DB709-2347-445B-9848-85D77F670862}" srcOrd="1" destOrd="0" parTransId="{8BF4C137-F227-4C28-95A4-F210521D190E}" sibTransId="{A8BA4347-4386-4AA2-8329-B0C65B7CAEDC}"/>
    <dgm:cxn modelId="{5B9560AB-F1C8-42FF-9B08-3250BBA89DF9}" srcId="{6726E050-110D-4658-B496-2252EDD5D109}" destId="{0A104462-619F-4DC7-BFF1-9C9A22513BB5}" srcOrd="2" destOrd="0" parTransId="{EEE27C43-63A5-4528-AC22-72821129BE47}" sibTransId="{FE9586A2-A7C4-4FC2-9E55-398D3A44D157}"/>
    <dgm:cxn modelId="{AA9147CA-D6AF-437C-AE34-BAA5F20A547A}" srcId="{6726E050-110D-4658-B496-2252EDD5D109}" destId="{57923C1A-FF59-4300-9997-9B5EFFCD9BFC}" srcOrd="0" destOrd="0" parTransId="{2FA4B52F-8D46-4A76-B2B8-6677FB63F86C}" sibTransId="{E1BA9985-B1BF-4BFF-AFF0-048E2215BD88}"/>
    <dgm:cxn modelId="{98DBA39D-D11D-4C9F-A95B-427B990306F5}" type="presParOf" srcId="{7FF25906-3454-4A54-877E-EAD1BB173A8D}" destId="{9C9E42D0-6C64-45D7-A725-0E8364597ED8}" srcOrd="0" destOrd="0" presId="urn:microsoft.com/office/officeart/2018/2/layout/IconVerticalSolidList"/>
    <dgm:cxn modelId="{16E5D0FC-46E9-4BC7-9838-252A52A73572}" type="presParOf" srcId="{9C9E42D0-6C64-45D7-A725-0E8364597ED8}" destId="{94354C5B-BBC5-4AC9-A20D-73E61A8F6231}" srcOrd="0" destOrd="0" presId="urn:microsoft.com/office/officeart/2018/2/layout/IconVerticalSolidList"/>
    <dgm:cxn modelId="{7B687022-6EB4-476C-9D3A-222E982B5070}" type="presParOf" srcId="{9C9E42D0-6C64-45D7-A725-0E8364597ED8}" destId="{5648FDBD-141E-4873-86B4-6BC7A2C6D834}" srcOrd="1" destOrd="0" presId="urn:microsoft.com/office/officeart/2018/2/layout/IconVerticalSolidList"/>
    <dgm:cxn modelId="{9906BB48-8DBB-462A-BBA5-7DE32B96F939}" type="presParOf" srcId="{9C9E42D0-6C64-45D7-A725-0E8364597ED8}" destId="{96682B1E-9176-4BB9-9A25-974EDBFAF284}" srcOrd="2" destOrd="0" presId="urn:microsoft.com/office/officeart/2018/2/layout/IconVerticalSolidList"/>
    <dgm:cxn modelId="{2A54D2DC-326A-4621-8986-88CB1DACAC89}" type="presParOf" srcId="{9C9E42D0-6C64-45D7-A725-0E8364597ED8}" destId="{459361BD-8E9E-4710-BD6B-F0798A448837}" srcOrd="3" destOrd="0" presId="urn:microsoft.com/office/officeart/2018/2/layout/IconVerticalSolidList"/>
    <dgm:cxn modelId="{E67105E2-0E48-408F-BADD-798B4F244396}" type="presParOf" srcId="{7FF25906-3454-4A54-877E-EAD1BB173A8D}" destId="{B643C6CA-7983-420D-B77A-74B078063629}" srcOrd="1" destOrd="0" presId="urn:microsoft.com/office/officeart/2018/2/layout/IconVerticalSolidList"/>
    <dgm:cxn modelId="{00CE44EC-858B-4ED5-A58F-A254C98F6171}" type="presParOf" srcId="{7FF25906-3454-4A54-877E-EAD1BB173A8D}" destId="{4D9ACDDC-669E-4936-B852-F3E2856B6CB4}" srcOrd="2" destOrd="0" presId="urn:microsoft.com/office/officeart/2018/2/layout/IconVerticalSolidList"/>
    <dgm:cxn modelId="{9D4A3467-8197-4EEF-BF82-A4F7F9249F1F}" type="presParOf" srcId="{4D9ACDDC-669E-4936-B852-F3E2856B6CB4}" destId="{83295714-FB3A-4E9A-9889-AA3B82C3770C}" srcOrd="0" destOrd="0" presId="urn:microsoft.com/office/officeart/2018/2/layout/IconVerticalSolidList"/>
    <dgm:cxn modelId="{413F48F5-D121-405F-9CF7-89FF92F68AC9}" type="presParOf" srcId="{4D9ACDDC-669E-4936-B852-F3E2856B6CB4}" destId="{3989ACC5-978D-4FCC-91E8-0FA6CCDB06AB}" srcOrd="1" destOrd="0" presId="urn:microsoft.com/office/officeart/2018/2/layout/IconVerticalSolidList"/>
    <dgm:cxn modelId="{30F3F9E9-6E47-427A-8F49-9F2F70D57FA9}" type="presParOf" srcId="{4D9ACDDC-669E-4936-B852-F3E2856B6CB4}" destId="{9B9BA50C-F4D4-4F29-B43E-AAFA582629EA}" srcOrd="2" destOrd="0" presId="urn:microsoft.com/office/officeart/2018/2/layout/IconVerticalSolidList"/>
    <dgm:cxn modelId="{0ACF4DF1-09FF-4097-A672-E5F1DF866B1F}" type="presParOf" srcId="{4D9ACDDC-669E-4936-B852-F3E2856B6CB4}" destId="{0A96CB8C-0E81-4823-B442-799062EA9C60}" srcOrd="3" destOrd="0" presId="urn:microsoft.com/office/officeart/2018/2/layout/IconVerticalSolidList"/>
    <dgm:cxn modelId="{76A2D53A-5193-4B8A-A1AF-8BE66BF27769}" type="presParOf" srcId="{7FF25906-3454-4A54-877E-EAD1BB173A8D}" destId="{A16FF7F3-924B-4321-A995-D2C6A9DFF16A}" srcOrd="3" destOrd="0" presId="urn:microsoft.com/office/officeart/2018/2/layout/IconVerticalSolidList"/>
    <dgm:cxn modelId="{42E42AB0-482A-4779-80E2-99ABCE461288}" type="presParOf" srcId="{7FF25906-3454-4A54-877E-EAD1BB173A8D}" destId="{70F6743F-4AF4-4CAC-882C-D1E4188B43FE}" srcOrd="4" destOrd="0" presId="urn:microsoft.com/office/officeart/2018/2/layout/IconVerticalSolidList"/>
    <dgm:cxn modelId="{38A2846F-0468-4CDA-90BA-02FB0D680827}" type="presParOf" srcId="{70F6743F-4AF4-4CAC-882C-D1E4188B43FE}" destId="{17710B87-EA1F-43D3-84CB-7A9900740D92}" srcOrd="0" destOrd="0" presId="urn:microsoft.com/office/officeart/2018/2/layout/IconVerticalSolidList"/>
    <dgm:cxn modelId="{55582761-95E9-4759-9760-E7481E438D90}" type="presParOf" srcId="{70F6743F-4AF4-4CAC-882C-D1E4188B43FE}" destId="{44734F5C-C79B-402B-B528-1585A94E315F}" srcOrd="1" destOrd="0" presId="urn:microsoft.com/office/officeart/2018/2/layout/IconVerticalSolidList"/>
    <dgm:cxn modelId="{9B366F6A-13DE-449B-B1FE-FF7EA60F3ECE}" type="presParOf" srcId="{70F6743F-4AF4-4CAC-882C-D1E4188B43FE}" destId="{4561652D-2B42-4BF3-B36B-0D27B50C33CD}" srcOrd="2" destOrd="0" presId="urn:microsoft.com/office/officeart/2018/2/layout/IconVerticalSolidList"/>
    <dgm:cxn modelId="{50263C64-0797-4CBA-A298-978F41577B92}" type="presParOf" srcId="{70F6743F-4AF4-4CAC-882C-D1E4188B43FE}" destId="{E463817E-6898-4C70-BAB2-E3944B75D82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354C5B-BBC5-4AC9-A20D-73E61A8F6231}">
      <dsp:nvSpPr>
        <dsp:cNvPr id="0" name=""/>
        <dsp:cNvSpPr/>
      </dsp:nvSpPr>
      <dsp:spPr>
        <a:xfrm>
          <a:off x="0" y="449"/>
          <a:ext cx="11029615" cy="105068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648FDBD-141E-4873-86B4-6BC7A2C6D834}">
      <dsp:nvSpPr>
        <dsp:cNvPr id="0" name=""/>
        <dsp:cNvSpPr/>
      </dsp:nvSpPr>
      <dsp:spPr>
        <a:xfrm>
          <a:off x="317832" y="236853"/>
          <a:ext cx="577877" cy="57787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59361BD-8E9E-4710-BD6B-F0798A448837}">
      <dsp:nvSpPr>
        <dsp:cNvPr id="0" name=""/>
        <dsp:cNvSpPr/>
      </dsp:nvSpPr>
      <dsp:spPr>
        <a:xfrm>
          <a:off x="1213543" y="449"/>
          <a:ext cx="9816071" cy="1050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198" tIns="111198" rIns="111198" bIns="111198" numCol="1" spcCol="1270" anchor="ctr" anchorCtr="0">
          <a:noAutofit/>
        </a:bodyPr>
        <a:lstStyle/>
        <a:p>
          <a:pPr marL="0" lvl="0" indent="0" algn="l" defTabSz="1111250">
            <a:lnSpc>
              <a:spcPct val="100000"/>
            </a:lnSpc>
            <a:spcBef>
              <a:spcPct val="0"/>
            </a:spcBef>
            <a:spcAft>
              <a:spcPct val="35000"/>
            </a:spcAft>
            <a:buNone/>
          </a:pPr>
          <a:r>
            <a:rPr lang="en-US" sz="2500" kern="1200"/>
            <a:t>Introductions</a:t>
          </a:r>
        </a:p>
      </dsp:txBody>
      <dsp:txXfrm>
        <a:off x="1213543" y="449"/>
        <a:ext cx="9816071" cy="1050687"/>
      </dsp:txXfrm>
    </dsp:sp>
    <dsp:sp modelId="{83295714-FB3A-4E9A-9889-AA3B82C3770C}">
      <dsp:nvSpPr>
        <dsp:cNvPr id="0" name=""/>
        <dsp:cNvSpPr/>
      </dsp:nvSpPr>
      <dsp:spPr>
        <a:xfrm>
          <a:off x="0" y="1313807"/>
          <a:ext cx="11029615" cy="105068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989ACC5-978D-4FCC-91E8-0FA6CCDB06AB}">
      <dsp:nvSpPr>
        <dsp:cNvPr id="0" name=""/>
        <dsp:cNvSpPr/>
      </dsp:nvSpPr>
      <dsp:spPr>
        <a:xfrm>
          <a:off x="317832" y="1550212"/>
          <a:ext cx="577877" cy="57787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A96CB8C-0E81-4823-B442-799062EA9C60}">
      <dsp:nvSpPr>
        <dsp:cNvPr id="0" name=""/>
        <dsp:cNvSpPr/>
      </dsp:nvSpPr>
      <dsp:spPr>
        <a:xfrm>
          <a:off x="1213543" y="1313807"/>
          <a:ext cx="9816071" cy="1050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198" tIns="111198" rIns="111198" bIns="111198" numCol="1" spcCol="1270" anchor="ctr" anchorCtr="0">
          <a:noAutofit/>
        </a:bodyPr>
        <a:lstStyle/>
        <a:p>
          <a:pPr marL="0" lvl="0" indent="0" algn="l" defTabSz="1111250">
            <a:lnSpc>
              <a:spcPct val="100000"/>
            </a:lnSpc>
            <a:spcBef>
              <a:spcPct val="0"/>
            </a:spcBef>
            <a:spcAft>
              <a:spcPct val="35000"/>
            </a:spcAft>
            <a:buNone/>
          </a:pPr>
          <a:r>
            <a:rPr lang="en-US" sz="2500" kern="1200"/>
            <a:t>What to Expect</a:t>
          </a:r>
        </a:p>
      </dsp:txBody>
      <dsp:txXfrm>
        <a:off x="1213543" y="1313807"/>
        <a:ext cx="9816071" cy="1050687"/>
      </dsp:txXfrm>
    </dsp:sp>
    <dsp:sp modelId="{17710B87-EA1F-43D3-84CB-7A9900740D92}">
      <dsp:nvSpPr>
        <dsp:cNvPr id="0" name=""/>
        <dsp:cNvSpPr/>
      </dsp:nvSpPr>
      <dsp:spPr>
        <a:xfrm>
          <a:off x="0" y="2627166"/>
          <a:ext cx="11029615" cy="105068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4734F5C-C79B-402B-B528-1585A94E315F}">
      <dsp:nvSpPr>
        <dsp:cNvPr id="0" name=""/>
        <dsp:cNvSpPr/>
      </dsp:nvSpPr>
      <dsp:spPr>
        <a:xfrm>
          <a:off x="317832" y="2863571"/>
          <a:ext cx="577877" cy="57787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463817E-6898-4C70-BAB2-E3944B75D82E}">
      <dsp:nvSpPr>
        <dsp:cNvPr id="0" name=""/>
        <dsp:cNvSpPr/>
      </dsp:nvSpPr>
      <dsp:spPr>
        <a:xfrm>
          <a:off x="1213543" y="2627166"/>
          <a:ext cx="9816071" cy="1050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198" tIns="111198" rIns="111198" bIns="111198" numCol="1" spcCol="1270" anchor="ctr" anchorCtr="0">
          <a:noAutofit/>
        </a:bodyPr>
        <a:lstStyle/>
        <a:p>
          <a:pPr marL="0" lvl="0" indent="0" algn="l" defTabSz="1111250">
            <a:lnSpc>
              <a:spcPct val="100000"/>
            </a:lnSpc>
            <a:spcBef>
              <a:spcPct val="0"/>
            </a:spcBef>
            <a:spcAft>
              <a:spcPct val="35000"/>
            </a:spcAft>
            <a:buNone/>
          </a:pPr>
          <a:r>
            <a:rPr lang="en-US" sz="2500" kern="1200"/>
            <a:t>How to Excel in this Course</a:t>
          </a:r>
        </a:p>
      </dsp:txBody>
      <dsp:txXfrm>
        <a:off x="1213543" y="2627166"/>
        <a:ext cx="9816071" cy="1050687"/>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dirty="0"/>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dirty="0"/>
              <a:pPr/>
              <a:t>7/12/2026</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15881139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2" y="702156"/>
            <a:ext cx="11029616" cy="1013800"/>
          </a:xfrm>
        </p:spPr>
        <p:txBody>
          <a:bodyPr/>
          <a:lstStyle/>
          <a:p>
            <a:r>
              <a:rPr lang="en-US" dirty="0"/>
              <a:t>Click to edit Master title style</a:t>
            </a:r>
          </a:p>
        </p:txBody>
      </p:sp>
      <p:sp>
        <p:nvSpPr>
          <p:cNvPr id="3" name="Content Placeholder 2"/>
          <p:cNvSpPr>
            <a:spLocks noGrp="1"/>
          </p:cNvSpPr>
          <p:nvPr>
            <p:ph idx="1"/>
          </p:nvPr>
        </p:nvSpPr>
        <p:spPr>
          <a:xfrm>
            <a:off x="581192" y="2180496"/>
            <a:ext cx="11029615" cy="367830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7/12/2026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8158775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dirty="0"/>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7/12/2026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25473755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dirty="0"/>
              <a:t>Click to edit Master title style</a:t>
            </a:r>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B61BEF0D-F0BB-DE4B-95CE-6DB70DBA9567}" type="datetimeFigureOut">
              <a:rPr lang="en-US" dirty="0"/>
              <a:pPr/>
              <a:t>7/12/2026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7265091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dirty="0"/>
              <a:t>Click to edit Master title style</a:t>
            </a:r>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7/12/2026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92248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7/12/2026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1599881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7/12/2026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6982994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dirty="0"/>
              <a:t>Click to edit Master title style</a:t>
            </a:r>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7/12/2026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32137106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dirty="0"/>
              <a:t>Click to edit Master title style</a:t>
            </a:r>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8797160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7/12/2026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6090617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dirty="0"/>
              <a:pPr/>
              <a:t>7/12/2026</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3798553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a:t>
            </a:r>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dirty="0"/>
              <a:pPr/>
              <a:t>7/12/2026</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07661564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learn.snowflake.com/en/certifications/snowpro-core-c03/?pdf_name=SnowProCoreStudyGuideC03"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docs.snowflake.com/en/user-guide/intro-editions#feature-edition-matrix" TargetMode="External"/><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hyperlink" Target="https://docs.snowflake.com/en/sql-reference/parameters"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hyperlink" Target="https://docs.snowflake.com/en/developer-guide/stored-procedure/stored-procedures-api" TargetMode="External"/><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2.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Snowflake</a:t>
            </a:r>
          </a:p>
        </p:txBody>
      </p:sp>
      <p:sp>
        <p:nvSpPr>
          <p:cNvPr id="3" name="Subtitle 2"/>
          <p:cNvSpPr>
            <a:spLocks noGrp="1"/>
          </p:cNvSpPr>
          <p:nvPr>
            <p:ph type="subTitle" idx="1"/>
          </p:nvPr>
        </p:nvSpPr>
        <p:spPr/>
        <p:txBody>
          <a:bodyPr/>
          <a:lstStyle/>
          <a:p>
            <a:r>
              <a:rPr lang="en-US" dirty="0"/>
              <a:t>COF-CO3</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720D2-4A2C-FD9D-A6C9-83346468AB5E}"/>
              </a:ext>
            </a:extLst>
          </p:cNvPr>
          <p:cNvSpPr>
            <a:spLocks noGrp="1"/>
          </p:cNvSpPr>
          <p:nvPr>
            <p:ph type="title"/>
          </p:nvPr>
        </p:nvSpPr>
        <p:spPr/>
        <p:txBody>
          <a:bodyPr/>
          <a:lstStyle/>
          <a:p>
            <a:r>
              <a:rPr lang="en-US" dirty="0"/>
              <a:t>COF-co3</a:t>
            </a:r>
          </a:p>
        </p:txBody>
      </p:sp>
      <p:pic>
        <p:nvPicPr>
          <p:cNvPr id="5" name="Content Placeholder 4">
            <a:extLst>
              <a:ext uri="{FF2B5EF4-FFF2-40B4-BE49-F238E27FC236}">
                <a16:creationId xmlns:a16="http://schemas.microsoft.com/office/drawing/2014/main" id="{4DDB022B-D990-55D0-E122-3F1A4F4E35AD}"/>
              </a:ext>
            </a:extLst>
          </p:cNvPr>
          <p:cNvPicPr>
            <a:picLocks noGrp="1" noChangeAspect="1"/>
          </p:cNvPicPr>
          <p:nvPr>
            <p:ph idx="1"/>
          </p:nvPr>
        </p:nvPicPr>
        <p:blipFill>
          <a:blip r:embed="rId2"/>
          <a:stretch>
            <a:fillRect/>
          </a:stretch>
        </p:blipFill>
        <p:spPr>
          <a:xfrm>
            <a:off x="580858" y="3194125"/>
            <a:ext cx="11029950" cy="3101227"/>
          </a:xfrm>
          <a:prstGeom prst="rect">
            <a:avLst/>
          </a:prstGeom>
        </p:spPr>
      </p:pic>
      <p:sp>
        <p:nvSpPr>
          <p:cNvPr id="6" name="TextBox 5">
            <a:extLst>
              <a:ext uri="{FF2B5EF4-FFF2-40B4-BE49-F238E27FC236}">
                <a16:creationId xmlns:a16="http://schemas.microsoft.com/office/drawing/2014/main" id="{E02F3247-AF7F-D743-96E0-46B5A99A45D3}"/>
              </a:ext>
            </a:extLst>
          </p:cNvPr>
          <p:cNvSpPr txBox="1"/>
          <p:nvPr/>
        </p:nvSpPr>
        <p:spPr>
          <a:xfrm>
            <a:off x="866899" y="2270374"/>
            <a:ext cx="4523739" cy="369332"/>
          </a:xfrm>
          <a:prstGeom prst="rect">
            <a:avLst/>
          </a:prstGeom>
          <a:noFill/>
        </p:spPr>
        <p:txBody>
          <a:bodyPr wrap="none" rtlCol="0">
            <a:spAutoFit/>
          </a:bodyPr>
          <a:lstStyle/>
          <a:p>
            <a:r>
              <a:rPr lang="en-US" dirty="0"/>
              <a:t>Access the study guide and get more info </a:t>
            </a:r>
            <a:r>
              <a:rPr lang="en-US" dirty="0">
                <a:hlinkClick r:id="rId3"/>
              </a:rPr>
              <a:t>here</a:t>
            </a:r>
            <a:endParaRPr lang="en-US" dirty="0"/>
          </a:p>
        </p:txBody>
      </p:sp>
    </p:spTree>
    <p:extLst>
      <p:ext uri="{BB962C8B-B14F-4D97-AF65-F5344CB8AC3E}">
        <p14:creationId xmlns:p14="http://schemas.microsoft.com/office/powerpoint/2010/main" val="34882622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CC695-6CAB-6F7D-5C05-1BC48012B688}"/>
              </a:ext>
            </a:extLst>
          </p:cNvPr>
          <p:cNvSpPr>
            <a:spLocks noGrp="1"/>
          </p:cNvSpPr>
          <p:nvPr>
            <p:ph type="title"/>
          </p:nvPr>
        </p:nvSpPr>
        <p:spPr/>
        <p:txBody>
          <a:bodyPr/>
          <a:lstStyle/>
          <a:p>
            <a:r>
              <a:rPr lang="en-US" dirty="0"/>
              <a:t>Exam Weights</a:t>
            </a:r>
          </a:p>
        </p:txBody>
      </p:sp>
      <p:pic>
        <p:nvPicPr>
          <p:cNvPr id="5" name="Content Placeholder 4">
            <a:extLst>
              <a:ext uri="{FF2B5EF4-FFF2-40B4-BE49-F238E27FC236}">
                <a16:creationId xmlns:a16="http://schemas.microsoft.com/office/drawing/2014/main" id="{1F033B54-1230-F637-F16C-001E65C35961}"/>
              </a:ext>
            </a:extLst>
          </p:cNvPr>
          <p:cNvPicPr>
            <a:picLocks noGrp="1" noChangeAspect="1"/>
          </p:cNvPicPr>
          <p:nvPr>
            <p:ph idx="1"/>
          </p:nvPr>
        </p:nvPicPr>
        <p:blipFill>
          <a:blip r:embed="rId2"/>
          <a:stretch>
            <a:fillRect/>
          </a:stretch>
        </p:blipFill>
        <p:spPr>
          <a:xfrm>
            <a:off x="1675783" y="2329420"/>
            <a:ext cx="8840434" cy="3381847"/>
          </a:xfrm>
          <a:prstGeom prst="rect">
            <a:avLst/>
          </a:prstGeom>
        </p:spPr>
      </p:pic>
    </p:spTree>
    <p:extLst>
      <p:ext uri="{BB962C8B-B14F-4D97-AF65-F5344CB8AC3E}">
        <p14:creationId xmlns:p14="http://schemas.microsoft.com/office/powerpoint/2010/main" val="16993053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01033-D5A3-1CAE-D25B-F5890FA3EEB0}"/>
              </a:ext>
            </a:extLst>
          </p:cNvPr>
          <p:cNvSpPr>
            <a:spLocks noGrp="1"/>
          </p:cNvSpPr>
          <p:nvPr>
            <p:ph type="title"/>
          </p:nvPr>
        </p:nvSpPr>
        <p:spPr/>
        <p:txBody>
          <a:bodyPr/>
          <a:lstStyle/>
          <a:p>
            <a:r>
              <a:rPr lang="en-US" dirty="0"/>
              <a:t>Exam details</a:t>
            </a:r>
          </a:p>
        </p:txBody>
      </p:sp>
      <p:sp>
        <p:nvSpPr>
          <p:cNvPr id="3" name="Content Placeholder 2">
            <a:extLst>
              <a:ext uri="{FF2B5EF4-FFF2-40B4-BE49-F238E27FC236}">
                <a16:creationId xmlns:a16="http://schemas.microsoft.com/office/drawing/2014/main" id="{67186DEC-BCA2-7318-7F94-E2169D3682CF}"/>
              </a:ext>
            </a:extLst>
          </p:cNvPr>
          <p:cNvSpPr>
            <a:spLocks noGrp="1"/>
          </p:cNvSpPr>
          <p:nvPr>
            <p:ph idx="1"/>
          </p:nvPr>
        </p:nvSpPr>
        <p:spPr/>
        <p:txBody>
          <a:bodyPr/>
          <a:lstStyle/>
          <a:p>
            <a:r>
              <a:rPr lang="en-US" dirty="0"/>
              <a:t>Not required for our training </a:t>
            </a:r>
          </a:p>
          <a:p>
            <a:r>
              <a:rPr lang="en-US" dirty="0"/>
              <a:t>$175</a:t>
            </a:r>
          </a:p>
          <a:p>
            <a:r>
              <a:rPr lang="en-US" dirty="0"/>
              <a:t>100 questions </a:t>
            </a:r>
          </a:p>
          <a:p>
            <a:r>
              <a:rPr lang="en-US" dirty="0"/>
              <a:t>115 minutes </a:t>
            </a:r>
          </a:p>
          <a:p>
            <a:r>
              <a:rPr lang="en-US" dirty="0"/>
              <a:t>That’s about 1 minutes 9 seconds per question</a:t>
            </a:r>
          </a:p>
          <a:p>
            <a:r>
              <a:rPr lang="en-US" dirty="0"/>
              <a:t>Multiple choice</a:t>
            </a:r>
          </a:p>
          <a:p>
            <a:r>
              <a:rPr lang="en-US" dirty="0"/>
              <a:t>75% is passing – use the question flagging feature </a:t>
            </a:r>
          </a:p>
        </p:txBody>
      </p:sp>
    </p:spTree>
    <p:extLst>
      <p:ext uri="{BB962C8B-B14F-4D97-AF65-F5344CB8AC3E}">
        <p14:creationId xmlns:p14="http://schemas.microsoft.com/office/powerpoint/2010/main" val="9122923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380F6-F002-799C-1072-2D3B859C66A0}"/>
              </a:ext>
            </a:extLst>
          </p:cNvPr>
          <p:cNvSpPr>
            <a:spLocks noGrp="1"/>
          </p:cNvSpPr>
          <p:nvPr>
            <p:ph type="title"/>
          </p:nvPr>
        </p:nvSpPr>
        <p:spPr/>
        <p:txBody>
          <a:bodyPr/>
          <a:lstStyle/>
          <a:p>
            <a:r>
              <a:rPr lang="en-US" dirty="0"/>
              <a:t>Cert exam tips (for any technical cert exam)</a:t>
            </a:r>
          </a:p>
        </p:txBody>
      </p:sp>
      <p:sp>
        <p:nvSpPr>
          <p:cNvPr id="3" name="Content Placeholder 2">
            <a:extLst>
              <a:ext uri="{FF2B5EF4-FFF2-40B4-BE49-F238E27FC236}">
                <a16:creationId xmlns:a16="http://schemas.microsoft.com/office/drawing/2014/main" id="{C3F0BB53-B3B0-245E-B5F7-11A423742B59}"/>
              </a:ext>
            </a:extLst>
          </p:cNvPr>
          <p:cNvSpPr>
            <a:spLocks noGrp="1"/>
          </p:cNvSpPr>
          <p:nvPr>
            <p:ph idx="1"/>
          </p:nvPr>
        </p:nvSpPr>
        <p:spPr>
          <a:xfrm>
            <a:off x="581192" y="2180496"/>
            <a:ext cx="11029615" cy="4284099"/>
          </a:xfrm>
        </p:spPr>
        <p:txBody>
          <a:bodyPr>
            <a:normAutofit/>
          </a:bodyPr>
          <a:lstStyle/>
          <a:p>
            <a:r>
              <a:rPr lang="en-US" b="1" dirty="0"/>
              <a:t>Use the 60-second rule.</a:t>
            </a:r>
            <a:r>
              <a:rPr lang="en-US" dirty="0"/>
              <a:t> If you don't have a strong idea after about a minute, eliminate what you can, choose your best answer, flag it, and move on. Spending 3–4 minutes on one question is usually a net loss. </a:t>
            </a:r>
          </a:p>
          <a:p>
            <a:r>
              <a:rPr lang="en-US" b="1" dirty="0"/>
              <a:t>Answer every question.</a:t>
            </a:r>
            <a:r>
              <a:rPr lang="en-US" dirty="0"/>
              <a:t> There's typically no penalty for incorrect answers on certification exams, so never leave one blank. </a:t>
            </a:r>
          </a:p>
          <a:p>
            <a:r>
              <a:rPr lang="en-US" b="1" dirty="0"/>
              <a:t>Eliminate before choosing.</a:t>
            </a:r>
            <a:r>
              <a:rPr lang="en-US" dirty="0"/>
              <a:t> Often you can remove two clearly incorrect options, improving your odds from 25% to 50%. </a:t>
            </a:r>
          </a:p>
          <a:p>
            <a:r>
              <a:rPr lang="en-US" b="1" dirty="0"/>
              <a:t>Don't overthink familiar topics.</a:t>
            </a:r>
            <a:r>
              <a:rPr lang="en-US" dirty="0"/>
              <a:t> Your first instinct is often correct when you recognize the concept. Only change an answer during review if you can identify a concrete reason it was wrong. </a:t>
            </a:r>
          </a:p>
          <a:p>
            <a:r>
              <a:rPr lang="en-US" b="1" dirty="0"/>
              <a:t>Keep an eye on the clock every 20–25 questions.</a:t>
            </a:r>
            <a:r>
              <a:rPr lang="en-US" dirty="0"/>
              <a:t> Small adjustments are much easier than realizing you're 15 minutes behind near the end.</a:t>
            </a:r>
          </a:p>
        </p:txBody>
      </p:sp>
    </p:spTree>
    <p:extLst>
      <p:ext uri="{BB962C8B-B14F-4D97-AF65-F5344CB8AC3E}">
        <p14:creationId xmlns:p14="http://schemas.microsoft.com/office/powerpoint/2010/main" val="15150506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EC2CB-D68F-7399-EAE4-C728B4C705B1}"/>
              </a:ext>
            </a:extLst>
          </p:cNvPr>
          <p:cNvSpPr>
            <a:spLocks noGrp="1"/>
          </p:cNvSpPr>
          <p:nvPr>
            <p:ph type="ctrTitle"/>
          </p:nvPr>
        </p:nvSpPr>
        <p:spPr/>
        <p:txBody>
          <a:bodyPr/>
          <a:lstStyle/>
          <a:p>
            <a:r>
              <a:rPr lang="en-US" dirty="0"/>
              <a:t>Section 1</a:t>
            </a:r>
          </a:p>
        </p:txBody>
      </p:sp>
      <p:sp>
        <p:nvSpPr>
          <p:cNvPr id="3" name="Subtitle 2">
            <a:extLst>
              <a:ext uri="{FF2B5EF4-FFF2-40B4-BE49-F238E27FC236}">
                <a16:creationId xmlns:a16="http://schemas.microsoft.com/office/drawing/2014/main" id="{B5C4C167-2AB3-E182-7FFB-DF3D1A5F9204}"/>
              </a:ext>
            </a:extLst>
          </p:cNvPr>
          <p:cNvSpPr>
            <a:spLocks noGrp="1"/>
          </p:cNvSpPr>
          <p:nvPr>
            <p:ph type="subTitle" idx="1"/>
          </p:nvPr>
        </p:nvSpPr>
        <p:spPr/>
        <p:txBody>
          <a:bodyPr/>
          <a:lstStyle/>
          <a:p>
            <a:r>
              <a:rPr lang="en-US" dirty="0"/>
              <a:t>Snowflake ai data cloud features &amp; architecture – 31% of the exam</a:t>
            </a:r>
          </a:p>
        </p:txBody>
      </p:sp>
    </p:spTree>
    <p:extLst>
      <p:ext uri="{BB962C8B-B14F-4D97-AF65-F5344CB8AC3E}">
        <p14:creationId xmlns:p14="http://schemas.microsoft.com/office/powerpoint/2010/main" val="14261560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C7C46-F45C-EDA6-B4C9-3DBE8D8D1397}"/>
              </a:ext>
            </a:extLst>
          </p:cNvPr>
          <p:cNvSpPr>
            <a:spLocks noGrp="1"/>
          </p:cNvSpPr>
          <p:nvPr>
            <p:ph type="title"/>
          </p:nvPr>
        </p:nvSpPr>
        <p:spPr/>
        <p:txBody>
          <a:bodyPr/>
          <a:lstStyle/>
          <a:p>
            <a:r>
              <a:rPr lang="en-US" dirty="0"/>
              <a:t>Trial Signup</a:t>
            </a:r>
          </a:p>
        </p:txBody>
      </p:sp>
      <p:pic>
        <p:nvPicPr>
          <p:cNvPr id="5" name="Content Placeholder 4">
            <a:extLst>
              <a:ext uri="{FF2B5EF4-FFF2-40B4-BE49-F238E27FC236}">
                <a16:creationId xmlns:a16="http://schemas.microsoft.com/office/drawing/2014/main" id="{F3C1622E-FA17-106D-7527-65352D28FB54}"/>
              </a:ext>
            </a:extLst>
          </p:cNvPr>
          <p:cNvPicPr>
            <a:picLocks noGrp="1" noChangeAspect="1"/>
          </p:cNvPicPr>
          <p:nvPr>
            <p:ph idx="1"/>
          </p:nvPr>
        </p:nvPicPr>
        <p:blipFill>
          <a:blip r:embed="rId2"/>
          <a:stretch>
            <a:fillRect/>
          </a:stretch>
        </p:blipFill>
        <p:spPr>
          <a:xfrm>
            <a:off x="954973" y="2151417"/>
            <a:ext cx="6220693" cy="1552792"/>
          </a:xfrm>
          <a:prstGeom prst="rect">
            <a:avLst/>
          </a:prstGeom>
        </p:spPr>
      </p:pic>
      <p:pic>
        <p:nvPicPr>
          <p:cNvPr id="7" name="Picture 6">
            <a:extLst>
              <a:ext uri="{FF2B5EF4-FFF2-40B4-BE49-F238E27FC236}">
                <a16:creationId xmlns:a16="http://schemas.microsoft.com/office/drawing/2014/main" id="{7FBED7FA-2C01-0349-166A-D3CA363498B4}"/>
              </a:ext>
            </a:extLst>
          </p:cNvPr>
          <p:cNvPicPr>
            <a:picLocks noChangeAspect="1"/>
          </p:cNvPicPr>
          <p:nvPr/>
        </p:nvPicPr>
        <p:blipFill>
          <a:blip r:embed="rId3"/>
          <a:stretch>
            <a:fillRect/>
          </a:stretch>
        </p:blipFill>
        <p:spPr>
          <a:xfrm>
            <a:off x="7778338" y="2297639"/>
            <a:ext cx="3104544" cy="4287227"/>
          </a:xfrm>
          <a:prstGeom prst="rect">
            <a:avLst/>
          </a:prstGeom>
        </p:spPr>
      </p:pic>
      <p:sp>
        <p:nvSpPr>
          <p:cNvPr id="8" name="TextBox 7">
            <a:extLst>
              <a:ext uri="{FF2B5EF4-FFF2-40B4-BE49-F238E27FC236}">
                <a16:creationId xmlns:a16="http://schemas.microsoft.com/office/drawing/2014/main" id="{F2D6BD50-1719-0B2E-F0F7-C1A1F9D55011}"/>
              </a:ext>
            </a:extLst>
          </p:cNvPr>
          <p:cNvSpPr txBox="1"/>
          <p:nvPr/>
        </p:nvSpPr>
        <p:spPr>
          <a:xfrm>
            <a:off x="635630" y="4524499"/>
            <a:ext cx="6859378" cy="923330"/>
          </a:xfrm>
          <a:prstGeom prst="rect">
            <a:avLst/>
          </a:prstGeom>
          <a:noFill/>
        </p:spPr>
        <p:txBody>
          <a:bodyPr wrap="none" rtlCol="0">
            <a:spAutoFit/>
          </a:bodyPr>
          <a:lstStyle/>
          <a:p>
            <a:r>
              <a:rPr lang="en-US" dirty="0"/>
              <a:t>Signup for the 30-day trial</a:t>
            </a:r>
          </a:p>
          <a:p>
            <a:pPr marL="285750" indent="-285750">
              <a:buFontTx/>
              <a:buChar char="-"/>
            </a:pPr>
            <a:r>
              <a:rPr lang="en-US" dirty="0"/>
              <a:t>We will get $400 in free credits</a:t>
            </a:r>
          </a:p>
          <a:p>
            <a:pPr marL="285750" indent="-285750">
              <a:buFontTx/>
              <a:buChar char="-"/>
            </a:pPr>
            <a:r>
              <a:rPr lang="en-US" dirty="0"/>
              <a:t>Click the link they send to your email to create our first user, Admin</a:t>
            </a:r>
          </a:p>
        </p:txBody>
      </p:sp>
    </p:spTree>
    <p:extLst>
      <p:ext uri="{BB962C8B-B14F-4D97-AF65-F5344CB8AC3E}">
        <p14:creationId xmlns:p14="http://schemas.microsoft.com/office/powerpoint/2010/main" val="21544476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370DE-8130-C287-3342-6B6CBAF1568F}"/>
              </a:ext>
            </a:extLst>
          </p:cNvPr>
          <p:cNvSpPr>
            <a:spLocks noGrp="1"/>
          </p:cNvSpPr>
          <p:nvPr>
            <p:ph type="title"/>
          </p:nvPr>
        </p:nvSpPr>
        <p:spPr/>
        <p:txBody>
          <a:bodyPr/>
          <a:lstStyle/>
          <a:p>
            <a:r>
              <a:rPr lang="en-US" dirty="0"/>
              <a:t>Take note of your account number &amp; Account Identifier</a:t>
            </a:r>
          </a:p>
        </p:txBody>
      </p:sp>
      <p:sp>
        <p:nvSpPr>
          <p:cNvPr id="3" name="Content Placeholder 2">
            <a:extLst>
              <a:ext uri="{FF2B5EF4-FFF2-40B4-BE49-F238E27FC236}">
                <a16:creationId xmlns:a16="http://schemas.microsoft.com/office/drawing/2014/main" id="{FE218197-BA8C-F0BE-7A31-1CA6713C0954}"/>
              </a:ext>
            </a:extLst>
          </p:cNvPr>
          <p:cNvSpPr>
            <a:spLocks noGrp="1"/>
          </p:cNvSpPr>
          <p:nvPr>
            <p:ph idx="1"/>
          </p:nvPr>
        </p:nvSpPr>
        <p:spPr>
          <a:xfrm>
            <a:off x="581193" y="2180496"/>
            <a:ext cx="4596450" cy="1453353"/>
          </a:xfrm>
        </p:spPr>
        <p:txBody>
          <a:bodyPr>
            <a:normAutofit/>
          </a:bodyPr>
          <a:lstStyle/>
          <a:p>
            <a:r>
              <a:rPr lang="en-US" dirty="0"/>
              <a:t>Account Number in </a:t>
            </a:r>
            <a:r>
              <a:rPr lang="en-US" dirty="0" err="1"/>
              <a:t>Snowsight</a:t>
            </a:r>
            <a:r>
              <a:rPr lang="en-US" dirty="0"/>
              <a:t> UI – used for billing, etc. </a:t>
            </a:r>
          </a:p>
          <a:p>
            <a:r>
              <a:rPr lang="en-US" dirty="0"/>
              <a:t>Account Identifier (used to login, and many other things) </a:t>
            </a:r>
          </a:p>
        </p:txBody>
      </p:sp>
      <p:pic>
        <p:nvPicPr>
          <p:cNvPr id="5" name="Picture 4">
            <a:extLst>
              <a:ext uri="{FF2B5EF4-FFF2-40B4-BE49-F238E27FC236}">
                <a16:creationId xmlns:a16="http://schemas.microsoft.com/office/drawing/2014/main" id="{315E82BA-9A75-86BD-A3F6-2F43919D7E3F}"/>
              </a:ext>
            </a:extLst>
          </p:cNvPr>
          <p:cNvPicPr>
            <a:picLocks noChangeAspect="1"/>
          </p:cNvPicPr>
          <p:nvPr/>
        </p:nvPicPr>
        <p:blipFill>
          <a:blip r:embed="rId2"/>
          <a:stretch>
            <a:fillRect/>
          </a:stretch>
        </p:blipFill>
        <p:spPr>
          <a:xfrm>
            <a:off x="6400800" y="2091430"/>
            <a:ext cx="4433304" cy="4588439"/>
          </a:xfrm>
          <a:prstGeom prst="rect">
            <a:avLst/>
          </a:prstGeom>
        </p:spPr>
      </p:pic>
      <p:pic>
        <p:nvPicPr>
          <p:cNvPr id="9" name="Picture 8">
            <a:extLst>
              <a:ext uri="{FF2B5EF4-FFF2-40B4-BE49-F238E27FC236}">
                <a16:creationId xmlns:a16="http://schemas.microsoft.com/office/drawing/2014/main" id="{FDC10965-CFC8-A2C6-24EF-4641A8B7EE7B}"/>
              </a:ext>
            </a:extLst>
          </p:cNvPr>
          <p:cNvPicPr>
            <a:picLocks noChangeAspect="1"/>
          </p:cNvPicPr>
          <p:nvPr/>
        </p:nvPicPr>
        <p:blipFill>
          <a:blip r:embed="rId3"/>
          <a:stretch>
            <a:fillRect/>
          </a:stretch>
        </p:blipFill>
        <p:spPr>
          <a:xfrm>
            <a:off x="438688" y="4591638"/>
            <a:ext cx="6535062" cy="428685"/>
          </a:xfrm>
          <a:prstGeom prst="rect">
            <a:avLst/>
          </a:prstGeom>
        </p:spPr>
      </p:pic>
    </p:spTree>
    <p:extLst>
      <p:ext uri="{BB962C8B-B14F-4D97-AF65-F5344CB8AC3E}">
        <p14:creationId xmlns:p14="http://schemas.microsoft.com/office/powerpoint/2010/main" val="39954862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E357D-C455-17D9-76B7-57CE75F43CE6}"/>
              </a:ext>
            </a:extLst>
          </p:cNvPr>
          <p:cNvSpPr>
            <a:spLocks noGrp="1"/>
          </p:cNvSpPr>
          <p:nvPr>
            <p:ph type="title"/>
          </p:nvPr>
        </p:nvSpPr>
        <p:spPr/>
        <p:txBody>
          <a:bodyPr/>
          <a:lstStyle/>
          <a:p>
            <a:r>
              <a:rPr lang="en-US" dirty="0"/>
              <a:t>UI - Workspaces</a:t>
            </a:r>
          </a:p>
        </p:txBody>
      </p:sp>
      <p:pic>
        <p:nvPicPr>
          <p:cNvPr id="5" name="Content Placeholder 4">
            <a:extLst>
              <a:ext uri="{FF2B5EF4-FFF2-40B4-BE49-F238E27FC236}">
                <a16:creationId xmlns:a16="http://schemas.microsoft.com/office/drawing/2014/main" id="{24178760-51D5-5599-C7F8-7AD92D3B0522}"/>
              </a:ext>
            </a:extLst>
          </p:cNvPr>
          <p:cNvPicPr>
            <a:picLocks noGrp="1" noChangeAspect="1"/>
          </p:cNvPicPr>
          <p:nvPr>
            <p:ph idx="1"/>
          </p:nvPr>
        </p:nvPicPr>
        <p:blipFill>
          <a:blip r:embed="rId2"/>
          <a:stretch>
            <a:fillRect/>
          </a:stretch>
        </p:blipFill>
        <p:spPr>
          <a:xfrm>
            <a:off x="2539875" y="3528781"/>
            <a:ext cx="7368417" cy="3211379"/>
          </a:xfrm>
          <a:prstGeom prst="rect">
            <a:avLst/>
          </a:prstGeom>
        </p:spPr>
      </p:pic>
      <p:sp>
        <p:nvSpPr>
          <p:cNvPr id="7" name="TextBox 6">
            <a:extLst>
              <a:ext uri="{FF2B5EF4-FFF2-40B4-BE49-F238E27FC236}">
                <a16:creationId xmlns:a16="http://schemas.microsoft.com/office/drawing/2014/main" id="{754A2E45-48A0-DCA6-10D5-411E0718FE65}"/>
              </a:ext>
            </a:extLst>
          </p:cNvPr>
          <p:cNvSpPr txBox="1"/>
          <p:nvPr/>
        </p:nvSpPr>
        <p:spPr>
          <a:xfrm>
            <a:off x="922475" y="1951672"/>
            <a:ext cx="10603215" cy="1477328"/>
          </a:xfrm>
          <a:prstGeom prst="rect">
            <a:avLst/>
          </a:prstGeom>
          <a:noFill/>
        </p:spPr>
        <p:txBody>
          <a:bodyPr wrap="square">
            <a:spAutoFit/>
          </a:bodyPr>
          <a:lstStyle/>
          <a:p>
            <a:pPr marL="285750" indent="-285750">
              <a:buClr>
                <a:schemeClr val="accent2"/>
              </a:buClr>
              <a:buFont typeface="Wingdings" panose="05000000000000000000" pitchFamily="2" charset="2"/>
              <a:buChar char="§"/>
            </a:pPr>
            <a:r>
              <a:rPr lang="en-US" dirty="0"/>
              <a:t>A workspace is an environment within the </a:t>
            </a:r>
            <a:r>
              <a:rPr lang="en-US" dirty="0" err="1"/>
              <a:t>Snowsight</a:t>
            </a:r>
            <a:r>
              <a:rPr lang="en-US" dirty="0"/>
              <a:t> user interface that organizes and stores development and analytical assets—such as SQL worksheets, notebooks, and dashboards.</a:t>
            </a:r>
          </a:p>
          <a:p>
            <a:pPr marL="285750" indent="-285750">
              <a:buClr>
                <a:schemeClr val="accent2"/>
              </a:buClr>
              <a:buFont typeface="Wingdings" panose="05000000000000000000" pitchFamily="2" charset="2"/>
              <a:buChar char="§"/>
            </a:pPr>
            <a:r>
              <a:rPr lang="en-US" dirty="0"/>
              <a:t>Workspaces enable users to manage, access, and collaborate on these assets independently of the underlying Snowflake data objects (databases, schemas, and warehouses). </a:t>
            </a:r>
          </a:p>
          <a:p>
            <a:pPr marL="285750" indent="-285750">
              <a:buClr>
                <a:schemeClr val="accent2"/>
              </a:buClr>
              <a:buFont typeface="Wingdings" panose="05000000000000000000" pitchFamily="2" charset="2"/>
              <a:buChar char="§"/>
            </a:pPr>
            <a:r>
              <a:rPr lang="en-US" dirty="0"/>
              <a:t>Workspaces can be private or shared.</a:t>
            </a:r>
          </a:p>
        </p:txBody>
      </p:sp>
    </p:spTree>
    <p:extLst>
      <p:ext uri="{BB962C8B-B14F-4D97-AF65-F5344CB8AC3E}">
        <p14:creationId xmlns:p14="http://schemas.microsoft.com/office/powerpoint/2010/main" val="8747232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B9DA3-1C95-C4CD-4BCA-848B5CF71ED4}"/>
              </a:ext>
            </a:extLst>
          </p:cNvPr>
          <p:cNvSpPr>
            <a:spLocks noGrp="1"/>
          </p:cNvSpPr>
          <p:nvPr>
            <p:ph type="title"/>
          </p:nvPr>
        </p:nvSpPr>
        <p:spPr/>
        <p:txBody>
          <a:bodyPr/>
          <a:lstStyle/>
          <a:p>
            <a:r>
              <a:rPr lang="en-US" dirty="0"/>
              <a:t>Data Warehouse vs Data lake</a:t>
            </a:r>
          </a:p>
        </p:txBody>
      </p:sp>
      <p:graphicFrame>
        <p:nvGraphicFramePr>
          <p:cNvPr id="4" name="Content Placeholder 3">
            <a:extLst>
              <a:ext uri="{FF2B5EF4-FFF2-40B4-BE49-F238E27FC236}">
                <a16:creationId xmlns:a16="http://schemas.microsoft.com/office/drawing/2014/main" id="{8D110107-A6C9-32F7-76D8-5EFF4372BDD4}"/>
              </a:ext>
            </a:extLst>
          </p:cNvPr>
          <p:cNvGraphicFramePr>
            <a:graphicFrameLocks noGrp="1"/>
          </p:cNvGraphicFramePr>
          <p:nvPr>
            <p:ph idx="1"/>
            <p:extLst>
              <p:ext uri="{D42A27DB-BD31-4B8C-83A1-F6EECF244321}">
                <p14:modId xmlns:p14="http://schemas.microsoft.com/office/powerpoint/2010/main" val="3699033662"/>
              </p:ext>
            </p:extLst>
          </p:nvPr>
        </p:nvGraphicFramePr>
        <p:xfrm>
          <a:off x="2134504" y="2291409"/>
          <a:ext cx="7922991" cy="3695376"/>
        </p:xfrm>
        <a:graphic>
          <a:graphicData uri="http://schemas.openxmlformats.org/drawingml/2006/table">
            <a:tbl>
              <a:tblPr/>
              <a:tblGrid>
                <a:gridCol w="2640997">
                  <a:extLst>
                    <a:ext uri="{9D8B030D-6E8A-4147-A177-3AD203B41FA5}">
                      <a16:colId xmlns:a16="http://schemas.microsoft.com/office/drawing/2014/main" val="3855626703"/>
                    </a:ext>
                  </a:extLst>
                </a:gridCol>
                <a:gridCol w="2640997">
                  <a:extLst>
                    <a:ext uri="{9D8B030D-6E8A-4147-A177-3AD203B41FA5}">
                      <a16:colId xmlns:a16="http://schemas.microsoft.com/office/drawing/2014/main" val="1455984046"/>
                    </a:ext>
                  </a:extLst>
                </a:gridCol>
                <a:gridCol w="2640997">
                  <a:extLst>
                    <a:ext uri="{9D8B030D-6E8A-4147-A177-3AD203B41FA5}">
                      <a16:colId xmlns:a16="http://schemas.microsoft.com/office/drawing/2014/main" val="2804569480"/>
                    </a:ext>
                  </a:extLst>
                </a:gridCol>
              </a:tblGrid>
              <a:tr h="262731">
                <a:tc>
                  <a:txBody>
                    <a:bodyPr/>
                    <a:lstStyle/>
                    <a:p>
                      <a:pPr>
                        <a:buNone/>
                      </a:pPr>
                      <a:r>
                        <a:rPr lang="en-US" sz="1300"/>
                        <a:t>Feature</a:t>
                      </a:r>
                    </a:p>
                  </a:txBody>
                  <a:tcPr marL="65683" marR="65683" marT="32841" marB="32841" anchor="ctr">
                    <a:lnL>
                      <a:noFill/>
                    </a:lnL>
                    <a:lnR>
                      <a:noFill/>
                    </a:lnR>
                    <a:lnT>
                      <a:noFill/>
                    </a:lnT>
                    <a:lnB>
                      <a:noFill/>
                    </a:lnB>
                    <a:noFill/>
                  </a:tcPr>
                </a:tc>
                <a:tc>
                  <a:txBody>
                    <a:bodyPr/>
                    <a:lstStyle/>
                    <a:p>
                      <a:pPr>
                        <a:buNone/>
                      </a:pPr>
                      <a:r>
                        <a:rPr lang="en-US" sz="1300"/>
                        <a:t>Data Warehouse</a:t>
                      </a:r>
                    </a:p>
                  </a:txBody>
                  <a:tcPr marL="65683" marR="65683" marT="32841" marB="32841" anchor="ctr">
                    <a:lnL>
                      <a:noFill/>
                    </a:lnL>
                    <a:lnR>
                      <a:noFill/>
                    </a:lnR>
                    <a:lnT>
                      <a:noFill/>
                    </a:lnT>
                    <a:lnB>
                      <a:noFill/>
                    </a:lnB>
                    <a:noFill/>
                  </a:tcPr>
                </a:tc>
                <a:tc>
                  <a:txBody>
                    <a:bodyPr/>
                    <a:lstStyle/>
                    <a:p>
                      <a:pPr>
                        <a:buNone/>
                      </a:pPr>
                      <a:r>
                        <a:rPr lang="en-US" sz="1300"/>
                        <a:t>Data Lake</a:t>
                      </a:r>
                    </a:p>
                  </a:txBody>
                  <a:tcPr marL="65683" marR="65683" marT="32841" marB="32841" anchor="ctr">
                    <a:lnL>
                      <a:noFill/>
                    </a:lnL>
                    <a:lnR>
                      <a:noFill/>
                    </a:lnR>
                    <a:lnT>
                      <a:noFill/>
                    </a:lnT>
                    <a:lnB>
                      <a:noFill/>
                    </a:lnB>
                    <a:noFill/>
                  </a:tcPr>
                </a:tc>
                <a:extLst>
                  <a:ext uri="{0D108BD9-81ED-4DB2-BD59-A6C34878D82A}">
                    <a16:rowId xmlns:a16="http://schemas.microsoft.com/office/drawing/2014/main" val="2487513938"/>
                  </a:ext>
                </a:extLst>
              </a:tr>
              <a:tr h="459780">
                <a:tc>
                  <a:txBody>
                    <a:bodyPr/>
                    <a:lstStyle/>
                    <a:p>
                      <a:pPr>
                        <a:buNone/>
                      </a:pPr>
                      <a:r>
                        <a:rPr lang="en-US" sz="1300" b="1"/>
                        <a:t>Purpose</a:t>
                      </a:r>
                      <a:endParaRPr lang="en-US" sz="1300"/>
                    </a:p>
                  </a:txBody>
                  <a:tcPr marL="65683" marR="65683" marT="32841" marB="32841" anchor="ctr">
                    <a:lnL>
                      <a:noFill/>
                    </a:lnL>
                    <a:lnR>
                      <a:noFill/>
                    </a:lnR>
                    <a:lnT>
                      <a:noFill/>
                    </a:lnT>
                    <a:lnB>
                      <a:noFill/>
                    </a:lnB>
                    <a:noFill/>
                  </a:tcPr>
                </a:tc>
                <a:tc>
                  <a:txBody>
                    <a:bodyPr/>
                    <a:lstStyle/>
                    <a:p>
                      <a:pPr>
                        <a:buNone/>
                      </a:pPr>
                      <a:r>
                        <a:rPr lang="en-US" sz="1300"/>
                        <a:t>Supports business reporting and analytics</a:t>
                      </a:r>
                    </a:p>
                  </a:txBody>
                  <a:tcPr marL="65683" marR="65683" marT="32841" marB="32841" anchor="ctr">
                    <a:lnL>
                      <a:noFill/>
                    </a:lnL>
                    <a:lnR>
                      <a:noFill/>
                    </a:lnR>
                    <a:lnT>
                      <a:noFill/>
                    </a:lnT>
                    <a:lnB>
                      <a:noFill/>
                    </a:lnB>
                    <a:noFill/>
                  </a:tcPr>
                </a:tc>
                <a:tc>
                  <a:txBody>
                    <a:bodyPr/>
                    <a:lstStyle/>
                    <a:p>
                      <a:pPr>
                        <a:buNone/>
                      </a:pPr>
                      <a:r>
                        <a:rPr lang="en-US" sz="1300"/>
                        <a:t>Stores large amounts of raw data for various uses</a:t>
                      </a:r>
                    </a:p>
                  </a:txBody>
                  <a:tcPr marL="65683" marR="65683" marT="32841" marB="32841" anchor="ctr">
                    <a:lnL>
                      <a:noFill/>
                    </a:lnL>
                    <a:lnR>
                      <a:noFill/>
                    </a:lnR>
                    <a:lnT>
                      <a:noFill/>
                    </a:lnT>
                    <a:lnB>
                      <a:noFill/>
                    </a:lnB>
                    <a:noFill/>
                  </a:tcPr>
                </a:tc>
                <a:extLst>
                  <a:ext uri="{0D108BD9-81ED-4DB2-BD59-A6C34878D82A}">
                    <a16:rowId xmlns:a16="http://schemas.microsoft.com/office/drawing/2014/main" val="2014709851"/>
                  </a:ext>
                </a:extLst>
              </a:tr>
              <a:tr h="459780">
                <a:tc>
                  <a:txBody>
                    <a:bodyPr/>
                    <a:lstStyle/>
                    <a:p>
                      <a:pPr>
                        <a:buNone/>
                      </a:pPr>
                      <a:r>
                        <a:rPr lang="en-US" sz="1300" b="1"/>
                        <a:t>Data Type</a:t>
                      </a:r>
                      <a:endParaRPr lang="en-US" sz="1300"/>
                    </a:p>
                  </a:txBody>
                  <a:tcPr marL="65683" marR="65683" marT="32841" marB="32841" anchor="ctr">
                    <a:lnL>
                      <a:noFill/>
                    </a:lnL>
                    <a:lnR>
                      <a:noFill/>
                    </a:lnR>
                    <a:lnT>
                      <a:noFill/>
                    </a:lnT>
                    <a:lnB>
                      <a:noFill/>
                    </a:lnB>
                    <a:noFill/>
                  </a:tcPr>
                </a:tc>
                <a:tc>
                  <a:txBody>
                    <a:bodyPr/>
                    <a:lstStyle/>
                    <a:p>
                      <a:pPr>
                        <a:buNone/>
                      </a:pPr>
                      <a:r>
                        <a:rPr lang="en-US" sz="1300"/>
                        <a:t>Primarily structured data (tables, rows, columns)</a:t>
                      </a:r>
                    </a:p>
                  </a:txBody>
                  <a:tcPr marL="65683" marR="65683" marT="32841" marB="32841" anchor="ctr">
                    <a:lnL>
                      <a:noFill/>
                    </a:lnL>
                    <a:lnR>
                      <a:noFill/>
                    </a:lnR>
                    <a:lnT>
                      <a:noFill/>
                    </a:lnT>
                    <a:lnB>
                      <a:noFill/>
                    </a:lnB>
                    <a:noFill/>
                  </a:tcPr>
                </a:tc>
                <a:tc>
                  <a:txBody>
                    <a:bodyPr/>
                    <a:lstStyle/>
                    <a:p>
                      <a:pPr>
                        <a:buNone/>
                      </a:pPr>
                      <a:r>
                        <a:rPr lang="en-US" sz="1300"/>
                        <a:t>Structured, semi-structured, and unstructured data</a:t>
                      </a:r>
                    </a:p>
                  </a:txBody>
                  <a:tcPr marL="65683" marR="65683" marT="32841" marB="32841" anchor="ctr">
                    <a:lnL>
                      <a:noFill/>
                    </a:lnL>
                    <a:lnR>
                      <a:noFill/>
                    </a:lnR>
                    <a:lnT>
                      <a:noFill/>
                    </a:lnT>
                    <a:lnB>
                      <a:noFill/>
                    </a:lnB>
                    <a:noFill/>
                  </a:tcPr>
                </a:tc>
                <a:extLst>
                  <a:ext uri="{0D108BD9-81ED-4DB2-BD59-A6C34878D82A}">
                    <a16:rowId xmlns:a16="http://schemas.microsoft.com/office/drawing/2014/main" val="2861249007"/>
                  </a:ext>
                </a:extLst>
              </a:tr>
              <a:tr h="656828">
                <a:tc>
                  <a:txBody>
                    <a:bodyPr/>
                    <a:lstStyle/>
                    <a:p>
                      <a:pPr>
                        <a:buNone/>
                      </a:pPr>
                      <a:r>
                        <a:rPr lang="en-US" sz="1300" b="1"/>
                        <a:t>Data Processing</a:t>
                      </a:r>
                      <a:endParaRPr lang="en-US" sz="1300"/>
                    </a:p>
                  </a:txBody>
                  <a:tcPr marL="65683" marR="65683" marT="32841" marB="32841" anchor="ctr">
                    <a:lnL>
                      <a:noFill/>
                    </a:lnL>
                    <a:lnR>
                      <a:noFill/>
                    </a:lnR>
                    <a:lnT>
                      <a:noFill/>
                    </a:lnT>
                    <a:lnB>
                      <a:noFill/>
                    </a:lnB>
                    <a:noFill/>
                  </a:tcPr>
                </a:tc>
                <a:tc>
                  <a:txBody>
                    <a:bodyPr/>
                    <a:lstStyle/>
                    <a:p>
                      <a:pPr>
                        <a:buNone/>
                      </a:pPr>
                      <a:r>
                        <a:rPr lang="en-US" sz="1300"/>
                        <a:t>Data is cleaned and transformed before loading ("schema-on-write")</a:t>
                      </a:r>
                    </a:p>
                  </a:txBody>
                  <a:tcPr marL="65683" marR="65683" marT="32841" marB="32841" anchor="ctr">
                    <a:lnL>
                      <a:noFill/>
                    </a:lnL>
                    <a:lnR>
                      <a:noFill/>
                    </a:lnR>
                    <a:lnT>
                      <a:noFill/>
                    </a:lnT>
                    <a:lnB>
                      <a:noFill/>
                    </a:lnB>
                    <a:noFill/>
                  </a:tcPr>
                </a:tc>
                <a:tc>
                  <a:txBody>
                    <a:bodyPr/>
                    <a:lstStyle/>
                    <a:p>
                      <a:pPr>
                        <a:buNone/>
                      </a:pPr>
                      <a:r>
                        <a:rPr lang="en-US" sz="1300"/>
                        <a:t>Data is stored in its raw form and structured when read ("schema-on-read")</a:t>
                      </a:r>
                    </a:p>
                  </a:txBody>
                  <a:tcPr marL="65683" marR="65683" marT="32841" marB="32841" anchor="ctr">
                    <a:lnL>
                      <a:noFill/>
                    </a:lnL>
                    <a:lnR>
                      <a:noFill/>
                    </a:lnR>
                    <a:lnT>
                      <a:noFill/>
                    </a:lnT>
                    <a:lnB>
                      <a:noFill/>
                    </a:lnB>
                    <a:noFill/>
                  </a:tcPr>
                </a:tc>
                <a:extLst>
                  <a:ext uri="{0D108BD9-81ED-4DB2-BD59-A6C34878D82A}">
                    <a16:rowId xmlns:a16="http://schemas.microsoft.com/office/drawing/2014/main" val="3822401944"/>
                  </a:ext>
                </a:extLst>
              </a:tr>
              <a:tr h="459780">
                <a:tc>
                  <a:txBody>
                    <a:bodyPr/>
                    <a:lstStyle/>
                    <a:p>
                      <a:pPr>
                        <a:buNone/>
                      </a:pPr>
                      <a:r>
                        <a:rPr lang="en-US" sz="1300" b="1"/>
                        <a:t>Users</a:t>
                      </a:r>
                      <a:endParaRPr lang="en-US" sz="1300"/>
                    </a:p>
                  </a:txBody>
                  <a:tcPr marL="65683" marR="65683" marT="32841" marB="32841" anchor="ctr">
                    <a:lnL>
                      <a:noFill/>
                    </a:lnL>
                    <a:lnR>
                      <a:noFill/>
                    </a:lnR>
                    <a:lnT>
                      <a:noFill/>
                    </a:lnT>
                    <a:lnB>
                      <a:noFill/>
                    </a:lnB>
                    <a:noFill/>
                  </a:tcPr>
                </a:tc>
                <a:tc>
                  <a:txBody>
                    <a:bodyPr/>
                    <a:lstStyle/>
                    <a:p>
                      <a:pPr>
                        <a:buNone/>
                      </a:pPr>
                      <a:r>
                        <a:rPr lang="en-US" sz="1300"/>
                        <a:t>Business analysts, executives, BI teams</a:t>
                      </a:r>
                    </a:p>
                  </a:txBody>
                  <a:tcPr marL="65683" marR="65683" marT="32841" marB="32841" anchor="ctr">
                    <a:lnL>
                      <a:noFill/>
                    </a:lnL>
                    <a:lnR>
                      <a:noFill/>
                    </a:lnR>
                    <a:lnT>
                      <a:noFill/>
                    </a:lnT>
                    <a:lnB>
                      <a:noFill/>
                    </a:lnB>
                    <a:noFill/>
                  </a:tcPr>
                </a:tc>
                <a:tc>
                  <a:txBody>
                    <a:bodyPr/>
                    <a:lstStyle/>
                    <a:p>
                      <a:pPr>
                        <a:buNone/>
                      </a:pPr>
                      <a:r>
                        <a:rPr lang="en-US" sz="1300"/>
                        <a:t>Data scientists, data engineers, ML engineers, analysts</a:t>
                      </a:r>
                    </a:p>
                  </a:txBody>
                  <a:tcPr marL="65683" marR="65683" marT="32841" marB="32841" anchor="ctr">
                    <a:lnL>
                      <a:noFill/>
                    </a:lnL>
                    <a:lnR>
                      <a:noFill/>
                    </a:lnR>
                    <a:lnT>
                      <a:noFill/>
                    </a:lnT>
                    <a:lnB>
                      <a:noFill/>
                    </a:lnB>
                    <a:noFill/>
                  </a:tcPr>
                </a:tc>
                <a:extLst>
                  <a:ext uri="{0D108BD9-81ED-4DB2-BD59-A6C34878D82A}">
                    <a16:rowId xmlns:a16="http://schemas.microsoft.com/office/drawing/2014/main" val="2491275722"/>
                  </a:ext>
                </a:extLst>
              </a:tr>
              <a:tr h="459780">
                <a:tc>
                  <a:txBody>
                    <a:bodyPr/>
                    <a:lstStyle/>
                    <a:p>
                      <a:pPr>
                        <a:buNone/>
                      </a:pPr>
                      <a:r>
                        <a:rPr lang="en-US" sz="1300" b="1"/>
                        <a:t>Performance</a:t>
                      </a:r>
                      <a:endParaRPr lang="en-US" sz="1300"/>
                    </a:p>
                  </a:txBody>
                  <a:tcPr marL="65683" marR="65683" marT="32841" marB="32841" anchor="ctr">
                    <a:lnL>
                      <a:noFill/>
                    </a:lnL>
                    <a:lnR>
                      <a:noFill/>
                    </a:lnR>
                    <a:lnT>
                      <a:noFill/>
                    </a:lnT>
                    <a:lnB>
                      <a:noFill/>
                    </a:lnB>
                    <a:noFill/>
                  </a:tcPr>
                </a:tc>
                <a:tc>
                  <a:txBody>
                    <a:bodyPr/>
                    <a:lstStyle/>
                    <a:p>
                      <a:pPr>
                        <a:buNone/>
                      </a:pPr>
                      <a:r>
                        <a:rPr lang="en-US" sz="1300"/>
                        <a:t>Optimized for fast SQL queries and dashboards</a:t>
                      </a:r>
                    </a:p>
                  </a:txBody>
                  <a:tcPr marL="65683" marR="65683" marT="32841" marB="32841" anchor="ctr">
                    <a:lnL>
                      <a:noFill/>
                    </a:lnL>
                    <a:lnR>
                      <a:noFill/>
                    </a:lnR>
                    <a:lnT>
                      <a:noFill/>
                    </a:lnT>
                    <a:lnB>
                      <a:noFill/>
                    </a:lnB>
                    <a:noFill/>
                  </a:tcPr>
                </a:tc>
                <a:tc>
                  <a:txBody>
                    <a:bodyPr/>
                    <a:lstStyle/>
                    <a:p>
                      <a:pPr>
                        <a:buNone/>
                      </a:pPr>
                      <a:r>
                        <a:rPr lang="en-US" sz="1300"/>
                        <a:t>Optimized for scalable storage and advanced analytics</a:t>
                      </a:r>
                    </a:p>
                  </a:txBody>
                  <a:tcPr marL="65683" marR="65683" marT="32841" marB="32841" anchor="ctr">
                    <a:lnL>
                      <a:noFill/>
                    </a:lnL>
                    <a:lnR>
                      <a:noFill/>
                    </a:lnR>
                    <a:lnT>
                      <a:noFill/>
                    </a:lnT>
                    <a:lnB>
                      <a:noFill/>
                    </a:lnB>
                    <a:noFill/>
                  </a:tcPr>
                </a:tc>
                <a:extLst>
                  <a:ext uri="{0D108BD9-81ED-4DB2-BD59-A6C34878D82A}">
                    <a16:rowId xmlns:a16="http://schemas.microsoft.com/office/drawing/2014/main" val="4156254637"/>
                  </a:ext>
                </a:extLst>
              </a:tr>
              <a:tr h="459780">
                <a:tc>
                  <a:txBody>
                    <a:bodyPr/>
                    <a:lstStyle/>
                    <a:p>
                      <a:pPr>
                        <a:buNone/>
                      </a:pPr>
                      <a:r>
                        <a:rPr lang="en-US" sz="1300" b="1"/>
                        <a:t>Storage Cost</a:t>
                      </a:r>
                      <a:endParaRPr lang="en-US" sz="1300"/>
                    </a:p>
                  </a:txBody>
                  <a:tcPr marL="65683" marR="65683" marT="32841" marB="32841" anchor="ctr">
                    <a:lnL>
                      <a:noFill/>
                    </a:lnL>
                    <a:lnR>
                      <a:noFill/>
                    </a:lnR>
                    <a:lnT>
                      <a:noFill/>
                    </a:lnT>
                    <a:lnB>
                      <a:noFill/>
                    </a:lnB>
                    <a:noFill/>
                  </a:tcPr>
                </a:tc>
                <a:tc>
                  <a:txBody>
                    <a:bodyPr/>
                    <a:lstStyle/>
                    <a:p>
                      <a:pPr>
                        <a:buNone/>
                      </a:pPr>
                      <a:r>
                        <a:rPr lang="en-US" sz="1300"/>
                        <a:t>Typically higher</a:t>
                      </a:r>
                    </a:p>
                  </a:txBody>
                  <a:tcPr marL="65683" marR="65683" marT="32841" marB="32841" anchor="ctr">
                    <a:lnL>
                      <a:noFill/>
                    </a:lnL>
                    <a:lnR>
                      <a:noFill/>
                    </a:lnR>
                    <a:lnT>
                      <a:noFill/>
                    </a:lnT>
                    <a:lnB>
                      <a:noFill/>
                    </a:lnB>
                    <a:noFill/>
                  </a:tcPr>
                </a:tc>
                <a:tc>
                  <a:txBody>
                    <a:bodyPr/>
                    <a:lstStyle/>
                    <a:p>
                      <a:pPr>
                        <a:buNone/>
                      </a:pPr>
                      <a:r>
                        <a:rPr lang="en-US" sz="1300"/>
                        <a:t>Typically lower because it uses inexpensive object storage</a:t>
                      </a:r>
                    </a:p>
                  </a:txBody>
                  <a:tcPr marL="65683" marR="65683" marT="32841" marB="32841" anchor="ctr">
                    <a:lnL>
                      <a:noFill/>
                    </a:lnL>
                    <a:lnR>
                      <a:noFill/>
                    </a:lnR>
                    <a:lnT>
                      <a:noFill/>
                    </a:lnT>
                    <a:lnB>
                      <a:noFill/>
                    </a:lnB>
                    <a:noFill/>
                  </a:tcPr>
                </a:tc>
                <a:extLst>
                  <a:ext uri="{0D108BD9-81ED-4DB2-BD59-A6C34878D82A}">
                    <a16:rowId xmlns:a16="http://schemas.microsoft.com/office/drawing/2014/main" val="2508989479"/>
                  </a:ext>
                </a:extLst>
              </a:tr>
              <a:tr h="459780">
                <a:tc>
                  <a:txBody>
                    <a:bodyPr/>
                    <a:lstStyle/>
                    <a:p>
                      <a:pPr>
                        <a:buNone/>
                      </a:pPr>
                      <a:r>
                        <a:rPr lang="en-US" sz="1300" b="1"/>
                        <a:t>Examples</a:t>
                      </a:r>
                      <a:endParaRPr lang="en-US" sz="1300"/>
                    </a:p>
                  </a:txBody>
                  <a:tcPr marL="65683" marR="65683" marT="32841" marB="32841" anchor="ctr">
                    <a:lnL>
                      <a:noFill/>
                    </a:lnL>
                    <a:lnR>
                      <a:noFill/>
                    </a:lnR>
                    <a:lnT>
                      <a:noFill/>
                    </a:lnT>
                    <a:lnB>
                      <a:noFill/>
                    </a:lnB>
                    <a:noFill/>
                  </a:tcPr>
                </a:tc>
                <a:tc>
                  <a:txBody>
                    <a:bodyPr/>
                    <a:lstStyle/>
                    <a:p>
                      <a:pPr>
                        <a:buNone/>
                      </a:pPr>
                      <a:r>
                        <a:rPr lang="en-US" sz="1300"/>
                        <a:t>Financial reporting, sales dashboards, KPI tracking</a:t>
                      </a:r>
                    </a:p>
                  </a:txBody>
                  <a:tcPr marL="65683" marR="65683" marT="32841" marB="32841" anchor="ctr">
                    <a:lnL>
                      <a:noFill/>
                    </a:lnL>
                    <a:lnR>
                      <a:noFill/>
                    </a:lnR>
                    <a:lnT>
                      <a:noFill/>
                    </a:lnT>
                    <a:lnB>
                      <a:noFill/>
                    </a:lnB>
                    <a:noFill/>
                  </a:tcPr>
                </a:tc>
                <a:tc>
                  <a:txBody>
                    <a:bodyPr/>
                    <a:lstStyle/>
                    <a:p>
                      <a:pPr>
                        <a:buNone/>
                      </a:pPr>
                      <a:r>
                        <a:rPr lang="en-US" sz="1300" dirty="0"/>
                        <a:t>Machine learning, log analysis, IoT data, clickstream analysis</a:t>
                      </a:r>
                    </a:p>
                  </a:txBody>
                  <a:tcPr marL="65683" marR="65683" marT="32841" marB="32841" anchor="ctr">
                    <a:lnL>
                      <a:noFill/>
                    </a:lnL>
                    <a:lnR>
                      <a:noFill/>
                    </a:lnR>
                    <a:lnT>
                      <a:noFill/>
                    </a:lnT>
                    <a:lnB>
                      <a:noFill/>
                    </a:lnB>
                    <a:noFill/>
                  </a:tcPr>
                </a:tc>
                <a:extLst>
                  <a:ext uri="{0D108BD9-81ED-4DB2-BD59-A6C34878D82A}">
                    <a16:rowId xmlns:a16="http://schemas.microsoft.com/office/drawing/2014/main" val="785403280"/>
                  </a:ext>
                </a:extLst>
              </a:tr>
            </a:tbl>
          </a:graphicData>
        </a:graphic>
      </p:graphicFrame>
    </p:spTree>
    <p:extLst>
      <p:ext uri="{BB962C8B-B14F-4D97-AF65-F5344CB8AC3E}">
        <p14:creationId xmlns:p14="http://schemas.microsoft.com/office/powerpoint/2010/main" val="31484614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42ABA-4BA8-E5B2-BE81-4982F55000DD}"/>
              </a:ext>
            </a:extLst>
          </p:cNvPr>
          <p:cNvSpPr>
            <a:spLocks noGrp="1"/>
          </p:cNvSpPr>
          <p:nvPr>
            <p:ph type="title"/>
          </p:nvPr>
        </p:nvSpPr>
        <p:spPr/>
        <p:txBody>
          <a:bodyPr/>
          <a:lstStyle/>
          <a:p>
            <a:r>
              <a:rPr lang="en-US" dirty="0"/>
              <a:t>What is snowflake?</a:t>
            </a:r>
          </a:p>
        </p:txBody>
      </p:sp>
      <p:sp>
        <p:nvSpPr>
          <p:cNvPr id="3" name="Content Placeholder 2">
            <a:extLst>
              <a:ext uri="{FF2B5EF4-FFF2-40B4-BE49-F238E27FC236}">
                <a16:creationId xmlns:a16="http://schemas.microsoft.com/office/drawing/2014/main" id="{BBB8B899-0EC2-0956-B703-1A61283498A8}"/>
              </a:ext>
            </a:extLst>
          </p:cNvPr>
          <p:cNvSpPr>
            <a:spLocks noGrp="1"/>
          </p:cNvSpPr>
          <p:nvPr>
            <p:ph idx="1"/>
          </p:nvPr>
        </p:nvSpPr>
        <p:spPr/>
        <p:txBody>
          <a:bodyPr/>
          <a:lstStyle/>
          <a:p>
            <a:r>
              <a:rPr lang="en-US" dirty="0"/>
              <a:t>A cloud native, data platform, that is a SaaS</a:t>
            </a:r>
          </a:p>
          <a:p>
            <a:pPr lvl="1"/>
            <a:r>
              <a:rPr lang="en-US" dirty="0"/>
              <a:t>Cloud Native: under the hood it runs: AWS (native), Azure (2018), Google (2020)</a:t>
            </a:r>
          </a:p>
          <a:p>
            <a:pPr lvl="1"/>
            <a:r>
              <a:rPr lang="en-US" dirty="0"/>
              <a:t>Data Platform</a:t>
            </a:r>
          </a:p>
          <a:p>
            <a:pPr lvl="2"/>
            <a:r>
              <a:rPr lang="en-US" dirty="0"/>
              <a:t>data lake + data warehouse = </a:t>
            </a:r>
            <a:r>
              <a:rPr lang="en-US" dirty="0" err="1"/>
              <a:t>lakehouse</a:t>
            </a:r>
            <a:r>
              <a:rPr lang="en-US" dirty="0"/>
              <a:t> approach; snowflake is more than that</a:t>
            </a:r>
          </a:p>
          <a:p>
            <a:pPr lvl="2"/>
            <a:r>
              <a:rPr lang="en-US" dirty="0"/>
              <a:t>Integrated AI and ML capabilities</a:t>
            </a:r>
          </a:p>
          <a:p>
            <a:pPr lvl="2"/>
            <a:r>
              <a:rPr lang="en-US" dirty="0"/>
              <a:t>Supports ingestion, transformation, orchestration, streaming, and pipelines within the same platform, reducing the need for separate ETL infrastructure</a:t>
            </a:r>
          </a:p>
          <a:p>
            <a:pPr lvl="2"/>
            <a:r>
              <a:rPr lang="en-US" dirty="0"/>
              <a:t>Governance and Security </a:t>
            </a:r>
          </a:p>
          <a:p>
            <a:pPr lvl="1"/>
            <a:r>
              <a:rPr lang="en-US" dirty="0"/>
              <a:t>SaaS – software as a service; many things are managed for us;</a:t>
            </a:r>
          </a:p>
          <a:p>
            <a:pPr lvl="2"/>
            <a:r>
              <a:rPr lang="en-US" dirty="0"/>
              <a:t>Pay as you go model</a:t>
            </a:r>
          </a:p>
        </p:txBody>
      </p:sp>
    </p:spTree>
    <p:extLst>
      <p:ext uri="{BB962C8B-B14F-4D97-AF65-F5344CB8AC3E}">
        <p14:creationId xmlns:p14="http://schemas.microsoft.com/office/powerpoint/2010/main" val="32042997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91639-5A53-831E-D65F-C1909847D2F9}"/>
              </a:ext>
            </a:extLst>
          </p:cNvPr>
          <p:cNvSpPr>
            <a:spLocks noGrp="1"/>
          </p:cNvSpPr>
          <p:nvPr>
            <p:ph type="title"/>
          </p:nvPr>
        </p:nvSpPr>
        <p:spPr/>
        <p:txBody>
          <a:bodyPr/>
          <a:lstStyle/>
          <a:p>
            <a:r>
              <a:rPr lang="en-US" dirty="0"/>
              <a:t>Distributed Architectures</a:t>
            </a:r>
          </a:p>
        </p:txBody>
      </p:sp>
      <p:sp>
        <p:nvSpPr>
          <p:cNvPr id="3" name="Content Placeholder 2">
            <a:extLst>
              <a:ext uri="{FF2B5EF4-FFF2-40B4-BE49-F238E27FC236}">
                <a16:creationId xmlns:a16="http://schemas.microsoft.com/office/drawing/2014/main" id="{30E81EF9-EC3A-4C93-5BBE-13F81CC08A36}"/>
              </a:ext>
            </a:extLst>
          </p:cNvPr>
          <p:cNvSpPr>
            <a:spLocks noGrp="1"/>
          </p:cNvSpPr>
          <p:nvPr>
            <p:ph idx="1"/>
          </p:nvPr>
        </p:nvSpPr>
        <p:spPr>
          <a:xfrm>
            <a:off x="581192" y="2180497"/>
            <a:ext cx="11029615" cy="1248504"/>
          </a:xfrm>
        </p:spPr>
        <p:txBody>
          <a:bodyPr/>
          <a:lstStyle/>
          <a:p>
            <a:r>
              <a:rPr lang="en-US" dirty="0"/>
              <a:t>Shared Disk – not scalable due to throughput</a:t>
            </a:r>
          </a:p>
          <a:p>
            <a:r>
              <a:rPr lang="en-US" dirty="0"/>
              <a:t>Shared Nothing – has throughput, but joins are expensive</a:t>
            </a:r>
          </a:p>
        </p:txBody>
      </p:sp>
      <p:pic>
        <p:nvPicPr>
          <p:cNvPr id="5" name="Picture 4">
            <a:extLst>
              <a:ext uri="{FF2B5EF4-FFF2-40B4-BE49-F238E27FC236}">
                <a16:creationId xmlns:a16="http://schemas.microsoft.com/office/drawing/2014/main" id="{1770A41D-3641-7F5A-AB27-19A08157230A}"/>
              </a:ext>
            </a:extLst>
          </p:cNvPr>
          <p:cNvPicPr>
            <a:picLocks noChangeAspect="1"/>
          </p:cNvPicPr>
          <p:nvPr/>
        </p:nvPicPr>
        <p:blipFill>
          <a:blip r:embed="rId2"/>
          <a:stretch>
            <a:fillRect/>
          </a:stretch>
        </p:blipFill>
        <p:spPr>
          <a:xfrm>
            <a:off x="1521423" y="3877037"/>
            <a:ext cx="4243282" cy="2240211"/>
          </a:xfrm>
          <a:prstGeom prst="rect">
            <a:avLst/>
          </a:prstGeom>
        </p:spPr>
      </p:pic>
      <p:pic>
        <p:nvPicPr>
          <p:cNvPr id="7" name="Picture 6">
            <a:extLst>
              <a:ext uri="{FF2B5EF4-FFF2-40B4-BE49-F238E27FC236}">
                <a16:creationId xmlns:a16="http://schemas.microsoft.com/office/drawing/2014/main" id="{8AFF36A6-1625-8932-EA13-D6F3F6FAF321}"/>
              </a:ext>
            </a:extLst>
          </p:cNvPr>
          <p:cNvPicPr>
            <a:picLocks noChangeAspect="1"/>
          </p:cNvPicPr>
          <p:nvPr/>
        </p:nvPicPr>
        <p:blipFill>
          <a:blip r:embed="rId3"/>
          <a:stretch>
            <a:fillRect/>
          </a:stretch>
        </p:blipFill>
        <p:spPr>
          <a:xfrm>
            <a:off x="6887688" y="3040168"/>
            <a:ext cx="3370864" cy="3473478"/>
          </a:xfrm>
          <a:prstGeom prst="rect">
            <a:avLst/>
          </a:prstGeom>
        </p:spPr>
      </p:pic>
    </p:spTree>
    <p:extLst>
      <p:ext uri="{BB962C8B-B14F-4D97-AF65-F5344CB8AC3E}">
        <p14:creationId xmlns:p14="http://schemas.microsoft.com/office/powerpoint/2010/main" val="9015672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7138E-AA5B-18DD-2E4E-00D282A76DCF}"/>
              </a:ext>
            </a:extLst>
          </p:cNvPr>
          <p:cNvSpPr>
            <a:spLocks noGrp="1"/>
          </p:cNvSpPr>
          <p:nvPr>
            <p:ph type="title"/>
          </p:nvPr>
        </p:nvSpPr>
        <p:spPr/>
        <p:txBody>
          <a:bodyPr/>
          <a:lstStyle/>
          <a:p>
            <a:r>
              <a:rPr lang="en-US" dirty="0"/>
              <a:t>Multi-cluster shared data architecture</a:t>
            </a:r>
          </a:p>
        </p:txBody>
      </p:sp>
      <p:pic>
        <p:nvPicPr>
          <p:cNvPr id="5" name="Content Placeholder 4">
            <a:extLst>
              <a:ext uri="{FF2B5EF4-FFF2-40B4-BE49-F238E27FC236}">
                <a16:creationId xmlns:a16="http://schemas.microsoft.com/office/drawing/2014/main" id="{A439DB2A-F158-C553-8A42-954008BC40B0}"/>
              </a:ext>
            </a:extLst>
          </p:cNvPr>
          <p:cNvPicPr>
            <a:picLocks noGrp="1" noChangeAspect="1"/>
          </p:cNvPicPr>
          <p:nvPr>
            <p:ph idx="1"/>
          </p:nvPr>
        </p:nvPicPr>
        <p:blipFill>
          <a:blip r:embed="rId2"/>
          <a:stretch>
            <a:fillRect/>
          </a:stretch>
        </p:blipFill>
        <p:spPr>
          <a:xfrm>
            <a:off x="2345618" y="1828800"/>
            <a:ext cx="7500763" cy="5029200"/>
          </a:xfrm>
          <a:prstGeom prst="rect">
            <a:avLst/>
          </a:prstGeom>
        </p:spPr>
      </p:pic>
    </p:spTree>
    <p:extLst>
      <p:ext uri="{BB962C8B-B14F-4D97-AF65-F5344CB8AC3E}">
        <p14:creationId xmlns:p14="http://schemas.microsoft.com/office/powerpoint/2010/main" val="4246179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5ADEE-3AAD-3BE8-C9BB-5D45C325FF6C}"/>
              </a:ext>
            </a:extLst>
          </p:cNvPr>
          <p:cNvSpPr>
            <a:spLocks noGrp="1"/>
          </p:cNvSpPr>
          <p:nvPr>
            <p:ph type="title"/>
          </p:nvPr>
        </p:nvSpPr>
        <p:spPr/>
        <p:txBody>
          <a:bodyPr/>
          <a:lstStyle/>
          <a:p>
            <a:r>
              <a:rPr lang="en-US" dirty="0"/>
              <a:t>Storage Layer</a:t>
            </a:r>
          </a:p>
        </p:txBody>
      </p:sp>
      <p:sp>
        <p:nvSpPr>
          <p:cNvPr id="3" name="Content Placeholder 2">
            <a:extLst>
              <a:ext uri="{FF2B5EF4-FFF2-40B4-BE49-F238E27FC236}">
                <a16:creationId xmlns:a16="http://schemas.microsoft.com/office/drawing/2014/main" id="{F4646BB9-0F69-C88C-909C-82F53999C176}"/>
              </a:ext>
            </a:extLst>
          </p:cNvPr>
          <p:cNvSpPr>
            <a:spLocks noGrp="1"/>
          </p:cNvSpPr>
          <p:nvPr>
            <p:ph idx="1"/>
          </p:nvPr>
        </p:nvSpPr>
        <p:spPr>
          <a:xfrm>
            <a:off x="581192" y="2180496"/>
            <a:ext cx="11029615" cy="4443588"/>
          </a:xfrm>
        </p:spPr>
        <p:txBody>
          <a:bodyPr/>
          <a:lstStyle/>
          <a:p>
            <a:r>
              <a:rPr lang="en-US" dirty="0"/>
              <a:t>Persistent and infinitely scalable cloud storage residing in cloud providers blob storage service, such as AWS S3</a:t>
            </a:r>
          </a:p>
          <a:p>
            <a:r>
              <a:rPr lang="en-US" dirty="0"/>
              <a:t>Both structured and semi-structured data files can be loaded and stored in Snowflake: CSV, Json, ORC, Avro, XML, Parquet</a:t>
            </a:r>
          </a:p>
          <a:p>
            <a:r>
              <a:rPr lang="en-US" dirty="0"/>
              <a:t>Proprietary compressed columnar data format inside of multi-partitions</a:t>
            </a:r>
          </a:p>
          <a:p>
            <a:pPr lvl="1"/>
            <a:r>
              <a:rPr lang="en-US" dirty="0"/>
              <a:t>stores data values of the same column physically next to each other on disk, unlike a CSV file which stores its data in a row-oriented manner where each data value of a row is stored next to each other. </a:t>
            </a:r>
          </a:p>
          <a:p>
            <a:pPr lvl="1"/>
            <a:r>
              <a:rPr lang="en-US" dirty="0"/>
              <a:t>Storing our table data in a columnar file format is great for OLAP queries because it effectively allows you to skip past columns which are not needed for a query. </a:t>
            </a:r>
          </a:p>
          <a:p>
            <a:pPr lvl="1"/>
            <a:r>
              <a:rPr lang="en-US" dirty="0"/>
              <a:t>This is what we call read optimization, reducing the amount of data needed to be fetched. The data files are also compressed during the loading process. Compression is particularly good in a columnar file format, as columns usually contain the same type of data, so a compression algorithm can be more efficient.</a:t>
            </a:r>
          </a:p>
          <a:p>
            <a:r>
              <a:rPr lang="en-US" dirty="0"/>
              <a:t>Billed at a flat rate per TB used a month</a:t>
            </a:r>
          </a:p>
        </p:txBody>
      </p:sp>
    </p:spTree>
    <p:extLst>
      <p:ext uri="{BB962C8B-B14F-4D97-AF65-F5344CB8AC3E}">
        <p14:creationId xmlns:p14="http://schemas.microsoft.com/office/powerpoint/2010/main" val="5938937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CB527-CA31-FF90-F098-494FA58B2E65}"/>
              </a:ext>
            </a:extLst>
          </p:cNvPr>
          <p:cNvSpPr>
            <a:spLocks noGrp="1"/>
          </p:cNvSpPr>
          <p:nvPr>
            <p:ph type="title"/>
          </p:nvPr>
        </p:nvSpPr>
        <p:spPr/>
        <p:txBody>
          <a:bodyPr/>
          <a:lstStyle/>
          <a:p>
            <a:r>
              <a:rPr lang="en-US" dirty="0"/>
              <a:t>Query Processing layer</a:t>
            </a:r>
          </a:p>
        </p:txBody>
      </p:sp>
      <p:sp>
        <p:nvSpPr>
          <p:cNvPr id="3" name="Content Placeholder 2">
            <a:extLst>
              <a:ext uri="{FF2B5EF4-FFF2-40B4-BE49-F238E27FC236}">
                <a16:creationId xmlns:a16="http://schemas.microsoft.com/office/drawing/2014/main" id="{0FE9B537-C165-F3DA-2D3E-57627334F792}"/>
              </a:ext>
            </a:extLst>
          </p:cNvPr>
          <p:cNvSpPr>
            <a:spLocks noGrp="1"/>
          </p:cNvSpPr>
          <p:nvPr>
            <p:ph idx="1"/>
          </p:nvPr>
        </p:nvSpPr>
        <p:spPr>
          <a:xfrm>
            <a:off x="581193" y="2180496"/>
            <a:ext cx="5514808" cy="4220304"/>
          </a:xfrm>
        </p:spPr>
        <p:txBody>
          <a:bodyPr/>
          <a:lstStyle/>
          <a:p>
            <a:r>
              <a:rPr lang="en-US" dirty="0"/>
              <a:t>The query processing layer consists of Virtual Warehouses that execute the processing tasks required to return results for most SQL statements </a:t>
            </a:r>
          </a:p>
          <a:p>
            <a:r>
              <a:rPr lang="en-US" dirty="0"/>
              <a:t>A Virtual Warehouse is a named abstraction for a cluster of cloud-based compute instances that Snowflake manage </a:t>
            </a:r>
          </a:p>
          <a:p>
            <a:r>
              <a:rPr lang="en-US" dirty="0"/>
              <a:t>CREATE WAREHOUSE MY_WH WAREHOUSE_SIZE=LARGE;</a:t>
            </a:r>
          </a:p>
          <a:p>
            <a:r>
              <a:rPr lang="en-US" dirty="0"/>
              <a:t>Underlying nodes of a Virtual Warehouse cooperate in a similar way to shared-nothing compute clusters making use of local caching </a:t>
            </a:r>
          </a:p>
        </p:txBody>
      </p:sp>
      <p:pic>
        <p:nvPicPr>
          <p:cNvPr id="7" name="Picture 6">
            <a:extLst>
              <a:ext uri="{FF2B5EF4-FFF2-40B4-BE49-F238E27FC236}">
                <a16:creationId xmlns:a16="http://schemas.microsoft.com/office/drawing/2014/main" id="{3FC08C70-060A-2F01-C6CB-970354F60C9F}"/>
              </a:ext>
            </a:extLst>
          </p:cNvPr>
          <p:cNvPicPr>
            <a:picLocks noChangeAspect="1"/>
          </p:cNvPicPr>
          <p:nvPr/>
        </p:nvPicPr>
        <p:blipFill>
          <a:blip r:embed="rId2"/>
          <a:stretch>
            <a:fillRect/>
          </a:stretch>
        </p:blipFill>
        <p:spPr>
          <a:xfrm>
            <a:off x="6742853" y="2808094"/>
            <a:ext cx="4867954" cy="2333951"/>
          </a:xfrm>
          <a:prstGeom prst="rect">
            <a:avLst/>
          </a:prstGeom>
        </p:spPr>
      </p:pic>
    </p:spTree>
    <p:extLst>
      <p:ext uri="{BB962C8B-B14F-4D97-AF65-F5344CB8AC3E}">
        <p14:creationId xmlns:p14="http://schemas.microsoft.com/office/powerpoint/2010/main" val="2220623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46555E-001F-E3AC-F012-EFA1380FA6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5157E9-4CFD-5F16-5474-A40548FB6C7D}"/>
              </a:ext>
            </a:extLst>
          </p:cNvPr>
          <p:cNvSpPr>
            <a:spLocks noGrp="1"/>
          </p:cNvSpPr>
          <p:nvPr>
            <p:ph type="title"/>
          </p:nvPr>
        </p:nvSpPr>
        <p:spPr/>
        <p:txBody>
          <a:bodyPr/>
          <a:lstStyle/>
          <a:p>
            <a:r>
              <a:rPr lang="en-US" dirty="0"/>
              <a:t>Query Processing layer</a:t>
            </a:r>
          </a:p>
        </p:txBody>
      </p:sp>
      <p:sp>
        <p:nvSpPr>
          <p:cNvPr id="3" name="Content Placeholder 2">
            <a:extLst>
              <a:ext uri="{FF2B5EF4-FFF2-40B4-BE49-F238E27FC236}">
                <a16:creationId xmlns:a16="http://schemas.microsoft.com/office/drawing/2014/main" id="{FCC3492E-06D3-9F76-16CA-4A6E2CF802E4}"/>
              </a:ext>
            </a:extLst>
          </p:cNvPr>
          <p:cNvSpPr>
            <a:spLocks noGrp="1"/>
          </p:cNvSpPr>
          <p:nvPr>
            <p:ph idx="1"/>
          </p:nvPr>
        </p:nvSpPr>
        <p:spPr>
          <a:xfrm>
            <a:off x="581193" y="2180496"/>
            <a:ext cx="5514808" cy="4220304"/>
          </a:xfrm>
        </p:spPr>
        <p:txBody>
          <a:bodyPr/>
          <a:lstStyle/>
          <a:p>
            <a:r>
              <a:rPr lang="en-US" dirty="0"/>
              <a:t>Virtual Warehouses can be created or removed instantly </a:t>
            </a:r>
          </a:p>
          <a:p>
            <a:r>
              <a:rPr lang="en-US" dirty="0"/>
              <a:t>Virtual Warehouses can be paused or resumed </a:t>
            </a:r>
          </a:p>
          <a:p>
            <a:r>
              <a:rPr lang="en-US" dirty="0"/>
              <a:t>Virtually unlimited Virtual Warehouses can be created each with its own configuration </a:t>
            </a:r>
          </a:p>
          <a:p>
            <a:r>
              <a:rPr lang="en-US" dirty="0"/>
              <a:t>Virtual Warehouses come it multiple t-shirt sizes indicating their relative compute power </a:t>
            </a:r>
          </a:p>
          <a:p>
            <a:r>
              <a:rPr lang="en-US" dirty="0"/>
              <a:t>All running Virtual Warehouses have consistent access to the same data in the storage layer </a:t>
            </a:r>
          </a:p>
        </p:txBody>
      </p:sp>
      <p:pic>
        <p:nvPicPr>
          <p:cNvPr id="7" name="Picture 6">
            <a:extLst>
              <a:ext uri="{FF2B5EF4-FFF2-40B4-BE49-F238E27FC236}">
                <a16:creationId xmlns:a16="http://schemas.microsoft.com/office/drawing/2014/main" id="{642295FA-FE47-E3D8-5BC1-76F7C788176D}"/>
              </a:ext>
            </a:extLst>
          </p:cNvPr>
          <p:cNvPicPr>
            <a:picLocks noChangeAspect="1"/>
          </p:cNvPicPr>
          <p:nvPr/>
        </p:nvPicPr>
        <p:blipFill>
          <a:blip r:embed="rId2"/>
          <a:stretch>
            <a:fillRect/>
          </a:stretch>
        </p:blipFill>
        <p:spPr>
          <a:xfrm>
            <a:off x="6742853" y="2808094"/>
            <a:ext cx="4867954" cy="2333951"/>
          </a:xfrm>
          <a:prstGeom prst="rect">
            <a:avLst/>
          </a:prstGeom>
        </p:spPr>
      </p:pic>
    </p:spTree>
    <p:extLst>
      <p:ext uri="{BB962C8B-B14F-4D97-AF65-F5344CB8AC3E}">
        <p14:creationId xmlns:p14="http://schemas.microsoft.com/office/powerpoint/2010/main" val="34410824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41852-6CF7-BBDE-9CAB-774CA5FF6404}"/>
              </a:ext>
            </a:extLst>
          </p:cNvPr>
          <p:cNvSpPr>
            <a:spLocks noGrp="1"/>
          </p:cNvSpPr>
          <p:nvPr>
            <p:ph type="title"/>
          </p:nvPr>
        </p:nvSpPr>
        <p:spPr/>
        <p:txBody>
          <a:bodyPr/>
          <a:lstStyle/>
          <a:p>
            <a:r>
              <a:rPr lang="en-US" dirty="0"/>
              <a:t>Services Layer</a:t>
            </a:r>
          </a:p>
        </p:txBody>
      </p:sp>
      <p:sp>
        <p:nvSpPr>
          <p:cNvPr id="3" name="Content Placeholder 2">
            <a:extLst>
              <a:ext uri="{FF2B5EF4-FFF2-40B4-BE49-F238E27FC236}">
                <a16:creationId xmlns:a16="http://schemas.microsoft.com/office/drawing/2014/main" id="{1ED4505A-4B63-E410-B5CD-6B2C37529072}"/>
              </a:ext>
            </a:extLst>
          </p:cNvPr>
          <p:cNvSpPr>
            <a:spLocks noGrp="1"/>
          </p:cNvSpPr>
          <p:nvPr>
            <p:ph idx="1"/>
          </p:nvPr>
        </p:nvSpPr>
        <p:spPr>
          <a:xfrm>
            <a:off x="581193" y="1906778"/>
            <a:ext cx="5289256" cy="4544059"/>
          </a:xfrm>
        </p:spPr>
        <p:txBody>
          <a:bodyPr>
            <a:normAutofit lnSpcReduction="10000"/>
          </a:bodyPr>
          <a:lstStyle/>
          <a:p>
            <a:r>
              <a:rPr lang="en-US" dirty="0"/>
              <a:t>The services layer is a collection of highly available and scalable services that coordinate activities such as authentication and query optimization across all Snowflake accounts.</a:t>
            </a:r>
          </a:p>
          <a:p>
            <a:r>
              <a:rPr lang="en-US" dirty="0"/>
              <a:t>Similar to underlying virtual warehouse resources, the services layer also runs on cloud compute instances</a:t>
            </a:r>
          </a:p>
          <a:p>
            <a:r>
              <a:rPr lang="en-US" dirty="0"/>
              <a:t>Services managed by this layer include:</a:t>
            </a:r>
          </a:p>
          <a:p>
            <a:pPr lvl="1"/>
            <a:r>
              <a:rPr lang="en-US" dirty="0"/>
              <a:t>Authentication &amp; Access Control</a:t>
            </a:r>
          </a:p>
          <a:p>
            <a:pPr lvl="1"/>
            <a:r>
              <a:rPr lang="en-US" dirty="0"/>
              <a:t>Infrastructure Management</a:t>
            </a:r>
          </a:p>
          <a:p>
            <a:pPr lvl="1"/>
            <a:r>
              <a:rPr lang="en-US" dirty="0"/>
              <a:t>Transaction Management</a:t>
            </a:r>
          </a:p>
          <a:p>
            <a:pPr lvl="1"/>
            <a:r>
              <a:rPr lang="en-US" dirty="0"/>
              <a:t>Metadata Management</a:t>
            </a:r>
          </a:p>
          <a:p>
            <a:pPr lvl="1"/>
            <a:r>
              <a:rPr lang="en-US" dirty="0"/>
              <a:t>Query parsing and optimization </a:t>
            </a:r>
          </a:p>
          <a:p>
            <a:pPr lvl="1"/>
            <a:r>
              <a:rPr lang="en-US" dirty="0"/>
              <a:t>Security</a:t>
            </a:r>
          </a:p>
        </p:txBody>
      </p:sp>
      <p:pic>
        <p:nvPicPr>
          <p:cNvPr id="5" name="Picture 4">
            <a:extLst>
              <a:ext uri="{FF2B5EF4-FFF2-40B4-BE49-F238E27FC236}">
                <a16:creationId xmlns:a16="http://schemas.microsoft.com/office/drawing/2014/main" id="{818C6F8A-2B64-416D-025E-C9CF31597ECB}"/>
              </a:ext>
            </a:extLst>
          </p:cNvPr>
          <p:cNvPicPr>
            <a:picLocks noChangeAspect="1"/>
          </p:cNvPicPr>
          <p:nvPr/>
        </p:nvPicPr>
        <p:blipFill>
          <a:blip r:embed="rId2"/>
          <a:stretch>
            <a:fillRect/>
          </a:stretch>
        </p:blipFill>
        <p:spPr>
          <a:xfrm>
            <a:off x="6321553" y="1906778"/>
            <a:ext cx="5172797" cy="4544059"/>
          </a:xfrm>
          <a:prstGeom prst="rect">
            <a:avLst/>
          </a:prstGeom>
        </p:spPr>
      </p:pic>
    </p:spTree>
    <p:extLst>
      <p:ext uri="{BB962C8B-B14F-4D97-AF65-F5344CB8AC3E}">
        <p14:creationId xmlns:p14="http://schemas.microsoft.com/office/powerpoint/2010/main" val="29117393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435AE-07BD-B3B7-69F3-EE38502E8067}"/>
              </a:ext>
            </a:extLst>
          </p:cNvPr>
          <p:cNvSpPr>
            <a:spLocks noGrp="1"/>
          </p:cNvSpPr>
          <p:nvPr>
            <p:ph type="title"/>
          </p:nvPr>
        </p:nvSpPr>
        <p:spPr/>
        <p:txBody>
          <a:bodyPr/>
          <a:lstStyle/>
          <a:p>
            <a:r>
              <a:rPr lang="en-US" dirty="0"/>
              <a:t>Snowflake Editions</a:t>
            </a:r>
          </a:p>
        </p:txBody>
      </p:sp>
      <p:pic>
        <p:nvPicPr>
          <p:cNvPr id="5" name="Content Placeholder 4">
            <a:extLst>
              <a:ext uri="{FF2B5EF4-FFF2-40B4-BE49-F238E27FC236}">
                <a16:creationId xmlns:a16="http://schemas.microsoft.com/office/drawing/2014/main" id="{CA0E68B6-9C5B-1B3F-B907-9A7AA534C4BC}"/>
              </a:ext>
            </a:extLst>
          </p:cNvPr>
          <p:cNvPicPr>
            <a:picLocks noGrp="1" noChangeAspect="1"/>
          </p:cNvPicPr>
          <p:nvPr>
            <p:ph idx="1"/>
          </p:nvPr>
        </p:nvPicPr>
        <p:blipFill>
          <a:blip r:embed="rId2"/>
          <a:stretch>
            <a:fillRect/>
          </a:stretch>
        </p:blipFill>
        <p:spPr>
          <a:xfrm>
            <a:off x="2086880" y="1816683"/>
            <a:ext cx="8018239" cy="4595673"/>
          </a:xfrm>
          <a:prstGeom prst="rect">
            <a:avLst/>
          </a:prstGeom>
        </p:spPr>
      </p:pic>
      <p:sp>
        <p:nvSpPr>
          <p:cNvPr id="6" name="TextBox 5">
            <a:hlinkClick r:id="rId3"/>
            <a:extLst>
              <a:ext uri="{FF2B5EF4-FFF2-40B4-BE49-F238E27FC236}">
                <a16:creationId xmlns:a16="http://schemas.microsoft.com/office/drawing/2014/main" id="{92C5175D-82B1-8571-0512-F4ED2558876D}"/>
              </a:ext>
            </a:extLst>
          </p:cNvPr>
          <p:cNvSpPr txBox="1"/>
          <p:nvPr/>
        </p:nvSpPr>
        <p:spPr>
          <a:xfrm>
            <a:off x="5270420" y="6488668"/>
            <a:ext cx="1651158" cy="369332"/>
          </a:xfrm>
          <a:prstGeom prst="rect">
            <a:avLst/>
          </a:prstGeom>
          <a:noFill/>
        </p:spPr>
        <p:txBody>
          <a:bodyPr wrap="none" rtlCol="0">
            <a:spAutoFit/>
          </a:bodyPr>
          <a:lstStyle/>
          <a:p>
            <a:r>
              <a:rPr lang="en-US" dirty="0">
                <a:hlinkClick r:id="rId3"/>
              </a:rPr>
              <a:t>More info here!</a:t>
            </a:r>
            <a:endParaRPr lang="en-US" dirty="0"/>
          </a:p>
        </p:txBody>
      </p:sp>
    </p:spTree>
    <p:extLst>
      <p:ext uri="{BB962C8B-B14F-4D97-AF65-F5344CB8AC3E}">
        <p14:creationId xmlns:p14="http://schemas.microsoft.com/office/powerpoint/2010/main" val="17338770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A2252-BD61-AF86-FFFD-BEB9D8C02B4F}"/>
              </a:ext>
            </a:extLst>
          </p:cNvPr>
          <p:cNvSpPr>
            <a:spLocks noGrp="1"/>
          </p:cNvSpPr>
          <p:nvPr>
            <p:ph type="title"/>
          </p:nvPr>
        </p:nvSpPr>
        <p:spPr/>
        <p:txBody>
          <a:bodyPr/>
          <a:lstStyle/>
          <a:p>
            <a:r>
              <a:rPr lang="en-US" dirty="0"/>
              <a:t>Snowflake Object Model</a:t>
            </a:r>
          </a:p>
        </p:txBody>
      </p:sp>
      <p:pic>
        <p:nvPicPr>
          <p:cNvPr id="5" name="Content Placeholder 4">
            <a:extLst>
              <a:ext uri="{FF2B5EF4-FFF2-40B4-BE49-F238E27FC236}">
                <a16:creationId xmlns:a16="http://schemas.microsoft.com/office/drawing/2014/main" id="{3D955809-3BEE-7990-76F4-4A382E521457}"/>
              </a:ext>
            </a:extLst>
          </p:cNvPr>
          <p:cNvPicPr>
            <a:picLocks noGrp="1" noChangeAspect="1"/>
          </p:cNvPicPr>
          <p:nvPr>
            <p:ph idx="1"/>
          </p:nvPr>
        </p:nvPicPr>
        <p:blipFill>
          <a:blip r:embed="rId2"/>
          <a:stretch>
            <a:fillRect/>
          </a:stretch>
        </p:blipFill>
        <p:spPr>
          <a:xfrm>
            <a:off x="581192" y="2187217"/>
            <a:ext cx="7970573" cy="4161344"/>
          </a:xfrm>
          <a:prstGeom prst="rect">
            <a:avLst/>
          </a:prstGeom>
        </p:spPr>
      </p:pic>
      <p:sp>
        <p:nvSpPr>
          <p:cNvPr id="6" name="TextBox 5">
            <a:extLst>
              <a:ext uri="{FF2B5EF4-FFF2-40B4-BE49-F238E27FC236}">
                <a16:creationId xmlns:a16="http://schemas.microsoft.com/office/drawing/2014/main" id="{0772AE67-EDEE-E226-A17A-D9135E96D1B3}"/>
              </a:ext>
            </a:extLst>
          </p:cNvPr>
          <p:cNvSpPr txBox="1"/>
          <p:nvPr/>
        </p:nvSpPr>
        <p:spPr>
          <a:xfrm>
            <a:off x="8785668" y="1832799"/>
            <a:ext cx="3062177" cy="1477328"/>
          </a:xfrm>
          <a:prstGeom prst="rect">
            <a:avLst/>
          </a:prstGeom>
          <a:noFill/>
        </p:spPr>
        <p:txBody>
          <a:bodyPr wrap="square" rtlCol="0">
            <a:spAutoFit/>
          </a:bodyPr>
          <a:lstStyle/>
          <a:p>
            <a:r>
              <a:rPr lang="en-US" dirty="0"/>
              <a:t>- </a:t>
            </a:r>
            <a:r>
              <a:rPr lang="en-US" dirty="0">
                <a:solidFill>
                  <a:srgbClr val="00B050"/>
                </a:solidFill>
              </a:rPr>
              <a:t>Organization</a:t>
            </a:r>
            <a:r>
              <a:rPr lang="en-US" dirty="0"/>
              <a:t> = an administrative snowflake account that manages all the standard Snowflake accounts it owns</a:t>
            </a:r>
          </a:p>
        </p:txBody>
      </p:sp>
      <p:pic>
        <p:nvPicPr>
          <p:cNvPr id="10" name="Picture 9">
            <a:extLst>
              <a:ext uri="{FF2B5EF4-FFF2-40B4-BE49-F238E27FC236}">
                <a16:creationId xmlns:a16="http://schemas.microsoft.com/office/drawing/2014/main" id="{147AE705-8426-B169-FF03-472AD1A930C8}"/>
              </a:ext>
            </a:extLst>
          </p:cNvPr>
          <p:cNvPicPr>
            <a:picLocks noChangeAspect="1"/>
          </p:cNvPicPr>
          <p:nvPr/>
        </p:nvPicPr>
        <p:blipFill>
          <a:blip r:embed="rId3"/>
          <a:stretch>
            <a:fillRect/>
          </a:stretch>
        </p:blipFill>
        <p:spPr>
          <a:xfrm>
            <a:off x="5528475" y="3310127"/>
            <a:ext cx="4565552" cy="367781"/>
          </a:xfrm>
          <a:prstGeom prst="rect">
            <a:avLst/>
          </a:prstGeom>
        </p:spPr>
      </p:pic>
      <p:sp>
        <p:nvSpPr>
          <p:cNvPr id="12" name="TextBox 11">
            <a:extLst>
              <a:ext uri="{FF2B5EF4-FFF2-40B4-BE49-F238E27FC236}">
                <a16:creationId xmlns:a16="http://schemas.microsoft.com/office/drawing/2014/main" id="{24BEFAD9-200E-8784-AE16-15DDD900C6B4}"/>
              </a:ext>
            </a:extLst>
          </p:cNvPr>
          <p:cNvSpPr txBox="1"/>
          <p:nvPr/>
        </p:nvSpPr>
        <p:spPr>
          <a:xfrm>
            <a:off x="8785668" y="4267889"/>
            <a:ext cx="3062177" cy="1754326"/>
          </a:xfrm>
          <a:prstGeom prst="rect">
            <a:avLst/>
          </a:prstGeom>
          <a:noFill/>
        </p:spPr>
        <p:txBody>
          <a:bodyPr wrap="square" rtlCol="0">
            <a:spAutoFit/>
          </a:bodyPr>
          <a:lstStyle/>
          <a:p>
            <a:r>
              <a:rPr lang="en-US" dirty="0"/>
              <a:t>- </a:t>
            </a:r>
            <a:r>
              <a:rPr lang="en-US" dirty="0">
                <a:solidFill>
                  <a:srgbClr val="00B050"/>
                </a:solidFill>
              </a:rPr>
              <a:t>Account</a:t>
            </a:r>
            <a:r>
              <a:rPr lang="en-US" dirty="0"/>
              <a:t> = a private, isolated Snowflake environment for your own use, accessible through a unique URL that combines your organization and account identifiers</a:t>
            </a:r>
          </a:p>
        </p:txBody>
      </p:sp>
      <p:pic>
        <p:nvPicPr>
          <p:cNvPr id="14" name="Picture 13">
            <a:extLst>
              <a:ext uri="{FF2B5EF4-FFF2-40B4-BE49-F238E27FC236}">
                <a16:creationId xmlns:a16="http://schemas.microsoft.com/office/drawing/2014/main" id="{FE5C3237-6B8E-3E2A-34DD-5E3D166653BB}"/>
              </a:ext>
            </a:extLst>
          </p:cNvPr>
          <p:cNvPicPr>
            <a:picLocks noChangeAspect="1"/>
          </p:cNvPicPr>
          <p:nvPr/>
        </p:nvPicPr>
        <p:blipFill>
          <a:blip r:embed="rId4"/>
          <a:stretch>
            <a:fillRect/>
          </a:stretch>
        </p:blipFill>
        <p:spPr>
          <a:xfrm>
            <a:off x="5528476" y="3643475"/>
            <a:ext cx="4565552" cy="457902"/>
          </a:xfrm>
          <a:prstGeom prst="rect">
            <a:avLst/>
          </a:prstGeom>
        </p:spPr>
      </p:pic>
    </p:spTree>
    <p:extLst>
      <p:ext uri="{BB962C8B-B14F-4D97-AF65-F5344CB8AC3E}">
        <p14:creationId xmlns:p14="http://schemas.microsoft.com/office/powerpoint/2010/main" val="41909790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95E9D-EF28-95FB-5627-707F8CE2DF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75AA1F-D9B9-5D95-8D06-DDA3F502E4B0}"/>
              </a:ext>
            </a:extLst>
          </p:cNvPr>
          <p:cNvSpPr>
            <a:spLocks noGrp="1"/>
          </p:cNvSpPr>
          <p:nvPr>
            <p:ph type="title"/>
          </p:nvPr>
        </p:nvSpPr>
        <p:spPr/>
        <p:txBody>
          <a:bodyPr/>
          <a:lstStyle/>
          <a:p>
            <a:r>
              <a:rPr lang="en-US" dirty="0"/>
              <a:t>Snowflake Object Model – security high-level overview</a:t>
            </a:r>
          </a:p>
        </p:txBody>
      </p:sp>
      <p:sp>
        <p:nvSpPr>
          <p:cNvPr id="6" name="TextBox 5">
            <a:extLst>
              <a:ext uri="{FF2B5EF4-FFF2-40B4-BE49-F238E27FC236}">
                <a16:creationId xmlns:a16="http://schemas.microsoft.com/office/drawing/2014/main" id="{7657E20F-FD8A-4361-1A66-C21FC54CB1E1}"/>
              </a:ext>
            </a:extLst>
          </p:cNvPr>
          <p:cNvSpPr txBox="1"/>
          <p:nvPr/>
        </p:nvSpPr>
        <p:spPr>
          <a:xfrm>
            <a:off x="8856921" y="2243470"/>
            <a:ext cx="3062177" cy="369332"/>
          </a:xfrm>
          <a:prstGeom prst="rect">
            <a:avLst/>
          </a:prstGeom>
          <a:noFill/>
        </p:spPr>
        <p:txBody>
          <a:bodyPr wrap="square" rtlCol="0">
            <a:spAutoFit/>
          </a:bodyPr>
          <a:lstStyle/>
          <a:p>
            <a:r>
              <a:rPr lang="en-US" dirty="0"/>
              <a:t>- </a:t>
            </a:r>
          </a:p>
        </p:txBody>
      </p:sp>
      <p:pic>
        <p:nvPicPr>
          <p:cNvPr id="8" name="Picture 7">
            <a:extLst>
              <a:ext uri="{FF2B5EF4-FFF2-40B4-BE49-F238E27FC236}">
                <a16:creationId xmlns:a16="http://schemas.microsoft.com/office/drawing/2014/main" id="{0C86D6B7-113D-9613-87F4-282779CE0FF9}"/>
              </a:ext>
            </a:extLst>
          </p:cNvPr>
          <p:cNvPicPr>
            <a:picLocks noChangeAspect="1"/>
          </p:cNvPicPr>
          <p:nvPr/>
        </p:nvPicPr>
        <p:blipFill>
          <a:blip r:embed="rId2"/>
          <a:stretch>
            <a:fillRect/>
          </a:stretch>
        </p:blipFill>
        <p:spPr>
          <a:xfrm>
            <a:off x="2099953" y="2096479"/>
            <a:ext cx="7992094" cy="4297440"/>
          </a:xfrm>
          <a:prstGeom prst="rect">
            <a:avLst/>
          </a:prstGeom>
        </p:spPr>
      </p:pic>
    </p:spTree>
    <p:extLst>
      <p:ext uri="{BB962C8B-B14F-4D97-AF65-F5344CB8AC3E}">
        <p14:creationId xmlns:p14="http://schemas.microsoft.com/office/powerpoint/2010/main" val="24690970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FE50D-4AAE-7E59-0DBD-93BE7EB87A8A}"/>
              </a:ext>
            </a:extLst>
          </p:cNvPr>
          <p:cNvSpPr>
            <a:spLocks noGrp="1"/>
          </p:cNvSpPr>
          <p:nvPr>
            <p:ph type="title"/>
          </p:nvPr>
        </p:nvSpPr>
        <p:spPr/>
        <p:txBody>
          <a:bodyPr/>
          <a:lstStyle/>
          <a:p>
            <a:r>
              <a:rPr lang="en-US" dirty="0"/>
              <a:t>Account Overview</a:t>
            </a:r>
          </a:p>
        </p:txBody>
      </p:sp>
      <p:pic>
        <p:nvPicPr>
          <p:cNvPr id="5" name="Content Placeholder 4">
            <a:extLst>
              <a:ext uri="{FF2B5EF4-FFF2-40B4-BE49-F238E27FC236}">
                <a16:creationId xmlns:a16="http://schemas.microsoft.com/office/drawing/2014/main" id="{0F9C3D72-1FC5-A33E-851F-34FC69C66BDB}"/>
              </a:ext>
            </a:extLst>
          </p:cNvPr>
          <p:cNvPicPr>
            <a:picLocks noGrp="1" noChangeAspect="1"/>
          </p:cNvPicPr>
          <p:nvPr>
            <p:ph idx="1"/>
          </p:nvPr>
        </p:nvPicPr>
        <p:blipFill>
          <a:blip r:embed="rId2"/>
          <a:stretch>
            <a:fillRect/>
          </a:stretch>
        </p:blipFill>
        <p:spPr>
          <a:xfrm>
            <a:off x="1579104" y="2042556"/>
            <a:ext cx="9033792" cy="4434425"/>
          </a:xfrm>
          <a:prstGeom prst="rect">
            <a:avLst/>
          </a:prstGeom>
        </p:spPr>
      </p:pic>
      <p:pic>
        <p:nvPicPr>
          <p:cNvPr id="7" name="Picture 6">
            <a:extLst>
              <a:ext uri="{FF2B5EF4-FFF2-40B4-BE49-F238E27FC236}">
                <a16:creationId xmlns:a16="http://schemas.microsoft.com/office/drawing/2014/main" id="{695A3E26-FD84-2142-631D-8AB691C2512A}"/>
              </a:ext>
            </a:extLst>
          </p:cNvPr>
          <p:cNvPicPr>
            <a:picLocks noChangeAspect="1"/>
          </p:cNvPicPr>
          <p:nvPr/>
        </p:nvPicPr>
        <p:blipFill>
          <a:blip r:embed="rId3"/>
          <a:stretch>
            <a:fillRect/>
          </a:stretch>
        </p:blipFill>
        <p:spPr>
          <a:xfrm>
            <a:off x="4593654" y="3811420"/>
            <a:ext cx="3932830" cy="355805"/>
          </a:xfrm>
          <a:prstGeom prst="rect">
            <a:avLst/>
          </a:prstGeom>
        </p:spPr>
      </p:pic>
    </p:spTree>
    <p:extLst>
      <p:ext uri="{BB962C8B-B14F-4D97-AF65-F5344CB8AC3E}">
        <p14:creationId xmlns:p14="http://schemas.microsoft.com/office/powerpoint/2010/main" val="1899175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7C517-39AC-0AF7-AE9D-A65C706671F0}"/>
              </a:ext>
            </a:extLst>
          </p:cNvPr>
          <p:cNvSpPr>
            <a:spLocks noGrp="1"/>
          </p:cNvSpPr>
          <p:nvPr>
            <p:ph type="title"/>
          </p:nvPr>
        </p:nvSpPr>
        <p:spPr/>
        <p:txBody>
          <a:bodyPr/>
          <a:lstStyle/>
          <a:p>
            <a:r>
              <a:rPr lang="en-US" dirty="0"/>
              <a:t>Organization Overview</a:t>
            </a:r>
          </a:p>
        </p:txBody>
      </p:sp>
      <p:pic>
        <p:nvPicPr>
          <p:cNvPr id="5" name="Content Placeholder 4">
            <a:extLst>
              <a:ext uri="{FF2B5EF4-FFF2-40B4-BE49-F238E27FC236}">
                <a16:creationId xmlns:a16="http://schemas.microsoft.com/office/drawing/2014/main" id="{3167B389-732C-79BC-1607-6DA78211E775}"/>
              </a:ext>
            </a:extLst>
          </p:cNvPr>
          <p:cNvPicPr>
            <a:picLocks noGrp="1" noChangeAspect="1"/>
          </p:cNvPicPr>
          <p:nvPr>
            <p:ph idx="1"/>
          </p:nvPr>
        </p:nvPicPr>
        <p:blipFill>
          <a:blip r:embed="rId2"/>
          <a:stretch>
            <a:fillRect/>
          </a:stretch>
        </p:blipFill>
        <p:spPr>
          <a:xfrm>
            <a:off x="1132203" y="2901708"/>
            <a:ext cx="3306409" cy="3678238"/>
          </a:xfrm>
          <a:prstGeom prst="rect">
            <a:avLst/>
          </a:prstGeom>
        </p:spPr>
      </p:pic>
      <p:pic>
        <p:nvPicPr>
          <p:cNvPr id="9" name="Picture 8">
            <a:extLst>
              <a:ext uri="{FF2B5EF4-FFF2-40B4-BE49-F238E27FC236}">
                <a16:creationId xmlns:a16="http://schemas.microsoft.com/office/drawing/2014/main" id="{BD3DE82E-990B-D3E7-C676-BA581505C522}"/>
              </a:ext>
            </a:extLst>
          </p:cNvPr>
          <p:cNvPicPr>
            <a:picLocks noChangeAspect="1"/>
          </p:cNvPicPr>
          <p:nvPr/>
        </p:nvPicPr>
        <p:blipFill>
          <a:blip r:embed="rId3"/>
          <a:stretch>
            <a:fillRect/>
          </a:stretch>
        </p:blipFill>
        <p:spPr>
          <a:xfrm>
            <a:off x="5189516" y="2007100"/>
            <a:ext cx="6078957" cy="4453752"/>
          </a:xfrm>
          <a:prstGeom prst="rect">
            <a:avLst/>
          </a:prstGeom>
        </p:spPr>
      </p:pic>
      <p:sp>
        <p:nvSpPr>
          <p:cNvPr id="10" name="TextBox 9">
            <a:extLst>
              <a:ext uri="{FF2B5EF4-FFF2-40B4-BE49-F238E27FC236}">
                <a16:creationId xmlns:a16="http://schemas.microsoft.com/office/drawing/2014/main" id="{242A6255-9A35-6238-4ED7-474F0BA7EFDD}"/>
              </a:ext>
            </a:extLst>
          </p:cNvPr>
          <p:cNvSpPr txBox="1"/>
          <p:nvPr/>
        </p:nvSpPr>
        <p:spPr>
          <a:xfrm>
            <a:off x="1260808" y="1847167"/>
            <a:ext cx="3049201" cy="923330"/>
          </a:xfrm>
          <a:prstGeom prst="rect">
            <a:avLst/>
          </a:prstGeom>
          <a:noFill/>
        </p:spPr>
        <p:txBody>
          <a:bodyPr wrap="square" rtlCol="0">
            <a:spAutoFit/>
          </a:bodyPr>
          <a:lstStyle/>
          <a:p>
            <a:r>
              <a:rPr lang="en-US" dirty="0"/>
              <a:t>This is what we start with on trial accounts. An org was created automatically:</a:t>
            </a:r>
          </a:p>
        </p:txBody>
      </p:sp>
    </p:spTree>
    <p:extLst>
      <p:ext uri="{BB962C8B-B14F-4D97-AF65-F5344CB8AC3E}">
        <p14:creationId xmlns:p14="http://schemas.microsoft.com/office/powerpoint/2010/main" val="27923949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D94BB3-242C-9D57-ECAA-EF192F678E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168707-E1F4-4D83-B31B-4A2C1BF1F2FA}"/>
              </a:ext>
            </a:extLst>
          </p:cNvPr>
          <p:cNvSpPr>
            <a:spLocks noGrp="1"/>
          </p:cNvSpPr>
          <p:nvPr>
            <p:ph type="title"/>
          </p:nvPr>
        </p:nvSpPr>
        <p:spPr/>
        <p:txBody>
          <a:bodyPr/>
          <a:lstStyle/>
          <a:p>
            <a:r>
              <a:rPr lang="en-US" dirty="0"/>
              <a:t>Organization Overview</a:t>
            </a:r>
          </a:p>
        </p:txBody>
      </p:sp>
      <p:pic>
        <p:nvPicPr>
          <p:cNvPr id="12" name="Picture 11">
            <a:extLst>
              <a:ext uri="{FF2B5EF4-FFF2-40B4-BE49-F238E27FC236}">
                <a16:creationId xmlns:a16="http://schemas.microsoft.com/office/drawing/2014/main" id="{E2A990DC-2276-3DCF-F1B1-982847F21F0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02908" y="1917062"/>
            <a:ext cx="8277423" cy="4805173"/>
          </a:xfrm>
          <a:prstGeom prst="rect">
            <a:avLst/>
          </a:prstGeom>
        </p:spPr>
      </p:pic>
    </p:spTree>
    <p:extLst>
      <p:ext uri="{BB962C8B-B14F-4D97-AF65-F5344CB8AC3E}">
        <p14:creationId xmlns:p14="http://schemas.microsoft.com/office/powerpoint/2010/main" val="11176967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12BFD-00E6-9586-D0E1-4EF0613CCFA0}"/>
              </a:ext>
            </a:extLst>
          </p:cNvPr>
          <p:cNvSpPr>
            <a:spLocks noGrp="1"/>
          </p:cNvSpPr>
          <p:nvPr>
            <p:ph type="title"/>
          </p:nvPr>
        </p:nvSpPr>
        <p:spPr/>
        <p:txBody>
          <a:bodyPr/>
          <a:lstStyle/>
          <a:p>
            <a:r>
              <a:rPr lang="en-US" dirty="0"/>
              <a:t>Organization Account</a:t>
            </a:r>
          </a:p>
        </p:txBody>
      </p:sp>
      <p:pic>
        <p:nvPicPr>
          <p:cNvPr id="5" name="Content Placeholder 4">
            <a:extLst>
              <a:ext uri="{FF2B5EF4-FFF2-40B4-BE49-F238E27FC236}">
                <a16:creationId xmlns:a16="http://schemas.microsoft.com/office/drawing/2014/main" id="{A90A4DA8-6705-A42F-3B0B-EB558C7BC5B1}"/>
              </a:ext>
            </a:extLst>
          </p:cNvPr>
          <p:cNvPicPr>
            <a:picLocks noGrp="1" noChangeAspect="1"/>
          </p:cNvPicPr>
          <p:nvPr>
            <p:ph idx="1"/>
          </p:nvPr>
        </p:nvPicPr>
        <p:blipFill>
          <a:blip r:embed="rId2"/>
          <a:stretch>
            <a:fillRect/>
          </a:stretch>
        </p:blipFill>
        <p:spPr>
          <a:xfrm>
            <a:off x="1253373" y="1971303"/>
            <a:ext cx="9685253" cy="4684816"/>
          </a:xfrm>
          <a:prstGeom prst="rect">
            <a:avLst/>
          </a:prstGeom>
        </p:spPr>
      </p:pic>
    </p:spTree>
    <p:extLst>
      <p:ext uri="{BB962C8B-B14F-4D97-AF65-F5344CB8AC3E}">
        <p14:creationId xmlns:p14="http://schemas.microsoft.com/office/powerpoint/2010/main" val="11595281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DAC6C-685D-D137-06F8-5FCA04164739}"/>
              </a:ext>
            </a:extLst>
          </p:cNvPr>
          <p:cNvSpPr>
            <a:spLocks noGrp="1"/>
          </p:cNvSpPr>
          <p:nvPr>
            <p:ph type="title"/>
          </p:nvPr>
        </p:nvSpPr>
        <p:spPr/>
        <p:txBody>
          <a:bodyPr/>
          <a:lstStyle/>
          <a:p>
            <a:r>
              <a:rPr lang="en-US" dirty="0"/>
              <a:t>Organization Account Features</a:t>
            </a:r>
          </a:p>
        </p:txBody>
      </p:sp>
      <p:pic>
        <p:nvPicPr>
          <p:cNvPr id="5" name="Content Placeholder 4">
            <a:extLst>
              <a:ext uri="{FF2B5EF4-FFF2-40B4-BE49-F238E27FC236}">
                <a16:creationId xmlns:a16="http://schemas.microsoft.com/office/drawing/2014/main" id="{0AE124E8-FA07-BFA8-64C2-58C9FD6C7A51}"/>
              </a:ext>
            </a:extLst>
          </p:cNvPr>
          <p:cNvPicPr>
            <a:picLocks noGrp="1" noChangeAspect="1"/>
          </p:cNvPicPr>
          <p:nvPr>
            <p:ph idx="1"/>
          </p:nvPr>
        </p:nvPicPr>
        <p:blipFill>
          <a:blip r:embed="rId2"/>
          <a:stretch>
            <a:fillRect/>
          </a:stretch>
        </p:blipFill>
        <p:spPr>
          <a:xfrm>
            <a:off x="1876358" y="1837394"/>
            <a:ext cx="8439283" cy="5020606"/>
          </a:xfrm>
          <a:prstGeom prst="rect">
            <a:avLst/>
          </a:prstGeom>
        </p:spPr>
      </p:pic>
    </p:spTree>
    <p:extLst>
      <p:ext uri="{BB962C8B-B14F-4D97-AF65-F5344CB8AC3E}">
        <p14:creationId xmlns:p14="http://schemas.microsoft.com/office/powerpoint/2010/main" val="37910767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ABCDC-52B2-8A61-8286-86CF0B758DCA}"/>
              </a:ext>
            </a:extLst>
          </p:cNvPr>
          <p:cNvSpPr>
            <a:spLocks noGrp="1"/>
          </p:cNvSpPr>
          <p:nvPr>
            <p:ph type="title"/>
          </p:nvPr>
        </p:nvSpPr>
        <p:spPr/>
        <p:txBody>
          <a:bodyPr/>
          <a:lstStyle/>
          <a:p>
            <a:r>
              <a:rPr lang="en-US" dirty="0"/>
              <a:t>Account URLs</a:t>
            </a:r>
          </a:p>
        </p:txBody>
      </p:sp>
      <p:pic>
        <p:nvPicPr>
          <p:cNvPr id="5" name="Content Placeholder 4">
            <a:extLst>
              <a:ext uri="{FF2B5EF4-FFF2-40B4-BE49-F238E27FC236}">
                <a16:creationId xmlns:a16="http://schemas.microsoft.com/office/drawing/2014/main" id="{F88E7570-8592-18F7-6D98-51108E5AE5D5}"/>
              </a:ext>
            </a:extLst>
          </p:cNvPr>
          <p:cNvPicPr>
            <a:picLocks noGrp="1" noChangeAspect="1"/>
          </p:cNvPicPr>
          <p:nvPr>
            <p:ph idx="1"/>
          </p:nvPr>
        </p:nvPicPr>
        <p:blipFill>
          <a:blip r:embed="rId2"/>
          <a:stretch>
            <a:fillRect/>
          </a:stretch>
        </p:blipFill>
        <p:spPr>
          <a:xfrm>
            <a:off x="3119356" y="2020135"/>
            <a:ext cx="5953288" cy="4680517"/>
          </a:xfrm>
          <a:prstGeom prst="rect">
            <a:avLst/>
          </a:prstGeom>
        </p:spPr>
      </p:pic>
    </p:spTree>
    <p:extLst>
      <p:ext uri="{BB962C8B-B14F-4D97-AF65-F5344CB8AC3E}">
        <p14:creationId xmlns:p14="http://schemas.microsoft.com/office/powerpoint/2010/main" val="42052762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8E1FC-AAD8-6D2C-4505-E5EB14C79550}"/>
              </a:ext>
            </a:extLst>
          </p:cNvPr>
          <p:cNvSpPr>
            <a:spLocks noGrp="1"/>
          </p:cNvSpPr>
          <p:nvPr>
            <p:ph type="title"/>
          </p:nvPr>
        </p:nvSpPr>
        <p:spPr/>
        <p:txBody>
          <a:bodyPr/>
          <a:lstStyle/>
          <a:p>
            <a:r>
              <a:rPr lang="en-US" dirty="0"/>
              <a:t>Databases &amp; schemas</a:t>
            </a:r>
          </a:p>
        </p:txBody>
      </p:sp>
      <p:pic>
        <p:nvPicPr>
          <p:cNvPr id="5" name="Content Placeholder 4">
            <a:extLst>
              <a:ext uri="{FF2B5EF4-FFF2-40B4-BE49-F238E27FC236}">
                <a16:creationId xmlns:a16="http://schemas.microsoft.com/office/drawing/2014/main" id="{C01EB5D2-22A2-D692-1B4F-5A4D1266A7E9}"/>
              </a:ext>
            </a:extLst>
          </p:cNvPr>
          <p:cNvPicPr>
            <a:picLocks noGrp="1" noChangeAspect="1"/>
          </p:cNvPicPr>
          <p:nvPr>
            <p:ph idx="1"/>
          </p:nvPr>
        </p:nvPicPr>
        <p:blipFill>
          <a:blip r:embed="rId2"/>
          <a:stretch>
            <a:fillRect/>
          </a:stretch>
        </p:blipFill>
        <p:spPr>
          <a:xfrm>
            <a:off x="581192" y="2335605"/>
            <a:ext cx="5636617" cy="3678238"/>
          </a:xfrm>
          <a:prstGeom prst="rect">
            <a:avLst/>
          </a:prstGeom>
        </p:spPr>
      </p:pic>
      <p:sp>
        <p:nvSpPr>
          <p:cNvPr id="6" name="TextBox 5">
            <a:extLst>
              <a:ext uri="{FF2B5EF4-FFF2-40B4-BE49-F238E27FC236}">
                <a16:creationId xmlns:a16="http://schemas.microsoft.com/office/drawing/2014/main" id="{8ADC26A3-23F9-2366-DE4A-87EA94AE2DBA}"/>
              </a:ext>
            </a:extLst>
          </p:cNvPr>
          <p:cNvSpPr txBox="1"/>
          <p:nvPr/>
        </p:nvSpPr>
        <p:spPr>
          <a:xfrm>
            <a:off x="6816436" y="2149434"/>
            <a:ext cx="4928260" cy="1754326"/>
          </a:xfrm>
          <a:prstGeom prst="rect">
            <a:avLst/>
          </a:prstGeom>
          <a:noFill/>
        </p:spPr>
        <p:txBody>
          <a:bodyPr wrap="square" rtlCol="0">
            <a:spAutoFit/>
          </a:bodyPr>
          <a:lstStyle/>
          <a:p>
            <a:pPr marL="285750" indent="-285750">
              <a:buFontTx/>
              <a:buChar char="-"/>
            </a:pPr>
            <a:r>
              <a:rPr lang="en-US" dirty="0"/>
              <a:t>Databases must have a unique identifier in an account.</a:t>
            </a:r>
          </a:p>
          <a:p>
            <a:pPr marL="285750" indent="-285750">
              <a:buFontTx/>
              <a:buChar char="-"/>
            </a:pPr>
            <a:r>
              <a:rPr lang="en-US" dirty="0"/>
              <a:t>A database must start with an alphabetic character and cannot contain spaces or special characters unless enclosed in double quotes.</a:t>
            </a:r>
          </a:p>
          <a:p>
            <a:pPr marL="285750" indent="-285750">
              <a:buFontTx/>
              <a:buChar char="-"/>
            </a:pPr>
            <a:endParaRPr lang="en-US" dirty="0"/>
          </a:p>
        </p:txBody>
      </p:sp>
      <p:pic>
        <p:nvPicPr>
          <p:cNvPr id="8" name="Picture 7">
            <a:extLst>
              <a:ext uri="{FF2B5EF4-FFF2-40B4-BE49-F238E27FC236}">
                <a16:creationId xmlns:a16="http://schemas.microsoft.com/office/drawing/2014/main" id="{653B7F89-299B-56BE-F7BA-77993C40B60F}"/>
              </a:ext>
            </a:extLst>
          </p:cNvPr>
          <p:cNvPicPr>
            <a:picLocks noChangeAspect="1"/>
          </p:cNvPicPr>
          <p:nvPr/>
        </p:nvPicPr>
        <p:blipFill>
          <a:blip r:embed="rId3"/>
          <a:stretch>
            <a:fillRect/>
          </a:stretch>
        </p:blipFill>
        <p:spPr>
          <a:xfrm>
            <a:off x="7311756" y="3773131"/>
            <a:ext cx="4127623" cy="2648967"/>
          </a:xfrm>
          <a:prstGeom prst="rect">
            <a:avLst/>
          </a:prstGeom>
        </p:spPr>
      </p:pic>
    </p:spTree>
    <p:extLst>
      <p:ext uri="{BB962C8B-B14F-4D97-AF65-F5344CB8AC3E}">
        <p14:creationId xmlns:p14="http://schemas.microsoft.com/office/powerpoint/2010/main" val="38621254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77DFA5-071B-4BA5-B8A8-068F70B624E2}"/>
              </a:ext>
            </a:extLst>
          </p:cNvPr>
          <p:cNvSpPr>
            <a:spLocks noGrp="1"/>
          </p:cNvSpPr>
          <p:nvPr>
            <p:ph type="title"/>
          </p:nvPr>
        </p:nvSpPr>
        <p:spPr/>
        <p:txBody>
          <a:bodyPr/>
          <a:lstStyle/>
          <a:p>
            <a:r>
              <a:rPr lang="en-US" dirty="0"/>
              <a:t>Databases &amp; Schemas</a:t>
            </a:r>
          </a:p>
        </p:txBody>
      </p:sp>
      <p:sp>
        <p:nvSpPr>
          <p:cNvPr id="3" name="Content Placeholder 2">
            <a:extLst>
              <a:ext uri="{FF2B5EF4-FFF2-40B4-BE49-F238E27FC236}">
                <a16:creationId xmlns:a16="http://schemas.microsoft.com/office/drawing/2014/main" id="{468F32A4-58E6-24CF-1DE7-20234999F221}"/>
              </a:ext>
            </a:extLst>
          </p:cNvPr>
          <p:cNvSpPr>
            <a:spLocks noGrp="1"/>
          </p:cNvSpPr>
          <p:nvPr>
            <p:ph idx="1"/>
          </p:nvPr>
        </p:nvSpPr>
        <p:spPr>
          <a:xfrm>
            <a:off x="581193" y="1983180"/>
            <a:ext cx="6365872" cy="2161308"/>
          </a:xfrm>
        </p:spPr>
        <p:txBody>
          <a:bodyPr>
            <a:normAutofit fontScale="92500" lnSpcReduction="10000"/>
          </a:bodyPr>
          <a:lstStyle/>
          <a:p>
            <a:r>
              <a:rPr lang="en-US" dirty="0"/>
              <a:t>Schemas are logical groupings of database objects such as tables, views, &amp; stages</a:t>
            </a:r>
          </a:p>
          <a:p>
            <a:r>
              <a:rPr lang="en-US" dirty="0"/>
              <a:t>1 database can contain many schemas </a:t>
            </a:r>
          </a:p>
          <a:p>
            <a:r>
              <a:rPr lang="en-US" dirty="0"/>
              <a:t>Schemas must have a unique identifier in a database.</a:t>
            </a:r>
          </a:p>
          <a:p>
            <a:r>
              <a:rPr lang="en-US" dirty="0"/>
              <a:t>A schema must start with an alphabetic character and cannot contain spaces or special characters unless enclosed in double quotes. </a:t>
            </a:r>
          </a:p>
        </p:txBody>
      </p:sp>
      <p:pic>
        <p:nvPicPr>
          <p:cNvPr id="5" name="Picture 4">
            <a:extLst>
              <a:ext uri="{FF2B5EF4-FFF2-40B4-BE49-F238E27FC236}">
                <a16:creationId xmlns:a16="http://schemas.microsoft.com/office/drawing/2014/main" id="{661132DC-7CD7-6716-B6EE-0B2B6633D427}"/>
              </a:ext>
            </a:extLst>
          </p:cNvPr>
          <p:cNvPicPr>
            <a:picLocks noChangeAspect="1"/>
          </p:cNvPicPr>
          <p:nvPr/>
        </p:nvPicPr>
        <p:blipFill>
          <a:blip r:embed="rId2"/>
          <a:stretch>
            <a:fillRect/>
          </a:stretch>
        </p:blipFill>
        <p:spPr>
          <a:xfrm>
            <a:off x="1906746" y="4233584"/>
            <a:ext cx="3044517" cy="2481944"/>
          </a:xfrm>
          <a:prstGeom prst="rect">
            <a:avLst/>
          </a:prstGeom>
        </p:spPr>
      </p:pic>
      <p:pic>
        <p:nvPicPr>
          <p:cNvPr id="9" name="Picture 8">
            <a:extLst>
              <a:ext uri="{FF2B5EF4-FFF2-40B4-BE49-F238E27FC236}">
                <a16:creationId xmlns:a16="http://schemas.microsoft.com/office/drawing/2014/main" id="{828AC28B-A811-00D0-CEE8-642F01B1F077}"/>
              </a:ext>
            </a:extLst>
          </p:cNvPr>
          <p:cNvPicPr>
            <a:picLocks noChangeAspect="1"/>
          </p:cNvPicPr>
          <p:nvPr/>
        </p:nvPicPr>
        <p:blipFill>
          <a:blip r:embed="rId3"/>
          <a:stretch>
            <a:fillRect/>
          </a:stretch>
        </p:blipFill>
        <p:spPr>
          <a:xfrm>
            <a:off x="7240738" y="3218213"/>
            <a:ext cx="4056103" cy="2663709"/>
          </a:xfrm>
          <a:prstGeom prst="rect">
            <a:avLst/>
          </a:prstGeom>
        </p:spPr>
      </p:pic>
    </p:spTree>
    <p:extLst>
      <p:ext uri="{BB962C8B-B14F-4D97-AF65-F5344CB8AC3E}">
        <p14:creationId xmlns:p14="http://schemas.microsoft.com/office/powerpoint/2010/main" val="18197358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36424-622C-4F93-3809-54542A87A9E1}"/>
              </a:ext>
            </a:extLst>
          </p:cNvPr>
          <p:cNvSpPr>
            <a:spLocks noGrp="1"/>
          </p:cNvSpPr>
          <p:nvPr>
            <p:ph type="title"/>
          </p:nvPr>
        </p:nvSpPr>
        <p:spPr/>
        <p:txBody>
          <a:bodyPr/>
          <a:lstStyle/>
          <a:p>
            <a:r>
              <a:rPr lang="en-US" dirty="0"/>
              <a:t>Table Types</a:t>
            </a:r>
          </a:p>
        </p:txBody>
      </p:sp>
      <p:pic>
        <p:nvPicPr>
          <p:cNvPr id="5" name="Content Placeholder 4">
            <a:extLst>
              <a:ext uri="{FF2B5EF4-FFF2-40B4-BE49-F238E27FC236}">
                <a16:creationId xmlns:a16="http://schemas.microsoft.com/office/drawing/2014/main" id="{D814BD87-AF5A-FC74-5FE5-9C7F5AF4019B}"/>
              </a:ext>
            </a:extLst>
          </p:cNvPr>
          <p:cNvPicPr>
            <a:picLocks noGrp="1" noChangeAspect="1"/>
          </p:cNvPicPr>
          <p:nvPr>
            <p:ph idx="1"/>
          </p:nvPr>
        </p:nvPicPr>
        <p:blipFill>
          <a:blip r:embed="rId2"/>
          <a:stretch>
            <a:fillRect/>
          </a:stretch>
        </p:blipFill>
        <p:spPr>
          <a:xfrm>
            <a:off x="2121805" y="2018805"/>
            <a:ext cx="7948390" cy="4315671"/>
          </a:xfrm>
          <a:prstGeom prst="rect">
            <a:avLst/>
          </a:prstGeom>
        </p:spPr>
      </p:pic>
    </p:spTree>
    <p:extLst>
      <p:ext uri="{BB962C8B-B14F-4D97-AF65-F5344CB8AC3E}">
        <p14:creationId xmlns:p14="http://schemas.microsoft.com/office/powerpoint/2010/main" val="3399994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B1363-77C0-E4BD-F9FB-494F9B5C2074}"/>
              </a:ext>
            </a:extLst>
          </p:cNvPr>
          <p:cNvSpPr>
            <a:spLocks noGrp="1"/>
          </p:cNvSpPr>
          <p:nvPr>
            <p:ph type="title"/>
          </p:nvPr>
        </p:nvSpPr>
        <p:spPr/>
        <p:txBody>
          <a:bodyPr/>
          <a:lstStyle/>
          <a:p>
            <a:r>
              <a:rPr lang="en-US" dirty="0"/>
              <a:t>Table Types</a:t>
            </a:r>
          </a:p>
        </p:txBody>
      </p:sp>
      <p:pic>
        <p:nvPicPr>
          <p:cNvPr id="5" name="Content Placeholder 4">
            <a:extLst>
              <a:ext uri="{FF2B5EF4-FFF2-40B4-BE49-F238E27FC236}">
                <a16:creationId xmlns:a16="http://schemas.microsoft.com/office/drawing/2014/main" id="{CF4A0A7D-A66C-372B-6796-1B19D04A389A}"/>
              </a:ext>
            </a:extLst>
          </p:cNvPr>
          <p:cNvPicPr>
            <a:picLocks noGrp="1" noChangeAspect="1"/>
          </p:cNvPicPr>
          <p:nvPr>
            <p:ph idx="1"/>
          </p:nvPr>
        </p:nvPicPr>
        <p:blipFill>
          <a:blip r:embed="rId2"/>
          <a:stretch>
            <a:fillRect/>
          </a:stretch>
        </p:blipFill>
        <p:spPr>
          <a:xfrm>
            <a:off x="4227616" y="2308713"/>
            <a:ext cx="7505540" cy="3966385"/>
          </a:xfrm>
          <a:prstGeom prst="rect">
            <a:avLst/>
          </a:prstGeom>
        </p:spPr>
      </p:pic>
      <p:sp>
        <p:nvSpPr>
          <p:cNvPr id="7" name="TextBox 6">
            <a:extLst>
              <a:ext uri="{FF2B5EF4-FFF2-40B4-BE49-F238E27FC236}">
                <a16:creationId xmlns:a16="http://schemas.microsoft.com/office/drawing/2014/main" id="{29604967-F342-29FC-BB2E-A2C912E854E6}"/>
              </a:ext>
            </a:extLst>
          </p:cNvPr>
          <p:cNvSpPr txBox="1"/>
          <p:nvPr/>
        </p:nvSpPr>
        <p:spPr>
          <a:xfrm>
            <a:off x="235561" y="2308713"/>
            <a:ext cx="3602793" cy="3970318"/>
          </a:xfrm>
          <a:prstGeom prst="rect">
            <a:avLst/>
          </a:prstGeom>
          <a:noFill/>
        </p:spPr>
        <p:txBody>
          <a:bodyPr wrap="square">
            <a:spAutoFit/>
          </a:bodyPr>
          <a:lstStyle/>
          <a:p>
            <a:pPr algn="l">
              <a:buNone/>
            </a:pPr>
            <a:r>
              <a:rPr lang="en-US" b="0" i="0" dirty="0">
                <a:effectLst/>
                <a:latin typeface="Udemy Sans"/>
              </a:rPr>
              <a:t>A permanent table can set the time travel retention period up to 90 days if we're on an enterprise edition or higher Snowflake account. If on a standard edition, the max is one day.</a:t>
            </a:r>
          </a:p>
          <a:p>
            <a:pPr algn="l">
              <a:buNone/>
            </a:pPr>
            <a:endParaRPr lang="en-US" dirty="0">
              <a:latin typeface="Udemy Sans"/>
            </a:endParaRPr>
          </a:p>
          <a:p>
            <a:pPr algn="l">
              <a:buNone/>
            </a:pPr>
            <a:r>
              <a:rPr lang="en-US" b="0" i="0" dirty="0">
                <a:effectLst/>
                <a:latin typeface="Udemy Sans"/>
              </a:rPr>
              <a:t>Time travel = undo table drops, deletes, etc. </a:t>
            </a:r>
          </a:p>
          <a:p>
            <a:pPr algn="l">
              <a:buNone/>
            </a:pPr>
            <a:endParaRPr lang="en-US" dirty="0">
              <a:latin typeface="Udemy Sans"/>
            </a:endParaRPr>
          </a:p>
          <a:p>
            <a:pPr algn="l">
              <a:buNone/>
            </a:pPr>
            <a:r>
              <a:rPr lang="en-US" b="0" i="0" dirty="0">
                <a:effectLst/>
                <a:latin typeface="Udemy Sans"/>
              </a:rPr>
              <a:t>Fail-safe = disaster recovery if time travel is no longer an option. Requires Snowflake customer support, and is not intended for routine restores.</a:t>
            </a:r>
          </a:p>
        </p:txBody>
      </p:sp>
    </p:spTree>
    <p:extLst>
      <p:ext uri="{BB962C8B-B14F-4D97-AF65-F5344CB8AC3E}">
        <p14:creationId xmlns:p14="http://schemas.microsoft.com/office/powerpoint/2010/main" val="13909475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D2CBD-4F17-5F01-AE43-F710E957A18C}"/>
              </a:ext>
            </a:extLst>
          </p:cNvPr>
          <p:cNvSpPr>
            <a:spLocks noGrp="1"/>
          </p:cNvSpPr>
          <p:nvPr>
            <p:ph type="title"/>
          </p:nvPr>
        </p:nvSpPr>
        <p:spPr/>
        <p:txBody>
          <a:bodyPr/>
          <a:lstStyle/>
          <a:p>
            <a:r>
              <a:rPr lang="en-US" dirty="0"/>
              <a:t>View Types</a:t>
            </a:r>
          </a:p>
        </p:txBody>
      </p:sp>
      <p:pic>
        <p:nvPicPr>
          <p:cNvPr id="5" name="Content Placeholder 4">
            <a:extLst>
              <a:ext uri="{FF2B5EF4-FFF2-40B4-BE49-F238E27FC236}">
                <a16:creationId xmlns:a16="http://schemas.microsoft.com/office/drawing/2014/main" id="{DDE9A075-A215-ADCE-7C09-EA80063A8A60}"/>
              </a:ext>
            </a:extLst>
          </p:cNvPr>
          <p:cNvPicPr>
            <a:picLocks noGrp="1" noChangeAspect="1"/>
          </p:cNvPicPr>
          <p:nvPr>
            <p:ph idx="1"/>
          </p:nvPr>
        </p:nvPicPr>
        <p:blipFill>
          <a:blip r:embed="rId2"/>
          <a:stretch>
            <a:fillRect/>
          </a:stretch>
        </p:blipFill>
        <p:spPr>
          <a:xfrm>
            <a:off x="477795" y="2393877"/>
            <a:ext cx="7174773" cy="3678238"/>
          </a:xfrm>
          <a:prstGeom prst="rect">
            <a:avLst/>
          </a:prstGeom>
        </p:spPr>
      </p:pic>
      <p:sp>
        <p:nvSpPr>
          <p:cNvPr id="6" name="TextBox 5">
            <a:extLst>
              <a:ext uri="{FF2B5EF4-FFF2-40B4-BE49-F238E27FC236}">
                <a16:creationId xmlns:a16="http://schemas.microsoft.com/office/drawing/2014/main" id="{9860D76C-38E9-72EE-210B-C00EB375EB50}"/>
              </a:ext>
            </a:extLst>
          </p:cNvPr>
          <p:cNvSpPr txBox="1"/>
          <p:nvPr/>
        </p:nvSpPr>
        <p:spPr>
          <a:xfrm>
            <a:off x="7931888" y="2808547"/>
            <a:ext cx="3955312" cy="3139321"/>
          </a:xfrm>
          <a:prstGeom prst="rect">
            <a:avLst/>
          </a:prstGeom>
          <a:noFill/>
        </p:spPr>
        <p:txBody>
          <a:bodyPr wrap="square" rtlCol="0">
            <a:spAutoFit/>
          </a:bodyPr>
          <a:lstStyle/>
          <a:p>
            <a:pPr marL="285750" indent="-285750">
              <a:buFontTx/>
              <a:buChar char="-"/>
            </a:pPr>
            <a:r>
              <a:rPr lang="en-US" dirty="0"/>
              <a:t>Views can be used much like a table, they can be joined to tables or other views</a:t>
            </a:r>
          </a:p>
          <a:p>
            <a:pPr marL="285750" indent="-285750">
              <a:buFontTx/>
              <a:buChar char="-"/>
            </a:pPr>
            <a:r>
              <a:rPr lang="en-US" dirty="0"/>
              <a:t>You can reference views in subqueries and you can use order by, group by, and where clauses with views</a:t>
            </a:r>
          </a:p>
          <a:p>
            <a:pPr marL="285750" indent="-285750">
              <a:buFontTx/>
              <a:buChar char="-"/>
            </a:pPr>
            <a:r>
              <a:rPr lang="en-US" dirty="0"/>
              <a:t>Materialized view may also be called a ‘pre-computed dataset’ on the exam!</a:t>
            </a:r>
          </a:p>
          <a:p>
            <a:pPr marL="285750" indent="-285750">
              <a:buFontTx/>
              <a:buChar char="-"/>
            </a:pPr>
            <a:endParaRPr lang="en-US" dirty="0"/>
          </a:p>
        </p:txBody>
      </p:sp>
    </p:spTree>
    <p:extLst>
      <p:ext uri="{BB962C8B-B14F-4D97-AF65-F5344CB8AC3E}">
        <p14:creationId xmlns:p14="http://schemas.microsoft.com/office/powerpoint/2010/main" val="27417486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8DF4F-CF90-FDBC-F4D0-03B6576091D6}"/>
              </a:ext>
            </a:extLst>
          </p:cNvPr>
          <p:cNvSpPr>
            <a:spLocks noGrp="1"/>
          </p:cNvSpPr>
          <p:nvPr>
            <p:ph type="title"/>
          </p:nvPr>
        </p:nvSpPr>
        <p:spPr/>
        <p:txBody>
          <a:bodyPr>
            <a:normAutofit/>
          </a:bodyPr>
          <a:lstStyle/>
          <a:p>
            <a:r>
              <a:rPr lang="en-US" sz="2400" dirty="0"/>
              <a:t>Workspaces - databases/Schemas &amp; Role/Warehouse selection</a:t>
            </a:r>
          </a:p>
        </p:txBody>
      </p:sp>
      <p:pic>
        <p:nvPicPr>
          <p:cNvPr id="5" name="Content Placeholder 4">
            <a:extLst>
              <a:ext uri="{FF2B5EF4-FFF2-40B4-BE49-F238E27FC236}">
                <a16:creationId xmlns:a16="http://schemas.microsoft.com/office/drawing/2014/main" id="{6D45CC67-0B24-0994-89FC-436DD9C49BE9}"/>
              </a:ext>
            </a:extLst>
          </p:cNvPr>
          <p:cNvPicPr>
            <a:picLocks noGrp="1" noChangeAspect="1"/>
          </p:cNvPicPr>
          <p:nvPr>
            <p:ph idx="1"/>
          </p:nvPr>
        </p:nvPicPr>
        <p:blipFill>
          <a:blip r:embed="rId2"/>
          <a:stretch>
            <a:fillRect/>
          </a:stretch>
        </p:blipFill>
        <p:spPr>
          <a:xfrm>
            <a:off x="1368999" y="3028207"/>
            <a:ext cx="4193906" cy="2902005"/>
          </a:xfrm>
          <a:prstGeom prst="rect">
            <a:avLst/>
          </a:prstGeom>
        </p:spPr>
      </p:pic>
      <p:pic>
        <p:nvPicPr>
          <p:cNvPr id="7" name="Picture 6">
            <a:extLst>
              <a:ext uri="{FF2B5EF4-FFF2-40B4-BE49-F238E27FC236}">
                <a16:creationId xmlns:a16="http://schemas.microsoft.com/office/drawing/2014/main" id="{CF17CAE3-79D4-86B2-B080-9E15ED2D9D4A}"/>
              </a:ext>
            </a:extLst>
          </p:cNvPr>
          <p:cNvPicPr>
            <a:picLocks noChangeAspect="1"/>
          </p:cNvPicPr>
          <p:nvPr/>
        </p:nvPicPr>
        <p:blipFill>
          <a:blip r:embed="rId3"/>
          <a:stretch>
            <a:fillRect/>
          </a:stretch>
        </p:blipFill>
        <p:spPr>
          <a:xfrm>
            <a:off x="6629097" y="3028207"/>
            <a:ext cx="4591231" cy="2902005"/>
          </a:xfrm>
          <a:prstGeom prst="rect">
            <a:avLst/>
          </a:prstGeom>
        </p:spPr>
      </p:pic>
      <p:sp>
        <p:nvSpPr>
          <p:cNvPr id="8" name="TextBox 7">
            <a:extLst>
              <a:ext uri="{FF2B5EF4-FFF2-40B4-BE49-F238E27FC236}">
                <a16:creationId xmlns:a16="http://schemas.microsoft.com/office/drawing/2014/main" id="{05D1FB83-4BE0-3B94-F2D0-BA5165F30B0D}"/>
              </a:ext>
            </a:extLst>
          </p:cNvPr>
          <p:cNvSpPr txBox="1"/>
          <p:nvPr/>
        </p:nvSpPr>
        <p:spPr>
          <a:xfrm>
            <a:off x="3728851" y="2187415"/>
            <a:ext cx="4261295" cy="369332"/>
          </a:xfrm>
          <a:prstGeom prst="rect">
            <a:avLst/>
          </a:prstGeom>
          <a:noFill/>
        </p:spPr>
        <p:txBody>
          <a:bodyPr wrap="none" rtlCol="0">
            <a:spAutoFit/>
          </a:bodyPr>
          <a:lstStyle/>
          <a:p>
            <a:r>
              <a:rPr lang="en-US" dirty="0"/>
              <a:t>Top right of the screen in the </a:t>
            </a:r>
            <a:r>
              <a:rPr lang="en-US" dirty="0" err="1"/>
              <a:t>Snowsight</a:t>
            </a:r>
            <a:r>
              <a:rPr lang="en-US" dirty="0"/>
              <a:t> UI:</a:t>
            </a:r>
          </a:p>
        </p:txBody>
      </p:sp>
    </p:spTree>
    <p:extLst>
      <p:ext uri="{BB962C8B-B14F-4D97-AF65-F5344CB8AC3E}">
        <p14:creationId xmlns:p14="http://schemas.microsoft.com/office/powerpoint/2010/main" val="1394983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542E8-F940-5372-7FE2-8AC789D29A4F}"/>
              </a:ext>
            </a:extLst>
          </p:cNvPr>
          <p:cNvSpPr>
            <a:spLocks noGrp="1"/>
          </p:cNvSpPr>
          <p:nvPr>
            <p:ph type="title"/>
          </p:nvPr>
        </p:nvSpPr>
        <p:spPr/>
        <p:txBody>
          <a:bodyPr/>
          <a:lstStyle/>
          <a:p>
            <a:r>
              <a:rPr lang="en-US" dirty="0"/>
              <a:t>Walkthrough</a:t>
            </a:r>
          </a:p>
        </p:txBody>
      </p:sp>
      <p:sp>
        <p:nvSpPr>
          <p:cNvPr id="3" name="Content Placeholder 2">
            <a:extLst>
              <a:ext uri="{FF2B5EF4-FFF2-40B4-BE49-F238E27FC236}">
                <a16:creationId xmlns:a16="http://schemas.microsoft.com/office/drawing/2014/main" id="{A5CFB880-5250-6625-516F-AF56C55DAAD5}"/>
              </a:ext>
            </a:extLst>
          </p:cNvPr>
          <p:cNvSpPr>
            <a:spLocks noGrp="1"/>
          </p:cNvSpPr>
          <p:nvPr>
            <p:ph idx="1"/>
          </p:nvPr>
        </p:nvSpPr>
        <p:spPr/>
        <p:txBody>
          <a:bodyPr/>
          <a:lstStyle/>
          <a:p>
            <a:r>
              <a:rPr lang="en-US" dirty="0"/>
              <a:t>Let’s create some databases, schemas, tables, insert rows, and create views to query our data</a:t>
            </a:r>
          </a:p>
          <a:p>
            <a:r>
              <a:rPr lang="en-US" dirty="0"/>
              <a:t>The relevant code is found in your course materials. The file is: ‘Databases_Schemas_Tables_&amp;_</a:t>
            </a:r>
            <a:r>
              <a:rPr lang="en-US" dirty="0" err="1"/>
              <a:t>Views.sql</a:t>
            </a:r>
            <a:r>
              <a:rPr lang="en-US" dirty="0"/>
              <a:t>’ </a:t>
            </a:r>
          </a:p>
        </p:txBody>
      </p:sp>
    </p:spTree>
    <p:extLst>
      <p:ext uri="{BB962C8B-B14F-4D97-AF65-F5344CB8AC3E}">
        <p14:creationId xmlns:p14="http://schemas.microsoft.com/office/powerpoint/2010/main" val="14718303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DFDA9-3126-5C95-78B3-E77A0CD87C57}"/>
              </a:ext>
            </a:extLst>
          </p:cNvPr>
          <p:cNvSpPr>
            <a:spLocks noGrp="1"/>
          </p:cNvSpPr>
          <p:nvPr>
            <p:ph type="title"/>
          </p:nvPr>
        </p:nvSpPr>
        <p:spPr/>
        <p:txBody>
          <a:bodyPr/>
          <a:lstStyle/>
          <a:p>
            <a:r>
              <a:rPr lang="en-US" dirty="0"/>
              <a:t>Open table formats – The problem they solve</a:t>
            </a:r>
          </a:p>
        </p:txBody>
      </p:sp>
      <p:sp>
        <p:nvSpPr>
          <p:cNvPr id="3" name="Content Placeholder 2">
            <a:extLst>
              <a:ext uri="{FF2B5EF4-FFF2-40B4-BE49-F238E27FC236}">
                <a16:creationId xmlns:a16="http://schemas.microsoft.com/office/drawing/2014/main" id="{8DCA714E-6AEC-5A62-4DEC-7D6B23A8D10A}"/>
              </a:ext>
            </a:extLst>
          </p:cNvPr>
          <p:cNvSpPr>
            <a:spLocks noGrp="1"/>
          </p:cNvSpPr>
          <p:nvPr>
            <p:ph idx="1"/>
          </p:nvPr>
        </p:nvSpPr>
        <p:spPr>
          <a:xfrm>
            <a:off x="581193" y="1991165"/>
            <a:ext cx="11029615" cy="647764"/>
          </a:xfrm>
        </p:spPr>
        <p:txBody>
          <a:bodyPr/>
          <a:lstStyle/>
          <a:p>
            <a:r>
              <a:rPr lang="en-US" dirty="0"/>
              <a:t>Athena or External Tables could be used to connect to a S3 acting as a data lake, but these tools are not interoperable; i.e. not ACID compliant and no Time-Travel support </a:t>
            </a:r>
          </a:p>
        </p:txBody>
      </p:sp>
      <p:pic>
        <p:nvPicPr>
          <p:cNvPr id="5" name="Picture 4">
            <a:extLst>
              <a:ext uri="{FF2B5EF4-FFF2-40B4-BE49-F238E27FC236}">
                <a16:creationId xmlns:a16="http://schemas.microsoft.com/office/drawing/2014/main" id="{E9839ADF-168D-8BC5-93FD-7ED4A1BF6ED1}"/>
              </a:ext>
            </a:extLst>
          </p:cNvPr>
          <p:cNvPicPr>
            <a:picLocks noChangeAspect="1"/>
          </p:cNvPicPr>
          <p:nvPr/>
        </p:nvPicPr>
        <p:blipFill>
          <a:blip r:embed="rId2"/>
          <a:stretch>
            <a:fillRect/>
          </a:stretch>
        </p:blipFill>
        <p:spPr>
          <a:xfrm>
            <a:off x="2960733" y="2828261"/>
            <a:ext cx="6270534" cy="3945872"/>
          </a:xfrm>
          <a:prstGeom prst="rect">
            <a:avLst/>
          </a:prstGeom>
        </p:spPr>
      </p:pic>
    </p:spTree>
    <p:extLst>
      <p:ext uri="{BB962C8B-B14F-4D97-AF65-F5344CB8AC3E}">
        <p14:creationId xmlns:p14="http://schemas.microsoft.com/office/powerpoint/2010/main" val="26623200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1B77D-0CF0-A5B5-6BF8-CC4E14E8BD28}"/>
              </a:ext>
            </a:extLst>
          </p:cNvPr>
          <p:cNvSpPr>
            <a:spLocks noGrp="1"/>
          </p:cNvSpPr>
          <p:nvPr>
            <p:ph type="title"/>
          </p:nvPr>
        </p:nvSpPr>
        <p:spPr/>
        <p:txBody>
          <a:bodyPr/>
          <a:lstStyle/>
          <a:p>
            <a:r>
              <a:rPr lang="en-US" dirty="0"/>
              <a:t>Open table formats – Apache Iceberg is what we will use</a:t>
            </a:r>
          </a:p>
        </p:txBody>
      </p:sp>
      <p:pic>
        <p:nvPicPr>
          <p:cNvPr id="5" name="Content Placeholder 4">
            <a:extLst>
              <a:ext uri="{FF2B5EF4-FFF2-40B4-BE49-F238E27FC236}">
                <a16:creationId xmlns:a16="http://schemas.microsoft.com/office/drawing/2014/main" id="{70F96C73-4BD8-36B2-1ACA-FFAED5B9E6B6}"/>
              </a:ext>
            </a:extLst>
          </p:cNvPr>
          <p:cNvPicPr>
            <a:picLocks noGrp="1" noChangeAspect="1"/>
          </p:cNvPicPr>
          <p:nvPr>
            <p:ph idx="1"/>
          </p:nvPr>
        </p:nvPicPr>
        <p:blipFill>
          <a:blip r:embed="rId2"/>
          <a:stretch>
            <a:fillRect/>
          </a:stretch>
        </p:blipFill>
        <p:spPr>
          <a:xfrm>
            <a:off x="1451841" y="1847198"/>
            <a:ext cx="9288317" cy="4879164"/>
          </a:xfrm>
          <a:prstGeom prst="rect">
            <a:avLst/>
          </a:prstGeom>
        </p:spPr>
      </p:pic>
    </p:spTree>
    <p:extLst>
      <p:ext uri="{BB962C8B-B14F-4D97-AF65-F5344CB8AC3E}">
        <p14:creationId xmlns:p14="http://schemas.microsoft.com/office/powerpoint/2010/main" val="35919176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91520-643B-8F6E-FF30-E1AC113BB924}"/>
              </a:ext>
            </a:extLst>
          </p:cNvPr>
          <p:cNvSpPr>
            <a:spLocks noGrp="1"/>
          </p:cNvSpPr>
          <p:nvPr>
            <p:ph type="title"/>
          </p:nvPr>
        </p:nvSpPr>
        <p:spPr/>
        <p:txBody>
          <a:bodyPr/>
          <a:lstStyle/>
          <a:p>
            <a:r>
              <a:rPr lang="en-US" dirty="0"/>
              <a:t>Open table formats – Apache iceberg in snowflake</a:t>
            </a:r>
          </a:p>
        </p:txBody>
      </p:sp>
      <p:sp>
        <p:nvSpPr>
          <p:cNvPr id="6" name="TextBox 5">
            <a:extLst>
              <a:ext uri="{FF2B5EF4-FFF2-40B4-BE49-F238E27FC236}">
                <a16:creationId xmlns:a16="http://schemas.microsoft.com/office/drawing/2014/main" id="{C8DAAD68-E8B3-41D1-782A-D8E7BB32F9BA}"/>
              </a:ext>
            </a:extLst>
          </p:cNvPr>
          <p:cNvSpPr txBox="1"/>
          <p:nvPr/>
        </p:nvSpPr>
        <p:spPr>
          <a:xfrm>
            <a:off x="332509" y="2190500"/>
            <a:ext cx="3930733" cy="2862322"/>
          </a:xfrm>
          <a:prstGeom prst="rect">
            <a:avLst/>
          </a:prstGeom>
          <a:noFill/>
        </p:spPr>
        <p:txBody>
          <a:bodyPr wrap="square" rtlCol="0">
            <a:spAutoFit/>
          </a:bodyPr>
          <a:lstStyle/>
          <a:p>
            <a:r>
              <a:rPr lang="en-US" dirty="0"/>
              <a:t>Catalog – table registry, which stores  information about what tables exist, where a table’s data files reside, and the version of the table;  It also handles transactions and ensures ACID compliance; AWS Glue is an example </a:t>
            </a:r>
          </a:p>
          <a:p>
            <a:endParaRPr lang="en-US" dirty="0"/>
          </a:p>
          <a:p>
            <a:r>
              <a:rPr lang="en-US" dirty="0"/>
              <a:t>This allows us to read from ‘data’ directory (typically parquet) and get snapshots of the </a:t>
            </a:r>
            <a:r>
              <a:rPr lang="en-US" dirty="0" err="1"/>
              <a:t>db</a:t>
            </a:r>
            <a:endParaRPr lang="en-US" dirty="0"/>
          </a:p>
        </p:txBody>
      </p:sp>
      <p:pic>
        <p:nvPicPr>
          <p:cNvPr id="12" name="Content Placeholder 11">
            <a:extLst>
              <a:ext uri="{FF2B5EF4-FFF2-40B4-BE49-F238E27FC236}">
                <a16:creationId xmlns:a16="http://schemas.microsoft.com/office/drawing/2014/main" id="{E1FF013E-45B7-E892-70CC-41523DECE8C4}"/>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4407883" y="2152154"/>
            <a:ext cx="7192742" cy="4302732"/>
          </a:xfrm>
          <a:prstGeom prst="rect">
            <a:avLst/>
          </a:prstGeom>
        </p:spPr>
      </p:pic>
    </p:spTree>
    <p:extLst>
      <p:ext uri="{BB962C8B-B14F-4D97-AF65-F5344CB8AC3E}">
        <p14:creationId xmlns:p14="http://schemas.microsoft.com/office/powerpoint/2010/main" val="40167184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662662-EA7D-6F0D-B88E-9EB931BBA1CC}"/>
              </a:ext>
            </a:extLst>
          </p:cNvPr>
          <p:cNvSpPr>
            <a:spLocks noGrp="1"/>
          </p:cNvSpPr>
          <p:nvPr>
            <p:ph type="title"/>
          </p:nvPr>
        </p:nvSpPr>
        <p:spPr/>
        <p:txBody>
          <a:bodyPr/>
          <a:lstStyle/>
          <a:p>
            <a:r>
              <a:rPr lang="en-US" dirty="0"/>
              <a:t>Creating external volume to connect to s3</a:t>
            </a:r>
          </a:p>
        </p:txBody>
      </p:sp>
      <p:pic>
        <p:nvPicPr>
          <p:cNvPr id="5" name="Content Placeholder 4">
            <a:extLst>
              <a:ext uri="{FF2B5EF4-FFF2-40B4-BE49-F238E27FC236}">
                <a16:creationId xmlns:a16="http://schemas.microsoft.com/office/drawing/2014/main" id="{8CEDC0E8-2D06-7902-7681-8380C55DEEFD}"/>
              </a:ext>
            </a:extLst>
          </p:cNvPr>
          <p:cNvPicPr>
            <a:picLocks noGrp="1" noChangeAspect="1"/>
          </p:cNvPicPr>
          <p:nvPr>
            <p:ph idx="1"/>
          </p:nvPr>
        </p:nvPicPr>
        <p:blipFill>
          <a:blip r:embed="rId2"/>
          <a:stretch>
            <a:fillRect/>
          </a:stretch>
        </p:blipFill>
        <p:spPr>
          <a:xfrm>
            <a:off x="1684354" y="2829811"/>
            <a:ext cx="8823292" cy="3678238"/>
          </a:xfrm>
          <a:prstGeom prst="rect">
            <a:avLst/>
          </a:prstGeom>
        </p:spPr>
      </p:pic>
      <p:sp>
        <p:nvSpPr>
          <p:cNvPr id="7" name="TextBox 6">
            <a:extLst>
              <a:ext uri="{FF2B5EF4-FFF2-40B4-BE49-F238E27FC236}">
                <a16:creationId xmlns:a16="http://schemas.microsoft.com/office/drawing/2014/main" id="{84646AF6-7C29-8496-2D0E-3F26A2F8B100}"/>
              </a:ext>
            </a:extLst>
          </p:cNvPr>
          <p:cNvSpPr txBox="1"/>
          <p:nvPr/>
        </p:nvSpPr>
        <p:spPr>
          <a:xfrm>
            <a:off x="2921295" y="1949718"/>
            <a:ext cx="6097772" cy="646331"/>
          </a:xfrm>
          <a:prstGeom prst="rect">
            <a:avLst/>
          </a:prstGeom>
          <a:noFill/>
        </p:spPr>
        <p:txBody>
          <a:bodyPr wrap="square">
            <a:spAutoFit/>
          </a:bodyPr>
          <a:lstStyle/>
          <a:p>
            <a:r>
              <a:rPr lang="en-US" dirty="0"/>
              <a:t>EXTERNAL_VOLUME = an account level object that stores our cloud storage credentials</a:t>
            </a:r>
          </a:p>
        </p:txBody>
      </p:sp>
    </p:spTree>
    <p:extLst>
      <p:ext uri="{BB962C8B-B14F-4D97-AF65-F5344CB8AC3E}">
        <p14:creationId xmlns:p14="http://schemas.microsoft.com/office/powerpoint/2010/main" val="3499627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24BE0-2E7D-69D4-7B28-524F0CD1BFDC}"/>
              </a:ext>
            </a:extLst>
          </p:cNvPr>
          <p:cNvSpPr>
            <a:spLocks noGrp="1"/>
          </p:cNvSpPr>
          <p:nvPr>
            <p:ph type="title"/>
          </p:nvPr>
        </p:nvSpPr>
        <p:spPr/>
        <p:txBody>
          <a:bodyPr/>
          <a:lstStyle/>
          <a:p>
            <a:r>
              <a:rPr lang="en-US" dirty="0"/>
              <a:t>External vs internal managed catalogs</a:t>
            </a:r>
          </a:p>
        </p:txBody>
      </p:sp>
      <p:pic>
        <p:nvPicPr>
          <p:cNvPr id="5" name="Picture 4">
            <a:extLst>
              <a:ext uri="{FF2B5EF4-FFF2-40B4-BE49-F238E27FC236}">
                <a16:creationId xmlns:a16="http://schemas.microsoft.com/office/drawing/2014/main" id="{702500EA-7739-2DCE-7275-8C0EBC6AC789}"/>
              </a:ext>
            </a:extLst>
          </p:cNvPr>
          <p:cNvPicPr>
            <a:picLocks noChangeAspect="1"/>
          </p:cNvPicPr>
          <p:nvPr/>
        </p:nvPicPr>
        <p:blipFill>
          <a:blip r:embed="rId2"/>
          <a:stretch>
            <a:fillRect/>
          </a:stretch>
        </p:blipFill>
        <p:spPr>
          <a:xfrm>
            <a:off x="2449881" y="3094407"/>
            <a:ext cx="7292237" cy="3582840"/>
          </a:xfrm>
          <a:prstGeom prst="rect">
            <a:avLst/>
          </a:prstGeom>
        </p:spPr>
      </p:pic>
      <p:sp>
        <p:nvSpPr>
          <p:cNvPr id="8" name="TextBox 7">
            <a:extLst>
              <a:ext uri="{FF2B5EF4-FFF2-40B4-BE49-F238E27FC236}">
                <a16:creationId xmlns:a16="http://schemas.microsoft.com/office/drawing/2014/main" id="{116392CD-6AE9-771D-5784-B06E8D7403D0}"/>
              </a:ext>
            </a:extLst>
          </p:cNvPr>
          <p:cNvSpPr txBox="1"/>
          <p:nvPr/>
        </p:nvSpPr>
        <p:spPr>
          <a:xfrm>
            <a:off x="827539" y="1989683"/>
            <a:ext cx="10536920" cy="1077218"/>
          </a:xfrm>
          <a:prstGeom prst="rect">
            <a:avLst/>
          </a:prstGeom>
          <a:noFill/>
        </p:spPr>
        <p:txBody>
          <a:bodyPr wrap="square" rtlCol="0">
            <a:spAutoFit/>
          </a:bodyPr>
          <a:lstStyle/>
          <a:p>
            <a:pPr marL="285750" indent="-285750">
              <a:buFontTx/>
              <a:buChar char="-"/>
            </a:pPr>
            <a:r>
              <a:rPr lang="en-US" sz="1600" dirty="0"/>
              <a:t>There are tradeoffs for each option</a:t>
            </a:r>
          </a:p>
          <a:p>
            <a:pPr marL="285750" indent="-285750">
              <a:buFontTx/>
              <a:buChar char="-"/>
            </a:pPr>
            <a:r>
              <a:rPr lang="en-US" sz="1600" dirty="0"/>
              <a:t>Internal – supports snowflake table replication feature; External engines can read but not write, snowflake can read/write</a:t>
            </a:r>
          </a:p>
          <a:p>
            <a:pPr marL="285750" indent="-285750">
              <a:buFontTx/>
              <a:buChar char="-"/>
            </a:pPr>
            <a:r>
              <a:rPr lang="en-US" sz="1600" dirty="0"/>
              <a:t>External – no table replication; external engines like spark can read/write iceberg table data, but snowflake can only read; time travel is limited to iceberg snapshot history </a:t>
            </a:r>
          </a:p>
        </p:txBody>
      </p:sp>
    </p:spTree>
    <p:extLst>
      <p:ext uri="{BB962C8B-B14F-4D97-AF65-F5344CB8AC3E}">
        <p14:creationId xmlns:p14="http://schemas.microsoft.com/office/powerpoint/2010/main" val="28511331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3112F-B828-BBB0-814D-4D9592843B86}"/>
              </a:ext>
            </a:extLst>
          </p:cNvPr>
          <p:cNvSpPr>
            <a:spLocks noGrp="1"/>
          </p:cNvSpPr>
          <p:nvPr>
            <p:ph type="title"/>
          </p:nvPr>
        </p:nvSpPr>
        <p:spPr/>
        <p:txBody>
          <a:bodyPr/>
          <a:lstStyle/>
          <a:p>
            <a:r>
              <a:rPr lang="en-US" dirty="0"/>
              <a:t>External Catalog – Catalog Integration Object</a:t>
            </a:r>
          </a:p>
        </p:txBody>
      </p:sp>
      <p:sp>
        <p:nvSpPr>
          <p:cNvPr id="3" name="Content Placeholder 2">
            <a:extLst>
              <a:ext uri="{FF2B5EF4-FFF2-40B4-BE49-F238E27FC236}">
                <a16:creationId xmlns:a16="http://schemas.microsoft.com/office/drawing/2014/main" id="{F023A3F8-C64B-F94A-3291-BB087FF02D90}"/>
              </a:ext>
            </a:extLst>
          </p:cNvPr>
          <p:cNvSpPr>
            <a:spLocks noGrp="1"/>
          </p:cNvSpPr>
          <p:nvPr>
            <p:ph idx="1"/>
          </p:nvPr>
        </p:nvSpPr>
        <p:spPr>
          <a:xfrm>
            <a:off x="581192" y="1850066"/>
            <a:ext cx="11029615" cy="1275906"/>
          </a:xfrm>
        </p:spPr>
        <p:txBody>
          <a:bodyPr>
            <a:normAutofit/>
          </a:bodyPr>
          <a:lstStyle/>
          <a:p>
            <a:r>
              <a:rPr lang="en-US" dirty="0"/>
              <a:t>Catalog integration object = sets up access to external catalog service</a:t>
            </a:r>
          </a:p>
          <a:p>
            <a:r>
              <a:rPr lang="en-US" dirty="0"/>
              <a:t>Using an external service is useful if our iceberg tables were created elsewhere, such as spark </a:t>
            </a:r>
          </a:p>
          <a:p>
            <a:r>
              <a:rPr lang="en-US" dirty="0"/>
              <a:t>This example uses AWS Glue </a:t>
            </a:r>
          </a:p>
        </p:txBody>
      </p:sp>
      <p:pic>
        <p:nvPicPr>
          <p:cNvPr id="5" name="Picture 4">
            <a:extLst>
              <a:ext uri="{FF2B5EF4-FFF2-40B4-BE49-F238E27FC236}">
                <a16:creationId xmlns:a16="http://schemas.microsoft.com/office/drawing/2014/main" id="{95BA9556-9784-74B5-68D5-7ABF4D05B9B5}"/>
              </a:ext>
            </a:extLst>
          </p:cNvPr>
          <p:cNvPicPr>
            <a:picLocks noChangeAspect="1"/>
          </p:cNvPicPr>
          <p:nvPr/>
        </p:nvPicPr>
        <p:blipFill>
          <a:blip r:embed="rId2"/>
          <a:stretch>
            <a:fillRect/>
          </a:stretch>
        </p:blipFill>
        <p:spPr>
          <a:xfrm>
            <a:off x="1185529" y="3238285"/>
            <a:ext cx="9820939" cy="3460227"/>
          </a:xfrm>
          <a:prstGeom prst="rect">
            <a:avLst/>
          </a:prstGeom>
        </p:spPr>
      </p:pic>
    </p:spTree>
    <p:extLst>
      <p:ext uri="{BB962C8B-B14F-4D97-AF65-F5344CB8AC3E}">
        <p14:creationId xmlns:p14="http://schemas.microsoft.com/office/powerpoint/2010/main" val="32127382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F9829-2F5E-99DD-8200-671C83966DAE}"/>
              </a:ext>
            </a:extLst>
          </p:cNvPr>
          <p:cNvSpPr>
            <a:spLocks noGrp="1"/>
          </p:cNvSpPr>
          <p:nvPr>
            <p:ph type="title"/>
          </p:nvPr>
        </p:nvSpPr>
        <p:spPr/>
        <p:txBody>
          <a:bodyPr/>
          <a:lstStyle/>
          <a:p>
            <a:r>
              <a:rPr lang="en-US" dirty="0"/>
              <a:t>What we can do with iceberg tables</a:t>
            </a:r>
          </a:p>
        </p:txBody>
      </p:sp>
      <p:pic>
        <p:nvPicPr>
          <p:cNvPr id="5" name="Content Placeholder 4">
            <a:extLst>
              <a:ext uri="{FF2B5EF4-FFF2-40B4-BE49-F238E27FC236}">
                <a16:creationId xmlns:a16="http://schemas.microsoft.com/office/drawing/2014/main" id="{F41F93FC-728D-4310-CDD7-D377B6DA9F62}"/>
              </a:ext>
            </a:extLst>
          </p:cNvPr>
          <p:cNvPicPr>
            <a:picLocks noGrp="1" noChangeAspect="1"/>
          </p:cNvPicPr>
          <p:nvPr>
            <p:ph idx="1"/>
          </p:nvPr>
        </p:nvPicPr>
        <p:blipFill>
          <a:blip r:embed="rId2"/>
          <a:stretch>
            <a:fillRect/>
          </a:stretch>
        </p:blipFill>
        <p:spPr>
          <a:xfrm>
            <a:off x="1843113" y="1969237"/>
            <a:ext cx="8505774" cy="4751464"/>
          </a:xfrm>
          <a:prstGeom prst="rect">
            <a:avLst/>
          </a:prstGeom>
        </p:spPr>
      </p:pic>
    </p:spTree>
    <p:extLst>
      <p:ext uri="{BB962C8B-B14F-4D97-AF65-F5344CB8AC3E}">
        <p14:creationId xmlns:p14="http://schemas.microsoft.com/office/powerpoint/2010/main" val="33498583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7DC6B-60AF-BE5D-2F19-2E02F60922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A12867-67F9-0D37-301A-51F5FAA28C01}"/>
              </a:ext>
            </a:extLst>
          </p:cNvPr>
          <p:cNvSpPr>
            <a:spLocks noGrp="1"/>
          </p:cNvSpPr>
          <p:nvPr>
            <p:ph type="title"/>
          </p:nvPr>
        </p:nvSpPr>
        <p:spPr/>
        <p:txBody>
          <a:bodyPr/>
          <a:lstStyle/>
          <a:p>
            <a:r>
              <a:rPr lang="en-US" dirty="0"/>
              <a:t>Walkthrough – external catalog AWS GLUE</a:t>
            </a:r>
          </a:p>
        </p:txBody>
      </p:sp>
      <p:sp>
        <p:nvSpPr>
          <p:cNvPr id="3" name="Content Placeholder 2">
            <a:extLst>
              <a:ext uri="{FF2B5EF4-FFF2-40B4-BE49-F238E27FC236}">
                <a16:creationId xmlns:a16="http://schemas.microsoft.com/office/drawing/2014/main" id="{349F75A4-3D1D-1EBB-CDAC-63AFF41AA10E}"/>
              </a:ext>
            </a:extLst>
          </p:cNvPr>
          <p:cNvSpPr>
            <a:spLocks noGrp="1"/>
          </p:cNvSpPr>
          <p:nvPr>
            <p:ph idx="1"/>
          </p:nvPr>
        </p:nvSpPr>
        <p:spPr>
          <a:xfrm>
            <a:off x="581192" y="1935126"/>
            <a:ext cx="7109789" cy="2198463"/>
          </a:xfrm>
        </p:spPr>
        <p:txBody>
          <a:bodyPr>
            <a:normAutofit fontScale="85000" lnSpcReduction="20000"/>
          </a:bodyPr>
          <a:lstStyle/>
          <a:p>
            <a:r>
              <a:rPr lang="en-US" dirty="0"/>
              <a:t>In your course materials, please see the following files:</a:t>
            </a:r>
          </a:p>
          <a:p>
            <a:r>
              <a:rPr lang="en-US" dirty="0" err="1"/>
              <a:t>titanic.parquet</a:t>
            </a:r>
            <a:endParaRPr lang="en-US" dirty="0"/>
          </a:p>
          <a:p>
            <a:r>
              <a:rPr lang="en-US" dirty="0"/>
              <a:t>spark_iceberg_AWS_Glue_S3.py</a:t>
            </a:r>
          </a:p>
          <a:p>
            <a:r>
              <a:rPr lang="en-US" dirty="0"/>
              <a:t>We will run the </a:t>
            </a:r>
            <a:r>
              <a:rPr lang="en-US" dirty="0" err="1"/>
              <a:t>py</a:t>
            </a:r>
            <a:r>
              <a:rPr lang="en-US" dirty="0"/>
              <a:t> file on Amazon EMR, so we can see how </a:t>
            </a:r>
            <a:r>
              <a:rPr lang="en-US" dirty="0" err="1"/>
              <a:t>pyspark</a:t>
            </a:r>
            <a:r>
              <a:rPr lang="en-US" dirty="0"/>
              <a:t> can create iceberg tables into S3 from parquet</a:t>
            </a:r>
          </a:p>
          <a:p>
            <a:r>
              <a:rPr lang="en-US" dirty="0"/>
              <a:t>We will need to assign Glue/AWS permissions to our role on our master node</a:t>
            </a:r>
          </a:p>
          <a:p>
            <a:r>
              <a:rPr lang="en-US" dirty="0"/>
              <a:t>When creating the cluster, make sure to enable ‘AWS Glue Data Catalog settings’ &amp; set the software settings as shown:</a:t>
            </a:r>
          </a:p>
        </p:txBody>
      </p:sp>
      <p:pic>
        <p:nvPicPr>
          <p:cNvPr id="5" name="Picture 4">
            <a:extLst>
              <a:ext uri="{FF2B5EF4-FFF2-40B4-BE49-F238E27FC236}">
                <a16:creationId xmlns:a16="http://schemas.microsoft.com/office/drawing/2014/main" id="{31021474-0CDD-E5FC-0D20-D15D3DF871E6}"/>
              </a:ext>
            </a:extLst>
          </p:cNvPr>
          <p:cNvPicPr>
            <a:picLocks noChangeAspect="1"/>
          </p:cNvPicPr>
          <p:nvPr/>
        </p:nvPicPr>
        <p:blipFill>
          <a:blip r:embed="rId2"/>
          <a:stretch>
            <a:fillRect/>
          </a:stretch>
        </p:blipFill>
        <p:spPr>
          <a:xfrm>
            <a:off x="7610692" y="2031591"/>
            <a:ext cx="3486736" cy="4329256"/>
          </a:xfrm>
          <a:prstGeom prst="rect">
            <a:avLst/>
          </a:prstGeom>
        </p:spPr>
      </p:pic>
      <p:pic>
        <p:nvPicPr>
          <p:cNvPr id="7" name="Picture 6">
            <a:extLst>
              <a:ext uri="{FF2B5EF4-FFF2-40B4-BE49-F238E27FC236}">
                <a16:creationId xmlns:a16="http://schemas.microsoft.com/office/drawing/2014/main" id="{57973AAD-6A88-4427-35ED-9CEB60ACFD10}"/>
              </a:ext>
            </a:extLst>
          </p:cNvPr>
          <p:cNvPicPr>
            <a:picLocks noChangeAspect="1"/>
          </p:cNvPicPr>
          <p:nvPr/>
        </p:nvPicPr>
        <p:blipFill>
          <a:blip r:embed="rId3"/>
          <a:stretch>
            <a:fillRect/>
          </a:stretch>
        </p:blipFill>
        <p:spPr>
          <a:xfrm>
            <a:off x="2185508" y="4196219"/>
            <a:ext cx="4639005" cy="2422198"/>
          </a:xfrm>
          <a:prstGeom prst="rect">
            <a:avLst/>
          </a:prstGeom>
        </p:spPr>
      </p:pic>
    </p:spTree>
    <p:extLst>
      <p:ext uri="{BB962C8B-B14F-4D97-AF65-F5344CB8AC3E}">
        <p14:creationId xmlns:p14="http://schemas.microsoft.com/office/powerpoint/2010/main" val="208206505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FDAF0-1276-0425-43C9-01848BA75263}"/>
              </a:ext>
            </a:extLst>
          </p:cNvPr>
          <p:cNvSpPr>
            <a:spLocks noGrp="1"/>
          </p:cNvSpPr>
          <p:nvPr>
            <p:ph type="title"/>
          </p:nvPr>
        </p:nvSpPr>
        <p:spPr/>
        <p:txBody>
          <a:bodyPr/>
          <a:lstStyle/>
          <a:p>
            <a:r>
              <a:rPr lang="en-US" dirty="0"/>
              <a:t>Walkthrough – external catalog Aws glue</a:t>
            </a:r>
          </a:p>
        </p:txBody>
      </p:sp>
      <p:sp>
        <p:nvSpPr>
          <p:cNvPr id="3" name="Content Placeholder 2">
            <a:extLst>
              <a:ext uri="{FF2B5EF4-FFF2-40B4-BE49-F238E27FC236}">
                <a16:creationId xmlns:a16="http://schemas.microsoft.com/office/drawing/2014/main" id="{1308198B-B45A-9A2A-6BD9-197339C6CE08}"/>
              </a:ext>
            </a:extLst>
          </p:cNvPr>
          <p:cNvSpPr>
            <a:spLocks noGrp="1"/>
          </p:cNvSpPr>
          <p:nvPr>
            <p:ph idx="1"/>
          </p:nvPr>
        </p:nvSpPr>
        <p:spPr>
          <a:xfrm>
            <a:off x="911169" y="2180496"/>
            <a:ext cx="10369661" cy="3678303"/>
          </a:xfrm>
        </p:spPr>
        <p:txBody>
          <a:bodyPr/>
          <a:lstStyle/>
          <a:p>
            <a:r>
              <a:rPr lang="en-US" dirty="0"/>
              <a:t>In your course materials, please see the following files:</a:t>
            </a:r>
          </a:p>
          <a:p>
            <a:r>
              <a:rPr lang="en-US" dirty="0"/>
              <a:t>Snowflake_to_S3_with_external_catalog_AWS_Glue_V2.sql</a:t>
            </a:r>
          </a:p>
          <a:p>
            <a:r>
              <a:rPr lang="en-US" dirty="0"/>
              <a:t>We will now configure Snowflake by creating our required objects and finally making a query to our table</a:t>
            </a:r>
          </a:p>
        </p:txBody>
      </p:sp>
    </p:spTree>
    <p:extLst>
      <p:ext uri="{BB962C8B-B14F-4D97-AF65-F5344CB8AC3E}">
        <p14:creationId xmlns:p14="http://schemas.microsoft.com/office/powerpoint/2010/main" val="11156017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CB38F-6D2C-30BE-10B0-E3D72BE6E911}"/>
              </a:ext>
            </a:extLst>
          </p:cNvPr>
          <p:cNvSpPr>
            <a:spLocks noGrp="1"/>
          </p:cNvSpPr>
          <p:nvPr>
            <p:ph type="title"/>
          </p:nvPr>
        </p:nvSpPr>
        <p:spPr/>
        <p:txBody>
          <a:bodyPr/>
          <a:lstStyle/>
          <a:p>
            <a:r>
              <a:rPr lang="en-US" dirty="0"/>
              <a:t>Parameters</a:t>
            </a:r>
          </a:p>
        </p:txBody>
      </p:sp>
      <p:sp>
        <p:nvSpPr>
          <p:cNvPr id="3" name="Content Placeholder 2">
            <a:extLst>
              <a:ext uri="{FF2B5EF4-FFF2-40B4-BE49-F238E27FC236}">
                <a16:creationId xmlns:a16="http://schemas.microsoft.com/office/drawing/2014/main" id="{D76465DB-63FC-7FB2-531B-B5D059D85F36}"/>
              </a:ext>
            </a:extLst>
          </p:cNvPr>
          <p:cNvSpPr>
            <a:spLocks noGrp="1"/>
          </p:cNvSpPr>
          <p:nvPr>
            <p:ph idx="1"/>
          </p:nvPr>
        </p:nvSpPr>
        <p:spPr>
          <a:xfrm>
            <a:off x="279172" y="2180497"/>
            <a:ext cx="2936117" cy="4230936"/>
          </a:xfrm>
        </p:spPr>
        <p:txBody>
          <a:bodyPr>
            <a:normAutofit/>
          </a:bodyPr>
          <a:lstStyle/>
          <a:p>
            <a:r>
              <a:rPr lang="en-US" dirty="0"/>
              <a:t>Parameters are settings Snowflake provides us to tune and modify the behavior of our account</a:t>
            </a:r>
          </a:p>
          <a:p>
            <a:r>
              <a:rPr lang="en-US" dirty="0"/>
              <a:t>There are 3 broad categories of parameters </a:t>
            </a:r>
            <a:endParaRPr lang="en-US" dirty="0">
              <a:hlinkClick r:id="rId2"/>
            </a:endParaRPr>
          </a:p>
          <a:p>
            <a:r>
              <a:rPr lang="en-US" dirty="0" err="1">
                <a:hlinkClick r:id="rId2"/>
              </a:rPr>
              <a:t>Paramaeters</a:t>
            </a:r>
            <a:r>
              <a:rPr lang="en-US" dirty="0">
                <a:hlinkClick r:id="rId2"/>
              </a:rPr>
              <a:t> DOCS</a:t>
            </a:r>
            <a:endParaRPr lang="en-US" dirty="0"/>
          </a:p>
        </p:txBody>
      </p:sp>
      <p:pic>
        <p:nvPicPr>
          <p:cNvPr id="11" name="Picture 10">
            <a:extLst>
              <a:ext uri="{FF2B5EF4-FFF2-40B4-BE49-F238E27FC236}">
                <a16:creationId xmlns:a16="http://schemas.microsoft.com/office/drawing/2014/main" id="{D4CF366A-D1EE-4FF5-01A1-73FE0F113362}"/>
              </a:ext>
            </a:extLst>
          </p:cNvPr>
          <p:cNvPicPr>
            <a:picLocks noChangeAspect="1"/>
          </p:cNvPicPr>
          <p:nvPr/>
        </p:nvPicPr>
        <p:blipFill>
          <a:blip r:embed="rId3"/>
          <a:stretch>
            <a:fillRect/>
          </a:stretch>
        </p:blipFill>
        <p:spPr>
          <a:xfrm>
            <a:off x="3215289" y="2469155"/>
            <a:ext cx="8697539" cy="3686689"/>
          </a:xfrm>
          <a:prstGeom prst="rect">
            <a:avLst/>
          </a:prstGeom>
        </p:spPr>
      </p:pic>
    </p:spTree>
    <p:extLst>
      <p:ext uri="{BB962C8B-B14F-4D97-AF65-F5344CB8AC3E}">
        <p14:creationId xmlns:p14="http://schemas.microsoft.com/office/powerpoint/2010/main" val="330210115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0A19F-6E50-1DE1-29AE-075F63AAACAE}"/>
              </a:ext>
            </a:extLst>
          </p:cNvPr>
          <p:cNvSpPr>
            <a:spLocks noGrp="1"/>
          </p:cNvSpPr>
          <p:nvPr>
            <p:ph type="title"/>
          </p:nvPr>
        </p:nvSpPr>
        <p:spPr/>
        <p:txBody>
          <a:bodyPr/>
          <a:lstStyle/>
          <a:p>
            <a:r>
              <a:rPr lang="en-US" dirty="0"/>
              <a:t>Object Properties vs Object parameters</a:t>
            </a:r>
          </a:p>
        </p:txBody>
      </p:sp>
      <p:pic>
        <p:nvPicPr>
          <p:cNvPr id="5" name="Picture 4">
            <a:extLst>
              <a:ext uri="{FF2B5EF4-FFF2-40B4-BE49-F238E27FC236}">
                <a16:creationId xmlns:a16="http://schemas.microsoft.com/office/drawing/2014/main" id="{B6BD4101-095C-751A-8A35-90E6585EA2CD}"/>
              </a:ext>
            </a:extLst>
          </p:cNvPr>
          <p:cNvPicPr>
            <a:picLocks noChangeAspect="1"/>
          </p:cNvPicPr>
          <p:nvPr/>
        </p:nvPicPr>
        <p:blipFill>
          <a:blip r:embed="rId2"/>
          <a:stretch>
            <a:fillRect/>
          </a:stretch>
        </p:blipFill>
        <p:spPr>
          <a:xfrm>
            <a:off x="4553301" y="1872546"/>
            <a:ext cx="6933002" cy="4854825"/>
          </a:xfrm>
          <a:prstGeom prst="rect">
            <a:avLst/>
          </a:prstGeom>
        </p:spPr>
      </p:pic>
      <p:sp>
        <p:nvSpPr>
          <p:cNvPr id="6" name="TextBox 5">
            <a:extLst>
              <a:ext uri="{FF2B5EF4-FFF2-40B4-BE49-F238E27FC236}">
                <a16:creationId xmlns:a16="http://schemas.microsoft.com/office/drawing/2014/main" id="{B6C53205-0986-9E20-FCFE-D9C6D8A376F4}"/>
              </a:ext>
            </a:extLst>
          </p:cNvPr>
          <p:cNvSpPr txBox="1"/>
          <p:nvPr/>
        </p:nvSpPr>
        <p:spPr>
          <a:xfrm>
            <a:off x="581192" y="2339439"/>
            <a:ext cx="3741426" cy="2862322"/>
          </a:xfrm>
          <a:prstGeom prst="rect">
            <a:avLst/>
          </a:prstGeom>
          <a:noFill/>
        </p:spPr>
        <p:txBody>
          <a:bodyPr wrap="square" rtlCol="0">
            <a:spAutoFit/>
          </a:bodyPr>
          <a:lstStyle/>
          <a:p>
            <a:r>
              <a:rPr lang="en-US" b="1" dirty="0">
                <a:solidFill>
                  <a:schemeClr val="accent2"/>
                </a:solidFill>
              </a:rPr>
              <a:t>Properties</a:t>
            </a:r>
            <a:r>
              <a:rPr lang="en-US" dirty="0"/>
              <a:t> - define an object's static characteristics or resources, what it is or how it's configured, such as </a:t>
            </a:r>
            <a:r>
              <a:rPr lang="en-US" dirty="0" err="1"/>
              <a:t>warehouse_size</a:t>
            </a:r>
            <a:r>
              <a:rPr lang="en-US" dirty="0"/>
              <a:t>, </a:t>
            </a:r>
            <a:r>
              <a:rPr lang="en-US" dirty="0" err="1"/>
              <a:t>max_cluster_count</a:t>
            </a:r>
            <a:r>
              <a:rPr lang="en-US" dirty="0"/>
              <a:t>, or </a:t>
            </a:r>
            <a:r>
              <a:rPr lang="en-US" dirty="0" err="1"/>
              <a:t>auto_suspend</a:t>
            </a:r>
            <a:r>
              <a:rPr lang="en-US" dirty="0"/>
              <a:t>.</a:t>
            </a:r>
          </a:p>
          <a:p>
            <a:endParaRPr lang="en-US" b="1" dirty="0">
              <a:solidFill>
                <a:schemeClr val="accent2"/>
              </a:solidFill>
            </a:endParaRPr>
          </a:p>
          <a:p>
            <a:r>
              <a:rPr lang="en-US" b="1" dirty="0">
                <a:solidFill>
                  <a:schemeClr val="accent2"/>
                </a:solidFill>
              </a:rPr>
              <a:t>Parameters</a:t>
            </a:r>
            <a:r>
              <a:rPr lang="en-US" dirty="0"/>
              <a:t> - control an object's runtime behavior, how it acts when it's used, such as max concurrency level or statement timeout in seconds.</a:t>
            </a:r>
          </a:p>
        </p:txBody>
      </p:sp>
    </p:spTree>
    <p:extLst>
      <p:ext uri="{BB962C8B-B14F-4D97-AF65-F5344CB8AC3E}">
        <p14:creationId xmlns:p14="http://schemas.microsoft.com/office/powerpoint/2010/main" val="21917279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18B4D-B2DE-72B8-5A18-EB074DEE3DFA}"/>
              </a:ext>
            </a:extLst>
          </p:cNvPr>
          <p:cNvSpPr>
            <a:spLocks noGrp="1"/>
          </p:cNvSpPr>
          <p:nvPr>
            <p:ph type="title"/>
          </p:nvPr>
        </p:nvSpPr>
        <p:spPr/>
        <p:txBody>
          <a:bodyPr/>
          <a:lstStyle/>
          <a:p>
            <a:r>
              <a:rPr lang="en-US" dirty="0"/>
              <a:t>Parameter precedence</a:t>
            </a:r>
          </a:p>
        </p:txBody>
      </p:sp>
      <p:pic>
        <p:nvPicPr>
          <p:cNvPr id="5" name="Content Placeholder 4">
            <a:extLst>
              <a:ext uri="{FF2B5EF4-FFF2-40B4-BE49-F238E27FC236}">
                <a16:creationId xmlns:a16="http://schemas.microsoft.com/office/drawing/2014/main" id="{B11BC8C1-0854-7D0F-ABF2-1CDDE9C592D6}"/>
              </a:ext>
            </a:extLst>
          </p:cNvPr>
          <p:cNvPicPr>
            <a:picLocks noGrp="1" noChangeAspect="1"/>
          </p:cNvPicPr>
          <p:nvPr>
            <p:ph idx="1"/>
          </p:nvPr>
        </p:nvPicPr>
        <p:blipFill>
          <a:blip r:embed="rId2"/>
          <a:stretch>
            <a:fillRect/>
          </a:stretch>
        </p:blipFill>
        <p:spPr>
          <a:xfrm>
            <a:off x="1706665" y="1957453"/>
            <a:ext cx="8778669" cy="4793670"/>
          </a:xfrm>
          <a:prstGeom prst="rect">
            <a:avLst/>
          </a:prstGeom>
        </p:spPr>
      </p:pic>
    </p:spTree>
    <p:extLst>
      <p:ext uri="{BB962C8B-B14F-4D97-AF65-F5344CB8AC3E}">
        <p14:creationId xmlns:p14="http://schemas.microsoft.com/office/powerpoint/2010/main" val="182835983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17496-E283-D38D-FF57-CDFEE241C857}"/>
              </a:ext>
            </a:extLst>
          </p:cNvPr>
          <p:cNvSpPr>
            <a:spLocks noGrp="1"/>
          </p:cNvSpPr>
          <p:nvPr>
            <p:ph type="title"/>
          </p:nvPr>
        </p:nvSpPr>
        <p:spPr/>
        <p:txBody>
          <a:bodyPr/>
          <a:lstStyle/>
          <a:p>
            <a:r>
              <a:rPr lang="en-US" dirty="0"/>
              <a:t>Walkthrough</a:t>
            </a:r>
          </a:p>
        </p:txBody>
      </p:sp>
      <p:sp>
        <p:nvSpPr>
          <p:cNvPr id="3" name="Content Placeholder 2">
            <a:extLst>
              <a:ext uri="{FF2B5EF4-FFF2-40B4-BE49-F238E27FC236}">
                <a16:creationId xmlns:a16="http://schemas.microsoft.com/office/drawing/2014/main" id="{BD1A2B48-9B71-396E-03BF-AF7ADF1DC55E}"/>
              </a:ext>
            </a:extLst>
          </p:cNvPr>
          <p:cNvSpPr>
            <a:spLocks noGrp="1"/>
          </p:cNvSpPr>
          <p:nvPr>
            <p:ph idx="1"/>
          </p:nvPr>
        </p:nvSpPr>
        <p:spPr/>
        <p:txBody>
          <a:bodyPr/>
          <a:lstStyle/>
          <a:p>
            <a:r>
              <a:rPr lang="en-US" dirty="0"/>
              <a:t>Please see ‘</a:t>
            </a:r>
            <a:r>
              <a:rPr lang="en-US" dirty="0" err="1"/>
              <a:t>Parameters.sql</a:t>
            </a:r>
            <a:r>
              <a:rPr lang="en-US" dirty="0"/>
              <a:t>’ in the course materials </a:t>
            </a:r>
          </a:p>
        </p:txBody>
      </p:sp>
    </p:spTree>
    <p:extLst>
      <p:ext uri="{BB962C8B-B14F-4D97-AF65-F5344CB8AC3E}">
        <p14:creationId xmlns:p14="http://schemas.microsoft.com/office/powerpoint/2010/main" val="427517593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04035-DFD3-3494-27F1-B042209C2518}"/>
              </a:ext>
            </a:extLst>
          </p:cNvPr>
          <p:cNvSpPr>
            <a:spLocks noGrp="1"/>
          </p:cNvSpPr>
          <p:nvPr>
            <p:ph type="title"/>
          </p:nvPr>
        </p:nvSpPr>
        <p:spPr/>
        <p:txBody>
          <a:bodyPr/>
          <a:lstStyle/>
          <a:p>
            <a:r>
              <a:rPr lang="en-US" dirty="0"/>
              <a:t>UDF &amp; </a:t>
            </a:r>
            <a:r>
              <a:rPr lang="en-US" dirty="0" err="1"/>
              <a:t>udft</a:t>
            </a:r>
            <a:endParaRPr lang="en-US" dirty="0"/>
          </a:p>
        </p:txBody>
      </p:sp>
      <p:pic>
        <p:nvPicPr>
          <p:cNvPr id="13" name="Content Placeholder 12">
            <a:extLst>
              <a:ext uri="{FF2B5EF4-FFF2-40B4-BE49-F238E27FC236}">
                <a16:creationId xmlns:a16="http://schemas.microsoft.com/office/drawing/2014/main" id="{B97D9C8B-1C40-53F2-7561-744B6259951F}"/>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569129" y="1846751"/>
            <a:ext cx="9053742" cy="5011249"/>
          </a:xfrm>
          <a:prstGeom prst="rect">
            <a:avLst/>
          </a:prstGeom>
        </p:spPr>
      </p:pic>
      <p:pic>
        <p:nvPicPr>
          <p:cNvPr id="15" name="Picture 14">
            <a:extLst>
              <a:ext uri="{FF2B5EF4-FFF2-40B4-BE49-F238E27FC236}">
                <a16:creationId xmlns:a16="http://schemas.microsoft.com/office/drawing/2014/main" id="{E9332C79-27AD-E69E-64AA-E3144023AF12}"/>
              </a:ext>
            </a:extLst>
          </p:cNvPr>
          <p:cNvPicPr>
            <a:picLocks noChangeAspect="1"/>
          </p:cNvPicPr>
          <p:nvPr/>
        </p:nvPicPr>
        <p:blipFill>
          <a:blip r:embed="rId3"/>
          <a:stretch>
            <a:fillRect/>
          </a:stretch>
        </p:blipFill>
        <p:spPr>
          <a:xfrm>
            <a:off x="2084951" y="5071479"/>
            <a:ext cx="2023911" cy="305726"/>
          </a:xfrm>
          <a:prstGeom prst="rect">
            <a:avLst/>
          </a:prstGeom>
        </p:spPr>
      </p:pic>
    </p:spTree>
    <p:extLst>
      <p:ext uri="{BB962C8B-B14F-4D97-AF65-F5344CB8AC3E}">
        <p14:creationId xmlns:p14="http://schemas.microsoft.com/office/powerpoint/2010/main" val="1421852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1AF22-CFD7-B1EB-5625-F4C79362638D}"/>
              </a:ext>
            </a:extLst>
          </p:cNvPr>
          <p:cNvSpPr>
            <a:spLocks noGrp="1"/>
          </p:cNvSpPr>
          <p:nvPr>
            <p:ph type="title"/>
          </p:nvPr>
        </p:nvSpPr>
        <p:spPr/>
        <p:txBody>
          <a:bodyPr/>
          <a:lstStyle/>
          <a:p>
            <a:r>
              <a:rPr lang="en-US" dirty="0"/>
              <a:t>JavaScript UDF</a:t>
            </a:r>
          </a:p>
        </p:txBody>
      </p:sp>
      <p:pic>
        <p:nvPicPr>
          <p:cNvPr id="5" name="Content Placeholder 4">
            <a:extLst>
              <a:ext uri="{FF2B5EF4-FFF2-40B4-BE49-F238E27FC236}">
                <a16:creationId xmlns:a16="http://schemas.microsoft.com/office/drawing/2014/main" id="{7216CFE9-59A7-38D2-F70C-1119BF27266E}"/>
              </a:ext>
            </a:extLst>
          </p:cNvPr>
          <p:cNvPicPr>
            <a:picLocks noGrp="1" noChangeAspect="1"/>
          </p:cNvPicPr>
          <p:nvPr>
            <p:ph idx="1"/>
          </p:nvPr>
        </p:nvPicPr>
        <p:blipFill>
          <a:blip r:embed="rId2"/>
          <a:stretch>
            <a:fillRect/>
          </a:stretch>
        </p:blipFill>
        <p:spPr>
          <a:xfrm>
            <a:off x="1815516" y="2417413"/>
            <a:ext cx="8560967" cy="4440587"/>
          </a:xfrm>
          <a:prstGeom prst="rect">
            <a:avLst/>
          </a:prstGeom>
        </p:spPr>
      </p:pic>
      <p:sp>
        <p:nvSpPr>
          <p:cNvPr id="7" name="TextBox 6">
            <a:extLst>
              <a:ext uri="{FF2B5EF4-FFF2-40B4-BE49-F238E27FC236}">
                <a16:creationId xmlns:a16="http://schemas.microsoft.com/office/drawing/2014/main" id="{2193B283-E2DD-AF1F-548A-86F224500222}"/>
              </a:ext>
            </a:extLst>
          </p:cNvPr>
          <p:cNvSpPr txBox="1"/>
          <p:nvPr/>
        </p:nvSpPr>
        <p:spPr>
          <a:xfrm>
            <a:off x="3035834" y="2048081"/>
            <a:ext cx="5823582" cy="369332"/>
          </a:xfrm>
          <a:prstGeom prst="rect">
            <a:avLst/>
          </a:prstGeom>
          <a:noFill/>
        </p:spPr>
        <p:txBody>
          <a:bodyPr wrap="none" rtlCol="0">
            <a:spAutoFit/>
          </a:bodyPr>
          <a:lstStyle/>
          <a:p>
            <a:r>
              <a:rPr lang="en-US" dirty="0"/>
              <a:t>Another limitation: only base JavaScript is usable; no libraries</a:t>
            </a:r>
          </a:p>
        </p:txBody>
      </p:sp>
    </p:spTree>
    <p:extLst>
      <p:ext uri="{BB962C8B-B14F-4D97-AF65-F5344CB8AC3E}">
        <p14:creationId xmlns:p14="http://schemas.microsoft.com/office/powerpoint/2010/main" val="353917935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7B748-A2BC-D1FB-1329-4C8E43E95BD4}"/>
              </a:ext>
            </a:extLst>
          </p:cNvPr>
          <p:cNvSpPr>
            <a:spLocks noGrp="1"/>
          </p:cNvSpPr>
          <p:nvPr>
            <p:ph type="title"/>
          </p:nvPr>
        </p:nvSpPr>
        <p:spPr/>
        <p:txBody>
          <a:bodyPr/>
          <a:lstStyle/>
          <a:p>
            <a:r>
              <a:rPr lang="en-US" dirty="0"/>
              <a:t>Java UDF</a:t>
            </a:r>
          </a:p>
        </p:txBody>
      </p:sp>
      <p:pic>
        <p:nvPicPr>
          <p:cNvPr id="5" name="Content Placeholder 4">
            <a:extLst>
              <a:ext uri="{FF2B5EF4-FFF2-40B4-BE49-F238E27FC236}">
                <a16:creationId xmlns:a16="http://schemas.microsoft.com/office/drawing/2014/main" id="{F38C12EF-C0AB-205F-B8F0-52FA1AD28BCA}"/>
              </a:ext>
            </a:extLst>
          </p:cNvPr>
          <p:cNvPicPr>
            <a:picLocks noGrp="1" noChangeAspect="1"/>
          </p:cNvPicPr>
          <p:nvPr>
            <p:ph idx="1"/>
          </p:nvPr>
        </p:nvPicPr>
        <p:blipFill>
          <a:blip r:embed="rId2"/>
          <a:stretch>
            <a:fillRect/>
          </a:stretch>
        </p:blipFill>
        <p:spPr>
          <a:xfrm>
            <a:off x="1166070" y="2432799"/>
            <a:ext cx="9859859" cy="4116442"/>
          </a:xfrm>
          <a:prstGeom prst="rect">
            <a:avLst/>
          </a:prstGeom>
        </p:spPr>
      </p:pic>
      <p:sp>
        <p:nvSpPr>
          <p:cNvPr id="6" name="TextBox 5">
            <a:extLst>
              <a:ext uri="{FF2B5EF4-FFF2-40B4-BE49-F238E27FC236}">
                <a16:creationId xmlns:a16="http://schemas.microsoft.com/office/drawing/2014/main" id="{AE56A55A-6701-6CA5-4D8C-A0A6285A0426}"/>
              </a:ext>
            </a:extLst>
          </p:cNvPr>
          <p:cNvSpPr txBox="1"/>
          <p:nvPr/>
        </p:nvSpPr>
        <p:spPr>
          <a:xfrm>
            <a:off x="3035834" y="2063467"/>
            <a:ext cx="6120330" cy="369332"/>
          </a:xfrm>
          <a:prstGeom prst="rect">
            <a:avLst/>
          </a:prstGeom>
          <a:noFill/>
        </p:spPr>
        <p:txBody>
          <a:bodyPr wrap="none" rtlCol="0">
            <a:spAutoFit/>
          </a:bodyPr>
          <a:lstStyle/>
          <a:p>
            <a:r>
              <a:rPr lang="en-US" dirty="0"/>
              <a:t>Another limitation: only base java classes are usable; no libraries</a:t>
            </a:r>
          </a:p>
        </p:txBody>
      </p:sp>
    </p:spTree>
    <p:extLst>
      <p:ext uri="{BB962C8B-B14F-4D97-AF65-F5344CB8AC3E}">
        <p14:creationId xmlns:p14="http://schemas.microsoft.com/office/powerpoint/2010/main" val="131483430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15817-9EC1-29BA-9391-240AEB922EC3}"/>
              </a:ext>
            </a:extLst>
          </p:cNvPr>
          <p:cNvSpPr>
            <a:spLocks noGrp="1"/>
          </p:cNvSpPr>
          <p:nvPr>
            <p:ph type="title"/>
          </p:nvPr>
        </p:nvSpPr>
        <p:spPr/>
        <p:txBody>
          <a:bodyPr/>
          <a:lstStyle/>
          <a:p>
            <a:r>
              <a:rPr lang="en-US" dirty="0"/>
              <a:t>External Functions</a:t>
            </a:r>
          </a:p>
        </p:txBody>
      </p:sp>
      <p:pic>
        <p:nvPicPr>
          <p:cNvPr id="5" name="Content Placeholder 4">
            <a:extLst>
              <a:ext uri="{FF2B5EF4-FFF2-40B4-BE49-F238E27FC236}">
                <a16:creationId xmlns:a16="http://schemas.microsoft.com/office/drawing/2014/main" id="{4ADB3C33-4778-BC0E-7320-6DE088A3F591}"/>
              </a:ext>
            </a:extLst>
          </p:cNvPr>
          <p:cNvPicPr>
            <a:picLocks noGrp="1" noChangeAspect="1"/>
          </p:cNvPicPr>
          <p:nvPr>
            <p:ph idx="1"/>
          </p:nvPr>
        </p:nvPicPr>
        <p:blipFill>
          <a:blip r:embed="rId2"/>
          <a:stretch>
            <a:fillRect/>
          </a:stretch>
        </p:blipFill>
        <p:spPr>
          <a:xfrm>
            <a:off x="2054755" y="2994507"/>
            <a:ext cx="8082489" cy="3863493"/>
          </a:xfrm>
          <a:prstGeom prst="rect">
            <a:avLst/>
          </a:prstGeom>
        </p:spPr>
      </p:pic>
      <p:sp>
        <p:nvSpPr>
          <p:cNvPr id="6" name="TextBox 5">
            <a:extLst>
              <a:ext uri="{FF2B5EF4-FFF2-40B4-BE49-F238E27FC236}">
                <a16:creationId xmlns:a16="http://schemas.microsoft.com/office/drawing/2014/main" id="{543DB73E-EE0F-55D8-7693-10185500EE06}"/>
              </a:ext>
            </a:extLst>
          </p:cNvPr>
          <p:cNvSpPr txBox="1"/>
          <p:nvPr/>
        </p:nvSpPr>
        <p:spPr>
          <a:xfrm>
            <a:off x="212649" y="1903228"/>
            <a:ext cx="11600122" cy="923330"/>
          </a:xfrm>
          <a:prstGeom prst="rect">
            <a:avLst/>
          </a:prstGeom>
          <a:noFill/>
        </p:spPr>
        <p:txBody>
          <a:bodyPr wrap="square" rtlCol="0">
            <a:spAutoFit/>
          </a:bodyPr>
          <a:lstStyle/>
          <a:p>
            <a:r>
              <a:rPr lang="en-US" dirty="0"/>
              <a:t>Since we can’t use external libraries with snowflake UDFs, we could call an external function instead that could be in any language we wish. For example, we could setup Amazon API Gateway to take requests and execute an AWS lambda function, which could be in many languages and utilize 3</a:t>
            </a:r>
            <a:r>
              <a:rPr lang="en-US" baseline="30000" dirty="0"/>
              <a:t>rd</a:t>
            </a:r>
            <a:r>
              <a:rPr lang="en-US" dirty="0"/>
              <a:t> party libraries. The following showcases this:</a:t>
            </a:r>
          </a:p>
        </p:txBody>
      </p:sp>
    </p:spTree>
    <p:extLst>
      <p:ext uri="{BB962C8B-B14F-4D97-AF65-F5344CB8AC3E}">
        <p14:creationId xmlns:p14="http://schemas.microsoft.com/office/powerpoint/2010/main" val="322142013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898EA-6C41-E5F3-A622-805CA35FCE74}"/>
              </a:ext>
            </a:extLst>
          </p:cNvPr>
          <p:cNvSpPr>
            <a:spLocks noGrp="1"/>
          </p:cNvSpPr>
          <p:nvPr>
            <p:ph type="title"/>
          </p:nvPr>
        </p:nvSpPr>
        <p:spPr/>
        <p:txBody>
          <a:bodyPr/>
          <a:lstStyle/>
          <a:p>
            <a:r>
              <a:rPr lang="en-US" dirty="0"/>
              <a:t>External function call lifecycle</a:t>
            </a:r>
          </a:p>
        </p:txBody>
      </p:sp>
      <p:pic>
        <p:nvPicPr>
          <p:cNvPr id="5" name="Content Placeholder 4">
            <a:extLst>
              <a:ext uri="{FF2B5EF4-FFF2-40B4-BE49-F238E27FC236}">
                <a16:creationId xmlns:a16="http://schemas.microsoft.com/office/drawing/2014/main" id="{E0BBEC35-D5CC-0786-44E5-EA87CC9D70FF}"/>
              </a:ext>
            </a:extLst>
          </p:cNvPr>
          <p:cNvPicPr>
            <a:picLocks noGrp="1" noChangeAspect="1"/>
          </p:cNvPicPr>
          <p:nvPr>
            <p:ph idx="1"/>
          </p:nvPr>
        </p:nvPicPr>
        <p:blipFill>
          <a:blip r:embed="rId2"/>
          <a:stretch>
            <a:fillRect/>
          </a:stretch>
        </p:blipFill>
        <p:spPr>
          <a:xfrm>
            <a:off x="520941" y="1945758"/>
            <a:ext cx="10971078" cy="4630479"/>
          </a:xfrm>
          <a:prstGeom prst="rect">
            <a:avLst/>
          </a:prstGeom>
        </p:spPr>
      </p:pic>
    </p:spTree>
    <p:extLst>
      <p:ext uri="{BB962C8B-B14F-4D97-AF65-F5344CB8AC3E}">
        <p14:creationId xmlns:p14="http://schemas.microsoft.com/office/powerpoint/2010/main" val="424558717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62A07-372B-0FBC-9083-17E20757779A}"/>
              </a:ext>
            </a:extLst>
          </p:cNvPr>
          <p:cNvSpPr>
            <a:spLocks noGrp="1"/>
          </p:cNvSpPr>
          <p:nvPr>
            <p:ph type="title"/>
          </p:nvPr>
        </p:nvSpPr>
        <p:spPr/>
        <p:txBody>
          <a:bodyPr/>
          <a:lstStyle/>
          <a:p>
            <a:r>
              <a:rPr lang="en-US" dirty="0"/>
              <a:t>External Function Limitations</a:t>
            </a:r>
          </a:p>
        </p:txBody>
      </p:sp>
      <p:pic>
        <p:nvPicPr>
          <p:cNvPr id="5" name="Content Placeholder 4">
            <a:extLst>
              <a:ext uri="{FF2B5EF4-FFF2-40B4-BE49-F238E27FC236}">
                <a16:creationId xmlns:a16="http://schemas.microsoft.com/office/drawing/2014/main" id="{13332630-6984-55B6-556E-635B2C415EB0}"/>
              </a:ext>
            </a:extLst>
          </p:cNvPr>
          <p:cNvPicPr>
            <a:picLocks noGrp="1" noChangeAspect="1"/>
          </p:cNvPicPr>
          <p:nvPr>
            <p:ph idx="1"/>
          </p:nvPr>
        </p:nvPicPr>
        <p:blipFill>
          <a:blip r:embed="rId2"/>
          <a:stretch>
            <a:fillRect/>
          </a:stretch>
        </p:blipFill>
        <p:spPr>
          <a:xfrm>
            <a:off x="2014902" y="1885114"/>
            <a:ext cx="8162195" cy="4889759"/>
          </a:xfrm>
          <a:prstGeom prst="rect">
            <a:avLst/>
          </a:prstGeom>
        </p:spPr>
      </p:pic>
    </p:spTree>
    <p:extLst>
      <p:ext uri="{BB962C8B-B14F-4D97-AF65-F5344CB8AC3E}">
        <p14:creationId xmlns:p14="http://schemas.microsoft.com/office/powerpoint/2010/main" val="280458545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E4F51-D254-093F-F96A-786E0A6C6336}"/>
              </a:ext>
            </a:extLst>
          </p:cNvPr>
          <p:cNvSpPr>
            <a:spLocks noGrp="1"/>
          </p:cNvSpPr>
          <p:nvPr>
            <p:ph type="title"/>
          </p:nvPr>
        </p:nvSpPr>
        <p:spPr/>
        <p:txBody>
          <a:bodyPr/>
          <a:lstStyle/>
          <a:p>
            <a:r>
              <a:rPr lang="en-US" dirty="0"/>
              <a:t>Stored Procedures – the why</a:t>
            </a:r>
          </a:p>
        </p:txBody>
      </p:sp>
      <p:pic>
        <p:nvPicPr>
          <p:cNvPr id="5" name="Content Placeholder 4">
            <a:extLst>
              <a:ext uri="{FF2B5EF4-FFF2-40B4-BE49-F238E27FC236}">
                <a16:creationId xmlns:a16="http://schemas.microsoft.com/office/drawing/2014/main" id="{02448CD7-07F4-FDE7-8F7C-F4E0D0D39439}"/>
              </a:ext>
            </a:extLst>
          </p:cNvPr>
          <p:cNvPicPr>
            <a:picLocks noGrp="1" noChangeAspect="1"/>
          </p:cNvPicPr>
          <p:nvPr>
            <p:ph idx="1"/>
          </p:nvPr>
        </p:nvPicPr>
        <p:blipFill>
          <a:blip r:embed="rId2"/>
          <a:stretch>
            <a:fillRect/>
          </a:stretch>
        </p:blipFill>
        <p:spPr>
          <a:xfrm>
            <a:off x="1766646" y="2031955"/>
            <a:ext cx="8658708" cy="4611279"/>
          </a:xfrm>
          <a:prstGeom prst="rect">
            <a:avLst/>
          </a:prstGeom>
        </p:spPr>
      </p:pic>
    </p:spTree>
    <p:extLst>
      <p:ext uri="{BB962C8B-B14F-4D97-AF65-F5344CB8AC3E}">
        <p14:creationId xmlns:p14="http://schemas.microsoft.com/office/powerpoint/2010/main" val="344241090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40FBA-A38B-B722-1927-141E10A137FB}"/>
              </a:ext>
            </a:extLst>
          </p:cNvPr>
          <p:cNvSpPr>
            <a:spLocks noGrp="1"/>
          </p:cNvSpPr>
          <p:nvPr>
            <p:ph type="title"/>
          </p:nvPr>
        </p:nvSpPr>
        <p:spPr/>
        <p:txBody>
          <a:bodyPr/>
          <a:lstStyle/>
          <a:p>
            <a:r>
              <a:rPr lang="en-US" dirty="0"/>
              <a:t>Snowflake stored procedures</a:t>
            </a:r>
          </a:p>
        </p:txBody>
      </p:sp>
      <p:pic>
        <p:nvPicPr>
          <p:cNvPr id="5" name="Content Placeholder 4">
            <a:extLst>
              <a:ext uri="{FF2B5EF4-FFF2-40B4-BE49-F238E27FC236}">
                <a16:creationId xmlns:a16="http://schemas.microsoft.com/office/drawing/2014/main" id="{D67A3B10-261A-997D-7FED-49643E350389}"/>
              </a:ext>
            </a:extLst>
          </p:cNvPr>
          <p:cNvPicPr>
            <a:picLocks noGrp="1" noChangeAspect="1"/>
          </p:cNvPicPr>
          <p:nvPr>
            <p:ph idx="1"/>
          </p:nvPr>
        </p:nvPicPr>
        <p:blipFill>
          <a:blip r:embed="rId2"/>
          <a:stretch>
            <a:fillRect/>
          </a:stretch>
        </p:blipFill>
        <p:spPr>
          <a:xfrm>
            <a:off x="893618" y="2670648"/>
            <a:ext cx="10404763" cy="4019586"/>
          </a:xfrm>
          <a:prstGeom prst="rect">
            <a:avLst/>
          </a:prstGeom>
        </p:spPr>
      </p:pic>
      <p:sp>
        <p:nvSpPr>
          <p:cNvPr id="6" name="TextBox 5">
            <a:extLst>
              <a:ext uri="{FF2B5EF4-FFF2-40B4-BE49-F238E27FC236}">
                <a16:creationId xmlns:a16="http://schemas.microsoft.com/office/drawing/2014/main" id="{723C91F1-E229-84FB-4F5D-4A2F103FB7B5}"/>
              </a:ext>
            </a:extLst>
          </p:cNvPr>
          <p:cNvSpPr txBox="1"/>
          <p:nvPr/>
        </p:nvSpPr>
        <p:spPr>
          <a:xfrm>
            <a:off x="1120085" y="2008636"/>
            <a:ext cx="9951827" cy="369332"/>
          </a:xfrm>
          <a:prstGeom prst="rect">
            <a:avLst/>
          </a:prstGeom>
          <a:noFill/>
        </p:spPr>
        <p:txBody>
          <a:bodyPr wrap="none" rtlCol="0">
            <a:spAutoFit/>
          </a:bodyPr>
          <a:lstStyle/>
          <a:p>
            <a:r>
              <a:rPr lang="en-US" dirty="0"/>
              <a:t>The JavaScript option is well established, and Snowflake provides their own API to support its usefulness </a:t>
            </a:r>
          </a:p>
        </p:txBody>
      </p:sp>
    </p:spTree>
    <p:extLst>
      <p:ext uri="{BB962C8B-B14F-4D97-AF65-F5344CB8AC3E}">
        <p14:creationId xmlns:p14="http://schemas.microsoft.com/office/powerpoint/2010/main" val="140118958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8EFF9-4F84-55DA-1B50-1E9F5A7DD5E9}"/>
              </a:ext>
            </a:extLst>
          </p:cNvPr>
          <p:cNvSpPr>
            <a:spLocks noGrp="1"/>
          </p:cNvSpPr>
          <p:nvPr>
            <p:ph type="title"/>
          </p:nvPr>
        </p:nvSpPr>
        <p:spPr/>
        <p:txBody>
          <a:bodyPr/>
          <a:lstStyle/>
          <a:p>
            <a:r>
              <a:rPr lang="en-US" dirty="0"/>
              <a:t>JavaScript Stored Procedures</a:t>
            </a:r>
          </a:p>
        </p:txBody>
      </p:sp>
      <p:pic>
        <p:nvPicPr>
          <p:cNvPr id="5" name="Picture 4">
            <a:extLst>
              <a:ext uri="{FF2B5EF4-FFF2-40B4-BE49-F238E27FC236}">
                <a16:creationId xmlns:a16="http://schemas.microsoft.com/office/drawing/2014/main" id="{E4F88D92-900C-FFED-0FA9-5D11DAFC4A0E}"/>
              </a:ext>
            </a:extLst>
          </p:cNvPr>
          <p:cNvPicPr>
            <a:picLocks noChangeAspect="1"/>
          </p:cNvPicPr>
          <p:nvPr/>
        </p:nvPicPr>
        <p:blipFill>
          <a:blip r:embed="rId2"/>
          <a:stretch>
            <a:fillRect/>
          </a:stretch>
        </p:blipFill>
        <p:spPr>
          <a:xfrm>
            <a:off x="1476772" y="2418815"/>
            <a:ext cx="9238456" cy="4439185"/>
          </a:xfrm>
          <a:prstGeom prst="rect">
            <a:avLst/>
          </a:prstGeom>
        </p:spPr>
      </p:pic>
      <p:sp>
        <p:nvSpPr>
          <p:cNvPr id="8" name="TextBox 7">
            <a:hlinkClick r:id="rId3"/>
            <a:extLst>
              <a:ext uri="{FF2B5EF4-FFF2-40B4-BE49-F238E27FC236}">
                <a16:creationId xmlns:a16="http://schemas.microsoft.com/office/drawing/2014/main" id="{C3A23933-294F-966B-C496-54C4AF7893E8}"/>
              </a:ext>
            </a:extLst>
          </p:cNvPr>
          <p:cNvSpPr txBox="1"/>
          <p:nvPr/>
        </p:nvSpPr>
        <p:spPr>
          <a:xfrm>
            <a:off x="5472271" y="1882719"/>
            <a:ext cx="1247457" cy="369332"/>
          </a:xfrm>
          <a:prstGeom prst="rect">
            <a:avLst/>
          </a:prstGeom>
          <a:noFill/>
        </p:spPr>
        <p:txBody>
          <a:bodyPr wrap="none" rtlCol="0">
            <a:spAutoFit/>
          </a:bodyPr>
          <a:lstStyle/>
          <a:p>
            <a:r>
              <a:rPr lang="en-US" dirty="0">
                <a:hlinkClick r:id="rId3"/>
              </a:rPr>
              <a:t>The DOCS</a:t>
            </a:r>
            <a:endParaRPr lang="en-US" dirty="0"/>
          </a:p>
        </p:txBody>
      </p:sp>
    </p:spTree>
    <p:extLst>
      <p:ext uri="{BB962C8B-B14F-4D97-AF65-F5344CB8AC3E}">
        <p14:creationId xmlns:p14="http://schemas.microsoft.com/office/powerpoint/2010/main" val="202265843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4E2FD8-1247-F58F-2F76-FA47855F3A53}"/>
              </a:ext>
            </a:extLst>
          </p:cNvPr>
          <p:cNvSpPr>
            <a:spLocks noGrp="1"/>
          </p:cNvSpPr>
          <p:nvPr>
            <p:ph type="title"/>
          </p:nvPr>
        </p:nvSpPr>
        <p:spPr/>
        <p:txBody>
          <a:bodyPr/>
          <a:lstStyle/>
          <a:p>
            <a:r>
              <a:rPr lang="en-US" dirty="0"/>
              <a:t>Compare and contrast: UDF vs Stored Procedure</a:t>
            </a:r>
          </a:p>
        </p:txBody>
      </p:sp>
      <p:pic>
        <p:nvPicPr>
          <p:cNvPr id="5" name="Content Placeholder 4">
            <a:extLst>
              <a:ext uri="{FF2B5EF4-FFF2-40B4-BE49-F238E27FC236}">
                <a16:creationId xmlns:a16="http://schemas.microsoft.com/office/drawing/2014/main" id="{B3131BBF-19F2-59A6-8FAE-6F3AADF72A2F}"/>
              </a:ext>
            </a:extLst>
          </p:cNvPr>
          <p:cNvPicPr>
            <a:picLocks noGrp="1" noChangeAspect="1"/>
          </p:cNvPicPr>
          <p:nvPr>
            <p:ph idx="1"/>
          </p:nvPr>
        </p:nvPicPr>
        <p:blipFill>
          <a:blip r:embed="rId2"/>
          <a:stretch>
            <a:fillRect/>
          </a:stretch>
        </p:blipFill>
        <p:spPr>
          <a:xfrm>
            <a:off x="1566881" y="1943424"/>
            <a:ext cx="9058237" cy="4914576"/>
          </a:xfrm>
          <a:prstGeom prst="rect">
            <a:avLst/>
          </a:prstGeom>
        </p:spPr>
      </p:pic>
    </p:spTree>
    <p:extLst>
      <p:ext uri="{BB962C8B-B14F-4D97-AF65-F5344CB8AC3E}">
        <p14:creationId xmlns:p14="http://schemas.microsoft.com/office/powerpoint/2010/main" val="257316229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57269-AB7D-58CC-057B-7CD4D92A5449}"/>
              </a:ext>
            </a:extLst>
          </p:cNvPr>
          <p:cNvSpPr>
            <a:spLocks noGrp="1"/>
          </p:cNvSpPr>
          <p:nvPr>
            <p:ph type="title"/>
          </p:nvPr>
        </p:nvSpPr>
        <p:spPr/>
        <p:txBody>
          <a:bodyPr/>
          <a:lstStyle/>
          <a:p>
            <a:r>
              <a:rPr lang="en-US" dirty="0"/>
              <a:t>Walkthrough </a:t>
            </a:r>
          </a:p>
        </p:txBody>
      </p:sp>
      <p:sp>
        <p:nvSpPr>
          <p:cNvPr id="3" name="Content Placeholder 2">
            <a:extLst>
              <a:ext uri="{FF2B5EF4-FFF2-40B4-BE49-F238E27FC236}">
                <a16:creationId xmlns:a16="http://schemas.microsoft.com/office/drawing/2014/main" id="{3F568391-B521-82F0-73D3-5BB8EF59AC77}"/>
              </a:ext>
            </a:extLst>
          </p:cNvPr>
          <p:cNvSpPr>
            <a:spLocks noGrp="1"/>
          </p:cNvSpPr>
          <p:nvPr>
            <p:ph idx="1"/>
          </p:nvPr>
        </p:nvSpPr>
        <p:spPr/>
        <p:txBody>
          <a:bodyPr/>
          <a:lstStyle/>
          <a:p>
            <a:r>
              <a:rPr lang="en-US" dirty="0"/>
              <a:t>Please see the file ‘UDFs_External_Functions_&amp;_</a:t>
            </a:r>
            <a:r>
              <a:rPr lang="en-US" dirty="0" err="1"/>
              <a:t>Stored_Procedures.sql</a:t>
            </a:r>
            <a:r>
              <a:rPr lang="en-US" dirty="0"/>
              <a:t>’ within your course materials</a:t>
            </a:r>
          </a:p>
        </p:txBody>
      </p:sp>
    </p:spTree>
    <p:extLst>
      <p:ext uri="{BB962C8B-B14F-4D97-AF65-F5344CB8AC3E}">
        <p14:creationId xmlns:p14="http://schemas.microsoft.com/office/powerpoint/2010/main" val="127817135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888DA-C8BC-E25E-AA82-3EB2429489C5}"/>
              </a:ext>
            </a:extLst>
          </p:cNvPr>
          <p:cNvSpPr>
            <a:spLocks noGrp="1"/>
          </p:cNvSpPr>
          <p:nvPr>
            <p:ph type="title"/>
          </p:nvPr>
        </p:nvSpPr>
        <p:spPr/>
        <p:txBody>
          <a:bodyPr/>
          <a:lstStyle/>
          <a:p>
            <a:r>
              <a:rPr lang="en-US" dirty="0"/>
              <a:t>Sequences</a:t>
            </a:r>
          </a:p>
        </p:txBody>
      </p:sp>
      <p:pic>
        <p:nvPicPr>
          <p:cNvPr id="5" name="Content Placeholder 4">
            <a:extLst>
              <a:ext uri="{FF2B5EF4-FFF2-40B4-BE49-F238E27FC236}">
                <a16:creationId xmlns:a16="http://schemas.microsoft.com/office/drawing/2014/main" id="{51F781D2-A451-44DF-30D5-A7DDF0746CD9}"/>
              </a:ext>
            </a:extLst>
          </p:cNvPr>
          <p:cNvPicPr>
            <a:picLocks noGrp="1" noChangeAspect="1"/>
          </p:cNvPicPr>
          <p:nvPr>
            <p:ph idx="1"/>
          </p:nvPr>
        </p:nvPicPr>
        <p:blipFill>
          <a:blip r:embed="rId2"/>
          <a:stretch>
            <a:fillRect/>
          </a:stretch>
        </p:blipFill>
        <p:spPr>
          <a:xfrm>
            <a:off x="1578419" y="1925132"/>
            <a:ext cx="9035162" cy="4772972"/>
          </a:xfrm>
          <a:prstGeom prst="rect">
            <a:avLst/>
          </a:prstGeom>
        </p:spPr>
      </p:pic>
    </p:spTree>
    <p:extLst>
      <p:ext uri="{BB962C8B-B14F-4D97-AF65-F5344CB8AC3E}">
        <p14:creationId xmlns:p14="http://schemas.microsoft.com/office/powerpoint/2010/main" val="23070172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921EA-ED15-60AD-65CD-0FA1349A845C}"/>
              </a:ext>
            </a:extLst>
          </p:cNvPr>
          <p:cNvSpPr>
            <a:spLocks noGrp="1"/>
          </p:cNvSpPr>
          <p:nvPr>
            <p:ph type="title"/>
          </p:nvPr>
        </p:nvSpPr>
        <p:spPr/>
        <p:txBody>
          <a:bodyPr/>
          <a:lstStyle/>
          <a:p>
            <a:r>
              <a:rPr lang="en-US" dirty="0"/>
              <a:t>Sequences</a:t>
            </a:r>
          </a:p>
        </p:txBody>
      </p:sp>
      <p:pic>
        <p:nvPicPr>
          <p:cNvPr id="5" name="Content Placeholder 4">
            <a:extLst>
              <a:ext uri="{FF2B5EF4-FFF2-40B4-BE49-F238E27FC236}">
                <a16:creationId xmlns:a16="http://schemas.microsoft.com/office/drawing/2014/main" id="{D3FE7E5E-0BAB-E751-C319-454B45E7B653}"/>
              </a:ext>
            </a:extLst>
          </p:cNvPr>
          <p:cNvPicPr>
            <a:picLocks noGrp="1" noChangeAspect="1"/>
          </p:cNvPicPr>
          <p:nvPr>
            <p:ph idx="1"/>
          </p:nvPr>
        </p:nvPicPr>
        <p:blipFill>
          <a:blip r:embed="rId2"/>
          <a:stretch>
            <a:fillRect/>
          </a:stretch>
        </p:blipFill>
        <p:spPr>
          <a:xfrm>
            <a:off x="1027465" y="2824633"/>
            <a:ext cx="10137069" cy="4033367"/>
          </a:xfrm>
          <a:prstGeom prst="rect">
            <a:avLst/>
          </a:prstGeom>
        </p:spPr>
      </p:pic>
      <p:sp>
        <p:nvSpPr>
          <p:cNvPr id="10" name="TextBox 9">
            <a:extLst>
              <a:ext uri="{FF2B5EF4-FFF2-40B4-BE49-F238E27FC236}">
                <a16:creationId xmlns:a16="http://schemas.microsoft.com/office/drawing/2014/main" id="{5AB77BAC-9443-1420-F9FC-2588AA496120}"/>
              </a:ext>
            </a:extLst>
          </p:cNvPr>
          <p:cNvSpPr txBox="1"/>
          <p:nvPr/>
        </p:nvSpPr>
        <p:spPr>
          <a:xfrm>
            <a:off x="3014353" y="1901303"/>
            <a:ext cx="6163292" cy="923330"/>
          </a:xfrm>
          <a:prstGeom prst="rect">
            <a:avLst/>
          </a:prstGeom>
          <a:noFill/>
        </p:spPr>
        <p:txBody>
          <a:bodyPr wrap="square" rtlCol="0">
            <a:spAutoFit/>
          </a:bodyPr>
          <a:lstStyle/>
          <a:p>
            <a:r>
              <a:rPr lang="en-US" dirty="0"/>
              <a:t>Sequences cannot guarantee their values will be gap free</a:t>
            </a:r>
          </a:p>
          <a:p>
            <a:r>
              <a:rPr lang="en-US" dirty="0"/>
              <a:t>If you were to re-run this, our next starting value would be 35 </a:t>
            </a:r>
          </a:p>
          <a:p>
            <a:r>
              <a:rPr lang="en-US" dirty="0"/>
              <a:t>(multiplying increment by # of NEXTVAL operations)</a:t>
            </a:r>
          </a:p>
        </p:txBody>
      </p:sp>
    </p:spTree>
    <p:extLst>
      <p:ext uri="{BB962C8B-B14F-4D97-AF65-F5344CB8AC3E}">
        <p14:creationId xmlns:p14="http://schemas.microsoft.com/office/powerpoint/2010/main" val="132429627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E309B-06B6-26E5-DD62-CD567484C1FB}"/>
              </a:ext>
            </a:extLst>
          </p:cNvPr>
          <p:cNvSpPr>
            <a:spLocks noGrp="1"/>
          </p:cNvSpPr>
          <p:nvPr>
            <p:ph type="title"/>
          </p:nvPr>
        </p:nvSpPr>
        <p:spPr/>
        <p:txBody>
          <a:bodyPr/>
          <a:lstStyle/>
          <a:p>
            <a:r>
              <a:rPr lang="en-US" dirty="0"/>
              <a:t>Sequences – Common use case</a:t>
            </a:r>
          </a:p>
        </p:txBody>
      </p:sp>
      <p:pic>
        <p:nvPicPr>
          <p:cNvPr id="5" name="Content Placeholder 4">
            <a:extLst>
              <a:ext uri="{FF2B5EF4-FFF2-40B4-BE49-F238E27FC236}">
                <a16:creationId xmlns:a16="http://schemas.microsoft.com/office/drawing/2014/main" id="{DACFB185-BEF2-B8A4-7F49-4D274A69197E}"/>
              </a:ext>
            </a:extLst>
          </p:cNvPr>
          <p:cNvPicPr>
            <a:picLocks noGrp="1" noChangeAspect="1"/>
          </p:cNvPicPr>
          <p:nvPr>
            <p:ph idx="1"/>
          </p:nvPr>
        </p:nvPicPr>
        <p:blipFill>
          <a:blip r:embed="rId2"/>
          <a:stretch>
            <a:fillRect/>
          </a:stretch>
        </p:blipFill>
        <p:spPr>
          <a:xfrm>
            <a:off x="2699658" y="2024893"/>
            <a:ext cx="6792684" cy="4678728"/>
          </a:xfrm>
          <a:prstGeom prst="rect">
            <a:avLst/>
          </a:prstGeom>
        </p:spPr>
      </p:pic>
    </p:spTree>
    <p:extLst>
      <p:ext uri="{BB962C8B-B14F-4D97-AF65-F5344CB8AC3E}">
        <p14:creationId xmlns:p14="http://schemas.microsoft.com/office/powerpoint/2010/main" val="15609370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FA4B2-C65C-853B-97A2-D92F54896825}"/>
              </a:ext>
            </a:extLst>
          </p:cNvPr>
          <p:cNvSpPr>
            <a:spLocks noGrp="1"/>
          </p:cNvSpPr>
          <p:nvPr>
            <p:ph type="title"/>
          </p:nvPr>
        </p:nvSpPr>
        <p:spPr/>
        <p:txBody>
          <a:bodyPr/>
          <a:lstStyle/>
          <a:p>
            <a:r>
              <a:rPr lang="en-US" dirty="0"/>
              <a:t>Sequences – common use case</a:t>
            </a:r>
          </a:p>
        </p:txBody>
      </p:sp>
      <p:pic>
        <p:nvPicPr>
          <p:cNvPr id="5" name="Content Placeholder 4">
            <a:extLst>
              <a:ext uri="{FF2B5EF4-FFF2-40B4-BE49-F238E27FC236}">
                <a16:creationId xmlns:a16="http://schemas.microsoft.com/office/drawing/2014/main" id="{B49D9ADB-0F33-DC12-801D-9FEE5CB98A0E}"/>
              </a:ext>
            </a:extLst>
          </p:cNvPr>
          <p:cNvPicPr>
            <a:picLocks noGrp="1" noChangeAspect="1"/>
          </p:cNvPicPr>
          <p:nvPr>
            <p:ph idx="1"/>
          </p:nvPr>
        </p:nvPicPr>
        <p:blipFill>
          <a:blip r:embed="rId2"/>
          <a:stretch>
            <a:fillRect/>
          </a:stretch>
        </p:blipFill>
        <p:spPr>
          <a:xfrm>
            <a:off x="3678293" y="1860574"/>
            <a:ext cx="4835414" cy="4997426"/>
          </a:xfrm>
          <a:prstGeom prst="rect">
            <a:avLst/>
          </a:prstGeom>
        </p:spPr>
      </p:pic>
    </p:spTree>
    <p:extLst>
      <p:ext uri="{BB962C8B-B14F-4D97-AF65-F5344CB8AC3E}">
        <p14:creationId xmlns:p14="http://schemas.microsoft.com/office/powerpoint/2010/main" val="73831146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279A3-5D6F-5D53-F1B8-6608BF0D5297}"/>
              </a:ext>
            </a:extLst>
          </p:cNvPr>
          <p:cNvSpPr>
            <a:spLocks noGrp="1"/>
          </p:cNvSpPr>
          <p:nvPr>
            <p:ph type="title"/>
          </p:nvPr>
        </p:nvSpPr>
        <p:spPr/>
        <p:txBody>
          <a:bodyPr/>
          <a:lstStyle/>
          <a:p>
            <a:r>
              <a:rPr lang="en-US" dirty="0"/>
              <a:t>Tasks</a:t>
            </a:r>
          </a:p>
        </p:txBody>
      </p:sp>
      <p:pic>
        <p:nvPicPr>
          <p:cNvPr id="5" name="Content Placeholder 4">
            <a:extLst>
              <a:ext uri="{FF2B5EF4-FFF2-40B4-BE49-F238E27FC236}">
                <a16:creationId xmlns:a16="http://schemas.microsoft.com/office/drawing/2014/main" id="{E4D63B61-82B9-3F2E-F214-D815DA093678}"/>
              </a:ext>
            </a:extLst>
          </p:cNvPr>
          <p:cNvPicPr>
            <a:picLocks noGrp="1" noChangeAspect="1"/>
          </p:cNvPicPr>
          <p:nvPr>
            <p:ph idx="1"/>
          </p:nvPr>
        </p:nvPicPr>
        <p:blipFill>
          <a:blip r:embed="rId2"/>
          <a:stretch>
            <a:fillRect/>
          </a:stretch>
        </p:blipFill>
        <p:spPr>
          <a:xfrm>
            <a:off x="1341316" y="1864427"/>
            <a:ext cx="9509367" cy="4862945"/>
          </a:xfrm>
          <a:prstGeom prst="rect">
            <a:avLst/>
          </a:prstGeom>
        </p:spPr>
      </p:pic>
    </p:spTree>
    <p:extLst>
      <p:ext uri="{BB962C8B-B14F-4D97-AF65-F5344CB8AC3E}">
        <p14:creationId xmlns:p14="http://schemas.microsoft.com/office/powerpoint/2010/main" val="275211593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84FC9-1CD0-ACD8-6193-493BA1BF8BBA}"/>
              </a:ext>
            </a:extLst>
          </p:cNvPr>
          <p:cNvSpPr>
            <a:spLocks noGrp="1"/>
          </p:cNvSpPr>
          <p:nvPr>
            <p:ph type="title"/>
          </p:nvPr>
        </p:nvSpPr>
        <p:spPr/>
        <p:txBody>
          <a:bodyPr/>
          <a:lstStyle/>
          <a:p>
            <a:r>
              <a:rPr lang="en-US" dirty="0"/>
              <a:t>Streams</a:t>
            </a:r>
          </a:p>
        </p:txBody>
      </p:sp>
      <p:sp>
        <p:nvSpPr>
          <p:cNvPr id="3" name="Content Placeholder 2">
            <a:extLst>
              <a:ext uri="{FF2B5EF4-FFF2-40B4-BE49-F238E27FC236}">
                <a16:creationId xmlns:a16="http://schemas.microsoft.com/office/drawing/2014/main" id="{F3840973-0464-8DA2-E4C3-BC409D86094C}"/>
              </a:ext>
            </a:extLst>
          </p:cNvPr>
          <p:cNvSpPr>
            <a:spLocks noGrp="1"/>
          </p:cNvSpPr>
          <p:nvPr>
            <p:ph idx="1"/>
          </p:nvPr>
        </p:nvSpPr>
        <p:spPr>
          <a:xfrm>
            <a:off x="581188" y="5913912"/>
            <a:ext cx="11029615" cy="876010"/>
          </a:xfrm>
        </p:spPr>
        <p:txBody>
          <a:bodyPr>
            <a:normAutofit fontScale="92500" lnSpcReduction="20000"/>
          </a:bodyPr>
          <a:lstStyle/>
          <a:p>
            <a:r>
              <a:rPr lang="en-US" dirty="0"/>
              <a:t>Action will show INSERT or DELETE</a:t>
            </a:r>
          </a:p>
          <a:p>
            <a:r>
              <a:rPr lang="en-US" dirty="0"/>
              <a:t>Updates to rows in the source table are represented by a pair of delete and insert records in the stream, with the </a:t>
            </a:r>
            <a:r>
              <a:rPr lang="en-US" dirty="0" err="1"/>
              <a:t>IsUPDATE</a:t>
            </a:r>
            <a:r>
              <a:rPr lang="en-US" dirty="0"/>
              <a:t> column set to true</a:t>
            </a:r>
          </a:p>
        </p:txBody>
      </p:sp>
      <p:pic>
        <p:nvPicPr>
          <p:cNvPr id="5" name="Picture 4">
            <a:extLst>
              <a:ext uri="{FF2B5EF4-FFF2-40B4-BE49-F238E27FC236}">
                <a16:creationId xmlns:a16="http://schemas.microsoft.com/office/drawing/2014/main" id="{294C45DF-A691-F3D2-92B7-D7C01B5E3703}"/>
              </a:ext>
            </a:extLst>
          </p:cNvPr>
          <p:cNvPicPr>
            <a:picLocks noChangeAspect="1"/>
          </p:cNvPicPr>
          <p:nvPr/>
        </p:nvPicPr>
        <p:blipFill>
          <a:blip r:embed="rId2"/>
          <a:stretch>
            <a:fillRect/>
          </a:stretch>
        </p:blipFill>
        <p:spPr>
          <a:xfrm>
            <a:off x="2553192" y="1980883"/>
            <a:ext cx="7085609" cy="3838904"/>
          </a:xfrm>
          <a:prstGeom prst="rect">
            <a:avLst/>
          </a:prstGeom>
        </p:spPr>
      </p:pic>
    </p:spTree>
    <p:extLst>
      <p:ext uri="{BB962C8B-B14F-4D97-AF65-F5344CB8AC3E}">
        <p14:creationId xmlns:p14="http://schemas.microsoft.com/office/powerpoint/2010/main" val="139972703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0DEBC4-CCCD-973F-CC93-DDC67FFFD8AE}"/>
              </a:ext>
            </a:extLst>
          </p:cNvPr>
          <p:cNvSpPr>
            <a:spLocks noGrp="1"/>
          </p:cNvSpPr>
          <p:nvPr>
            <p:ph type="title"/>
          </p:nvPr>
        </p:nvSpPr>
        <p:spPr/>
        <p:txBody>
          <a:bodyPr/>
          <a:lstStyle/>
          <a:p>
            <a:r>
              <a:rPr lang="en-US" dirty="0"/>
              <a:t>Streams</a:t>
            </a:r>
          </a:p>
        </p:txBody>
      </p:sp>
      <p:sp>
        <p:nvSpPr>
          <p:cNvPr id="3" name="Content Placeholder 2">
            <a:extLst>
              <a:ext uri="{FF2B5EF4-FFF2-40B4-BE49-F238E27FC236}">
                <a16:creationId xmlns:a16="http://schemas.microsoft.com/office/drawing/2014/main" id="{911FCDD4-D54A-D702-961C-32CAD70AA70B}"/>
              </a:ext>
            </a:extLst>
          </p:cNvPr>
          <p:cNvSpPr>
            <a:spLocks noGrp="1"/>
          </p:cNvSpPr>
          <p:nvPr>
            <p:ph idx="1"/>
          </p:nvPr>
        </p:nvSpPr>
        <p:spPr>
          <a:xfrm>
            <a:off x="806824" y="1857775"/>
            <a:ext cx="11029615" cy="681457"/>
          </a:xfrm>
        </p:spPr>
        <p:txBody>
          <a:bodyPr/>
          <a:lstStyle/>
          <a:p>
            <a:r>
              <a:rPr lang="en-US" dirty="0"/>
              <a:t>Tasks &amp; Streams together form one way to achieve a continuous transformation pipeline</a:t>
            </a:r>
          </a:p>
        </p:txBody>
      </p:sp>
      <p:pic>
        <p:nvPicPr>
          <p:cNvPr id="5" name="Picture 4">
            <a:extLst>
              <a:ext uri="{FF2B5EF4-FFF2-40B4-BE49-F238E27FC236}">
                <a16:creationId xmlns:a16="http://schemas.microsoft.com/office/drawing/2014/main" id="{975A7809-DB6D-4F61-EC54-38E4E427DC22}"/>
              </a:ext>
            </a:extLst>
          </p:cNvPr>
          <p:cNvPicPr>
            <a:picLocks noChangeAspect="1"/>
          </p:cNvPicPr>
          <p:nvPr/>
        </p:nvPicPr>
        <p:blipFill>
          <a:blip r:embed="rId2"/>
          <a:stretch>
            <a:fillRect/>
          </a:stretch>
        </p:blipFill>
        <p:spPr>
          <a:xfrm>
            <a:off x="1793173" y="2642677"/>
            <a:ext cx="8605652" cy="4121542"/>
          </a:xfrm>
          <a:prstGeom prst="rect">
            <a:avLst/>
          </a:prstGeom>
        </p:spPr>
      </p:pic>
    </p:spTree>
    <p:extLst>
      <p:ext uri="{BB962C8B-B14F-4D97-AF65-F5344CB8AC3E}">
        <p14:creationId xmlns:p14="http://schemas.microsoft.com/office/powerpoint/2010/main" val="293150016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8D8FF-B9B2-C24A-6B64-E4328383166D}"/>
              </a:ext>
            </a:extLst>
          </p:cNvPr>
          <p:cNvSpPr>
            <a:spLocks noGrp="1"/>
          </p:cNvSpPr>
          <p:nvPr>
            <p:ph type="title"/>
          </p:nvPr>
        </p:nvSpPr>
        <p:spPr/>
        <p:txBody>
          <a:bodyPr/>
          <a:lstStyle/>
          <a:p>
            <a:r>
              <a:rPr lang="en-US" dirty="0"/>
              <a:t>Dynamic Tables</a:t>
            </a:r>
          </a:p>
        </p:txBody>
      </p:sp>
      <p:sp>
        <p:nvSpPr>
          <p:cNvPr id="3" name="Content Placeholder 2">
            <a:extLst>
              <a:ext uri="{FF2B5EF4-FFF2-40B4-BE49-F238E27FC236}">
                <a16:creationId xmlns:a16="http://schemas.microsoft.com/office/drawing/2014/main" id="{D70B9A91-2477-1F52-91FA-55807421CEC5}"/>
              </a:ext>
            </a:extLst>
          </p:cNvPr>
          <p:cNvSpPr>
            <a:spLocks noGrp="1"/>
          </p:cNvSpPr>
          <p:nvPr>
            <p:ph idx="1"/>
          </p:nvPr>
        </p:nvSpPr>
        <p:spPr>
          <a:xfrm>
            <a:off x="581193" y="1870381"/>
            <a:ext cx="11029615" cy="1013800"/>
          </a:xfrm>
        </p:spPr>
        <p:txBody>
          <a:bodyPr>
            <a:normAutofit lnSpcReduction="10000"/>
          </a:bodyPr>
          <a:lstStyle/>
          <a:p>
            <a:r>
              <a:rPr lang="en-US" dirty="0"/>
              <a:t>Dynamic tables automatically keep themselves up to date, based on a query we define</a:t>
            </a:r>
          </a:p>
          <a:p>
            <a:r>
              <a:rPr lang="en-US" dirty="0"/>
              <a:t>This is simpler than Tasks/Streams for creating a transformation pipeline. Instead of maintaining a DAG of tasks, we simply write what we want via SQL and then Snowflake handles the orchestration</a:t>
            </a:r>
          </a:p>
        </p:txBody>
      </p:sp>
      <p:pic>
        <p:nvPicPr>
          <p:cNvPr id="5" name="Picture 4">
            <a:extLst>
              <a:ext uri="{FF2B5EF4-FFF2-40B4-BE49-F238E27FC236}">
                <a16:creationId xmlns:a16="http://schemas.microsoft.com/office/drawing/2014/main" id="{B8DCD6B0-F6DD-8489-F20D-6167C2DB0AA2}"/>
              </a:ext>
            </a:extLst>
          </p:cNvPr>
          <p:cNvPicPr>
            <a:picLocks noChangeAspect="1"/>
          </p:cNvPicPr>
          <p:nvPr/>
        </p:nvPicPr>
        <p:blipFill>
          <a:blip r:embed="rId2"/>
          <a:stretch>
            <a:fillRect/>
          </a:stretch>
        </p:blipFill>
        <p:spPr>
          <a:xfrm>
            <a:off x="1572075" y="2936700"/>
            <a:ext cx="9047849" cy="3921300"/>
          </a:xfrm>
          <a:prstGeom prst="rect">
            <a:avLst/>
          </a:prstGeom>
        </p:spPr>
      </p:pic>
    </p:spTree>
    <p:extLst>
      <p:ext uri="{BB962C8B-B14F-4D97-AF65-F5344CB8AC3E}">
        <p14:creationId xmlns:p14="http://schemas.microsoft.com/office/powerpoint/2010/main" val="350533947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17440-F886-6B84-B21A-F8C153BD76C0}"/>
              </a:ext>
            </a:extLst>
          </p:cNvPr>
          <p:cNvSpPr>
            <a:spLocks noGrp="1"/>
          </p:cNvSpPr>
          <p:nvPr>
            <p:ph type="title"/>
          </p:nvPr>
        </p:nvSpPr>
        <p:spPr/>
        <p:txBody>
          <a:bodyPr/>
          <a:lstStyle/>
          <a:p>
            <a:r>
              <a:rPr lang="en-US" dirty="0"/>
              <a:t>Dynamic Tables</a:t>
            </a:r>
          </a:p>
        </p:txBody>
      </p:sp>
      <p:sp>
        <p:nvSpPr>
          <p:cNvPr id="3" name="Content Placeholder 2">
            <a:extLst>
              <a:ext uri="{FF2B5EF4-FFF2-40B4-BE49-F238E27FC236}">
                <a16:creationId xmlns:a16="http://schemas.microsoft.com/office/drawing/2014/main" id="{B747A9D6-34D1-4FEB-6B07-C77035478AAC}"/>
              </a:ext>
            </a:extLst>
          </p:cNvPr>
          <p:cNvSpPr>
            <a:spLocks noGrp="1"/>
          </p:cNvSpPr>
          <p:nvPr>
            <p:ph idx="1"/>
          </p:nvPr>
        </p:nvSpPr>
        <p:spPr>
          <a:xfrm>
            <a:off x="581193" y="2180496"/>
            <a:ext cx="5273342" cy="3678303"/>
          </a:xfrm>
        </p:spPr>
        <p:txBody>
          <a:bodyPr/>
          <a:lstStyle/>
          <a:p>
            <a:r>
              <a:rPr lang="en-US" dirty="0"/>
              <a:t>From the </a:t>
            </a:r>
            <a:r>
              <a:rPr lang="en-US" dirty="0" err="1"/>
              <a:t>Snowsight</a:t>
            </a:r>
            <a:r>
              <a:rPr lang="en-US" dirty="0"/>
              <a:t> UI, we can view our Dynamic Tables</a:t>
            </a:r>
          </a:p>
          <a:p>
            <a:r>
              <a:rPr lang="en-US" dirty="0"/>
              <a:t>This UI feature will even show the dependencies of our Dynamic Tables in a graph, so we can clearly see each step of the pipeline</a:t>
            </a:r>
          </a:p>
        </p:txBody>
      </p:sp>
      <p:pic>
        <p:nvPicPr>
          <p:cNvPr id="5" name="Picture 4">
            <a:extLst>
              <a:ext uri="{FF2B5EF4-FFF2-40B4-BE49-F238E27FC236}">
                <a16:creationId xmlns:a16="http://schemas.microsoft.com/office/drawing/2014/main" id="{62A324B1-33D1-936F-D99C-2F48692B19E8}"/>
              </a:ext>
            </a:extLst>
          </p:cNvPr>
          <p:cNvPicPr>
            <a:picLocks noChangeAspect="1"/>
          </p:cNvPicPr>
          <p:nvPr/>
        </p:nvPicPr>
        <p:blipFill>
          <a:blip r:embed="rId2"/>
          <a:stretch>
            <a:fillRect/>
          </a:stretch>
        </p:blipFill>
        <p:spPr>
          <a:xfrm>
            <a:off x="6096000" y="2268951"/>
            <a:ext cx="5436652" cy="3886893"/>
          </a:xfrm>
          <a:prstGeom prst="rect">
            <a:avLst/>
          </a:prstGeom>
        </p:spPr>
      </p:pic>
    </p:spTree>
    <p:extLst>
      <p:ext uri="{BB962C8B-B14F-4D97-AF65-F5344CB8AC3E}">
        <p14:creationId xmlns:p14="http://schemas.microsoft.com/office/powerpoint/2010/main" val="143376266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BD4F9-A04E-A690-D152-1DE49AF08C59}"/>
              </a:ext>
            </a:extLst>
          </p:cNvPr>
          <p:cNvSpPr>
            <a:spLocks noGrp="1"/>
          </p:cNvSpPr>
          <p:nvPr>
            <p:ph type="title"/>
          </p:nvPr>
        </p:nvSpPr>
        <p:spPr/>
        <p:txBody>
          <a:bodyPr/>
          <a:lstStyle/>
          <a:p>
            <a:r>
              <a:rPr lang="en-US" dirty="0" err="1"/>
              <a:t>Snowsql</a:t>
            </a:r>
            <a:endParaRPr lang="en-US" dirty="0"/>
          </a:p>
        </p:txBody>
      </p:sp>
      <p:pic>
        <p:nvPicPr>
          <p:cNvPr id="5" name="Content Placeholder 4">
            <a:extLst>
              <a:ext uri="{FF2B5EF4-FFF2-40B4-BE49-F238E27FC236}">
                <a16:creationId xmlns:a16="http://schemas.microsoft.com/office/drawing/2014/main" id="{972B34FE-46C2-9F53-A3C7-E44FDD6F9AA1}"/>
              </a:ext>
            </a:extLst>
          </p:cNvPr>
          <p:cNvPicPr>
            <a:picLocks noGrp="1" noChangeAspect="1"/>
          </p:cNvPicPr>
          <p:nvPr>
            <p:ph idx="1"/>
          </p:nvPr>
        </p:nvPicPr>
        <p:blipFill>
          <a:blip r:embed="rId2"/>
          <a:stretch>
            <a:fillRect/>
          </a:stretch>
        </p:blipFill>
        <p:spPr>
          <a:xfrm>
            <a:off x="1812580" y="2419192"/>
            <a:ext cx="8566839" cy="4283420"/>
          </a:xfrm>
          <a:prstGeom prst="rect">
            <a:avLst/>
          </a:prstGeom>
        </p:spPr>
      </p:pic>
      <p:sp>
        <p:nvSpPr>
          <p:cNvPr id="7" name="TextBox 6">
            <a:extLst>
              <a:ext uri="{FF2B5EF4-FFF2-40B4-BE49-F238E27FC236}">
                <a16:creationId xmlns:a16="http://schemas.microsoft.com/office/drawing/2014/main" id="{5710E7C4-27EF-B1B9-C3A3-DAA3DE46BB17}"/>
              </a:ext>
            </a:extLst>
          </p:cNvPr>
          <p:cNvSpPr txBox="1"/>
          <p:nvPr/>
        </p:nvSpPr>
        <p:spPr>
          <a:xfrm>
            <a:off x="3047011" y="1882908"/>
            <a:ext cx="6097978" cy="369332"/>
          </a:xfrm>
          <a:prstGeom prst="rect">
            <a:avLst/>
          </a:prstGeom>
          <a:noFill/>
        </p:spPr>
        <p:txBody>
          <a:bodyPr wrap="square">
            <a:spAutoFit/>
          </a:bodyPr>
          <a:lstStyle/>
          <a:p>
            <a:r>
              <a:rPr lang="en-US" dirty="0"/>
              <a:t>https://www.snowflake.com/en/developers/downloads/snowsql/</a:t>
            </a:r>
          </a:p>
        </p:txBody>
      </p:sp>
    </p:spTree>
    <p:extLst>
      <p:ext uri="{BB962C8B-B14F-4D97-AF65-F5344CB8AC3E}">
        <p14:creationId xmlns:p14="http://schemas.microsoft.com/office/powerpoint/2010/main" val="82810939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2FF72-85E7-7CB0-9A9F-7B27ADA44A00}"/>
              </a:ext>
            </a:extLst>
          </p:cNvPr>
          <p:cNvSpPr>
            <a:spLocks noGrp="1"/>
          </p:cNvSpPr>
          <p:nvPr>
            <p:ph type="title"/>
          </p:nvPr>
        </p:nvSpPr>
        <p:spPr/>
        <p:txBody>
          <a:bodyPr/>
          <a:lstStyle/>
          <a:p>
            <a:r>
              <a:rPr lang="en-US" dirty="0" err="1"/>
              <a:t>Snowsql</a:t>
            </a:r>
            <a:endParaRPr lang="en-US" dirty="0"/>
          </a:p>
        </p:txBody>
      </p:sp>
      <p:pic>
        <p:nvPicPr>
          <p:cNvPr id="5" name="Picture 4">
            <a:extLst>
              <a:ext uri="{FF2B5EF4-FFF2-40B4-BE49-F238E27FC236}">
                <a16:creationId xmlns:a16="http://schemas.microsoft.com/office/drawing/2014/main" id="{E0A1C335-00CD-3B78-CBC4-E519D26B90D9}"/>
              </a:ext>
            </a:extLst>
          </p:cNvPr>
          <p:cNvPicPr>
            <a:picLocks noChangeAspect="1"/>
          </p:cNvPicPr>
          <p:nvPr/>
        </p:nvPicPr>
        <p:blipFill>
          <a:blip r:embed="rId2"/>
          <a:stretch>
            <a:fillRect/>
          </a:stretch>
        </p:blipFill>
        <p:spPr>
          <a:xfrm>
            <a:off x="3102337" y="1943130"/>
            <a:ext cx="5987326" cy="4655500"/>
          </a:xfrm>
          <a:prstGeom prst="rect">
            <a:avLst/>
          </a:prstGeom>
        </p:spPr>
      </p:pic>
    </p:spTree>
    <p:extLst>
      <p:ext uri="{BB962C8B-B14F-4D97-AF65-F5344CB8AC3E}">
        <p14:creationId xmlns:p14="http://schemas.microsoft.com/office/powerpoint/2010/main" val="68206432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E5FA8-22E7-D7AC-0995-A89BB7E6EA87}"/>
              </a:ext>
            </a:extLst>
          </p:cNvPr>
          <p:cNvSpPr>
            <a:spLocks noGrp="1"/>
          </p:cNvSpPr>
          <p:nvPr>
            <p:ph type="title"/>
          </p:nvPr>
        </p:nvSpPr>
        <p:spPr/>
        <p:txBody>
          <a:bodyPr/>
          <a:lstStyle/>
          <a:p>
            <a:r>
              <a:rPr lang="en-US" dirty="0"/>
              <a:t>Walkthrough</a:t>
            </a:r>
          </a:p>
        </p:txBody>
      </p:sp>
      <p:sp>
        <p:nvSpPr>
          <p:cNvPr id="3" name="Content Placeholder 2">
            <a:extLst>
              <a:ext uri="{FF2B5EF4-FFF2-40B4-BE49-F238E27FC236}">
                <a16:creationId xmlns:a16="http://schemas.microsoft.com/office/drawing/2014/main" id="{F7B3A84D-B804-1E70-5B76-8FCDD474ECA0}"/>
              </a:ext>
            </a:extLst>
          </p:cNvPr>
          <p:cNvSpPr>
            <a:spLocks noGrp="1"/>
          </p:cNvSpPr>
          <p:nvPr>
            <p:ph idx="1"/>
          </p:nvPr>
        </p:nvSpPr>
        <p:spPr/>
        <p:txBody>
          <a:bodyPr/>
          <a:lstStyle/>
          <a:p>
            <a:r>
              <a:rPr lang="en-US" dirty="0"/>
              <a:t>Please see ‘SnowSQL.md’ in your course materials</a:t>
            </a:r>
          </a:p>
        </p:txBody>
      </p:sp>
    </p:spTree>
    <p:extLst>
      <p:ext uri="{BB962C8B-B14F-4D97-AF65-F5344CB8AC3E}">
        <p14:creationId xmlns:p14="http://schemas.microsoft.com/office/powerpoint/2010/main" val="412649330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B4625-FD19-E43F-5EF0-50ABE26BC39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05377B6-0607-F770-D128-9E18B534135B}"/>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83521992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C488F-53EE-158B-83F1-79F64C7EB47E}"/>
              </a:ext>
            </a:extLst>
          </p:cNvPr>
          <p:cNvSpPr>
            <a:spLocks noGrp="1"/>
          </p:cNvSpPr>
          <p:nvPr>
            <p:ph type="title"/>
          </p:nvPr>
        </p:nvSpPr>
        <p:spPr/>
        <p:txBody>
          <a:bodyPr/>
          <a:lstStyle/>
          <a:p>
            <a:r>
              <a:rPr lang="en-US" dirty="0"/>
              <a:t>Overview</a:t>
            </a:r>
          </a:p>
        </p:txBody>
      </p:sp>
      <p:graphicFrame>
        <p:nvGraphicFramePr>
          <p:cNvPr id="5" name="Content Placeholder 2">
            <a:extLst>
              <a:ext uri="{FF2B5EF4-FFF2-40B4-BE49-F238E27FC236}">
                <a16:creationId xmlns:a16="http://schemas.microsoft.com/office/drawing/2014/main" id="{DBCF0C0D-391B-0915-F0DA-93E9EAB33EAA}"/>
              </a:ext>
            </a:extLst>
          </p:cNvPr>
          <p:cNvGraphicFramePr>
            <a:graphicFrameLocks noGrp="1"/>
          </p:cNvGraphicFramePr>
          <p:nvPr>
            <p:ph idx="1"/>
          </p:nvPr>
        </p:nvGraphicFramePr>
        <p:xfrm>
          <a:off x="581192" y="2180496"/>
          <a:ext cx="11029615" cy="36783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6345634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3C9AD-CEB2-5802-6F5E-C97C9360809F}"/>
              </a:ext>
            </a:extLst>
          </p:cNvPr>
          <p:cNvSpPr>
            <a:spLocks noGrp="1"/>
          </p:cNvSpPr>
          <p:nvPr>
            <p:ph type="title"/>
          </p:nvPr>
        </p:nvSpPr>
        <p:spPr/>
        <p:txBody>
          <a:bodyPr/>
          <a:lstStyle/>
          <a:p>
            <a:r>
              <a:rPr lang="en-US" dirty="0"/>
              <a:t>Introductions</a:t>
            </a:r>
          </a:p>
        </p:txBody>
      </p:sp>
      <p:sp>
        <p:nvSpPr>
          <p:cNvPr id="3" name="Content Placeholder 2">
            <a:extLst>
              <a:ext uri="{FF2B5EF4-FFF2-40B4-BE49-F238E27FC236}">
                <a16:creationId xmlns:a16="http://schemas.microsoft.com/office/drawing/2014/main" id="{67C6C32F-873A-1EB8-6503-0C374A94874A}"/>
              </a:ext>
            </a:extLst>
          </p:cNvPr>
          <p:cNvSpPr>
            <a:spLocks noGrp="1"/>
          </p:cNvSpPr>
          <p:nvPr>
            <p:ph idx="1"/>
          </p:nvPr>
        </p:nvSpPr>
        <p:spPr>
          <a:xfrm>
            <a:off x="581192" y="2180496"/>
            <a:ext cx="11029615" cy="3972217"/>
          </a:xfrm>
        </p:spPr>
        <p:txBody>
          <a:bodyPr>
            <a:normAutofit/>
          </a:bodyPr>
          <a:lstStyle/>
          <a:p>
            <a:pPr marL="305435" indent="-305435"/>
            <a:r>
              <a:rPr lang="en-US" dirty="0">
                <a:latin typeface="Gill Sans MT"/>
                <a:cs typeface="Segoe UI"/>
              </a:rPr>
              <a:t>I’ve been at Revature 4 years</a:t>
            </a:r>
          </a:p>
          <a:p>
            <a:pPr marL="305435" indent="-305435"/>
            <a:r>
              <a:rPr lang="en-US" dirty="0">
                <a:latin typeface="Gill Sans MT"/>
                <a:cs typeface="Segoe UI"/>
              </a:rPr>
              <a:t>I teach Salesforce, ServiceNow, &amp; .NET</a:t>
            </a:r>
          </a:p>
          <a:p>
            <a:pPr marL="305435" indent="-305435"/>
            <a:r>
              <a:rPr lang="en-US" dirty="0">
                <a:latin typeface="Gill Sans MT"/>
                <a:cs typeface="Segoe UI"/>
              </a:rPr>
              <a:t>Currently hold the CSA certification</a:t>
            </a:r>
          </a:p>
          <a:p>
            <a:pPr marL="305435" indent="-305435"/>
            <a:r>
              <a:rPr lang="en-US" dirty="0">
                <a:latin typeface="Gill Sans MT"/>
                <a:cs typeface="Segoe UI"/>
              </a:rPr>
              <a:t>Current favorite game: WoW </a:t>
            </a:r>
          </a:p>
        </p:txBody>
      </p:sp>
      <p:pic>
        <p:nvPicPr>
          <p:cNvPr id="5" name="Picture 4" descr="A person in a suit&#10;&#10;AI-generated content may be incorrect.">
            <a:extLst>
              <a:ext uri="{FF2B5EF4-FFF2-40B4-BE49-F238E27FC236}">
                <a16:creationId xmlns:a16="http://schemas.microsoft.com/office/drawing/2014/main" id="{CC025A48-B339-8A17-FC35-75E691CF8E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00850" y="2737854"/>
            <a:ext cx="2857500" cy="2857500"/>
          </a:xfrm>
          <a:prstGeom prst="rect">
            <a:avLst/>
          </a:prstGeom>
        </p:spPr>
      </p:pic>
    </p:spTree>
    <p:extLst>
      <p:ext uri="{BB962C8B-B14F-4D97-AF65-F5344CB8AC3E}">
        <p14:creationId xmlns:p14="http://schemas.microsoft.com/office/powerpoint/2010/main" val="48724681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98399-EA03-424C-8D31-C6B6817F6EA9}"/>
              </a:ext>
            </a:extLst>
          </p:cNvPr>
          <p:cNvSpPr>
            <a:spLocks noGrp="1"/>
          </p:cNvSpPr>
          <p:nvPr>
            <p:ph type="title"/>
          </p:nvPr>
        </p:nvSpPr>
        <p:spPr>
          <a:xfrm>
            <a:off x="581192" y="702156"/>
            <a:ext cx="11029616" cy="1013800"/>
          </a:xfrm>
        </p:spPr>
        <p:txBody>
          <a:bodyPr>
            <a:normAutofit/>
          </a:bodyPr>
          <a:lstStyle/>
          <a:p>
            <a:r>
              <a:rPr lang="en-US" dirty="0"/>
              <a:t>What to Expect</a:t>
            </a:r>
          </a:p>
        </p:txBody>
      </p:sp>
      <p:sp>
        <p:nvSpPr>
          <p:cNvPr id="11" name="Rectangle 10">
            <a:extLst>
              <a:ext uri="{FF2B5EF4-FFF2-40B4-BE49-F238E27FC236}">
                <a16:creationId xmlns:a16="http://schemas.microsoft.com/office/drawing/2014/main" id="{9AE5ECF4-F003-4F1C-B9D1-DBB1C70A8F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2180496"/>
            <a:ext cx="3703320" cy="4045683"/>
          </a:xfrm>
          <a:prstGeom prst="rect">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logo of a coffee cup&#10;&#10;AI-generated content may be incorrect.">
            <a:extLst>
              <a:ext uri="{FF2B5EF4-FFF2-40B4-BE49-F238E27FC236}">
                <a16:creationId xmlns:a16="http://schemas.microsoft.com/office/drawing/2014/main" id="{1443CB83-FEC9-7C45-7E5D-605CF7E416A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87110" y="2361057"/>
            <a:ext cx="2845404" cy="1778378"/>
          </a:xfrm>
          <a:prstGeom prst="rect">
            <a:avLst/>
          </a:prstGeom>
        </p:spPr>
      </p:pic>
      <p:pic>
        <p:nvPicPr>
          <p:cNvPr id="4" name="Picture 3" descr="ServiceNow logo transparent PNG - StickPNG">
            <a:extLst>
              <a:ext uri="{FF2B5EF4-FFF2-40B4-BE49-F238E27FC236}">
                <a16:creationId xmlns:a16="http://schemas.microsoft.com/office/drawing/2014/main" id="{9720925D-B793-4C31-82D2-B813C1DC8C88}"/>
              </a:ext>
            </a:extLst>
          </p:cNvPr>
          <p:cNvPicPr>
            <a:picLocks noChangeAspect="1"/>
          </p:cNvPicPr>
          <p:nvPr/>
        </p:nvPicPr>
        <p:blipFill>
          <a:blip r:embed="rId3"/>
          <a:stretch>
            <a:fillRect/>
          </a:stretch>
        </p:blipFill>
        <p:spPr>
          <a:xfrm>
            <a:off x="657225" y="4836014"/>
            <a:ext cx="3305175" cy="570142"/>
          </a:xfrm>
          <a:prstGeom prst="rect">
            <a:avLst/>
          </a:prstGeom>
        </p:spPr>
      </p:pic>
      <p:sp>
        <p:nvSpPr>
          <p:cNvPr id="3" name="Content Placeholder 2">
            <a:extLst>
              <a:ext uri="{FF2B5EF4-FFF2-40B4-BE49-F238E27FC236}">
                <a16:creationId xmlns:a16="http://schemas.microsoft.com/office/drawing/2014/main" id="{F6826B51-4938-4211-37F2-2A081C5D1792}"/>
              </a:ext>
            </a:extLst>
          </p:cNvPr>
          <p:cNvSpPr>
            <a:spLocks noGrp="1"/>
          </p:cNvSpPr>
          <p:nvPr>
            <p:ph idx="1"/>
          </p:nvPr>
        </p:nvSpPr>
        <p:spPr>
          <a:xfrm>
            <a:off x="4505325" y="2180496"/>
            <a:ext cx="7105481" cy="4045683"/>
          </a:xfrm>
        </p:spPr>
        <p:txBody>
          <a:bodyPr>
            <a:normAutofit/>
          </a:bodyPr>
          <a:lstStyle/>
          <a:p>
            <a:pPr marL="305435" indent="-305435"/>
            <a:r>
              <a:rPr lang="en-US" dirty="0"/>
              <a:t>13-week course</a:t>
            </a:r>
          </a:p>
          <a:p>
            <a:pPr marL="629435" lvl="1" indent="-305435"/>
            <a:r>
              <a:rPr lang="en-US" dirty="0"/>
              <a:t>First 8 weeks is ServiceNow</a:t>
            </a:r>
          </a:p>
          <a:p>
            <a:pPr marL="629435" lvl="1" indent="-305435"/>
            <a:r>
              <a:rPr lang="en-US" dirty="0"/>
              <a:t>Remaining 5 weeks will focus on Java</a:t>
            </a:r>
          </a:p>
          <a:p>
            <a:pPr marL="305435" indent="-305435"/>
            <a:r>
              <a:rPr lang="en-US" dirty="0"/>
              <a:t>Various Assessment Types</a:t>
            </a:r>
          </a:p>
          <a:p>
            <a:pPr marL="629435" lvl="1" indent="-305435"/>
            <a:r>
              <a:rPr lang="en-US" dirty="0"/>
              <a:t>Exams – Multiple Choice, Multiple Select, Short Answers</a:t>
            </a:r>
          </a:p>
          <a:p>
            <a:pPr marL="629435" lvl="1" indent="-305435"/>
            <a:r>
              <a:rPr lang="en-US" dirty="0"/>
              <a:t>QC – Panel-Type Live Interviews</a:t>
            </a:r>
          </a:p>
          <a:p>
            <a:pPr marL="629435" lvl="1" indent="-305435"/>
            <a:r>
              <a:rPr lang="en-US" dirty="0"/>
              <a:t>1-on-1s – Evaluations completed by the trainer (Loom or face-to-face)</a:t>
            </a:r>
          </a:p>
          <a:p>
            <a:pPr marL="629435" lvl="1" indent="-305435"/>
            <a:r>
              <a:rPr lang="en-US" dirty="0"/>
              <a:t>Projects – Assigned project work that covers discussed topics (keep up day-to-day and you won’t be behind)</a:t>
            </a:r>
          </a:p>
        </p:txBody>
      </p:sp>
    </p:spTree>
    <p:extLst>
      <p:ext uri="{BB962C8B-B14F-4D97-AF65-F5344CB8AC3E}">
        <p14:creationId xmlns:p14="http://schemas.microsoft.com/office/powerpoint/2010/main" val="254069211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992356-009E-B671-396C-A5A470486D9E}"/>
              </a:ext>
            </a:extLst>
          </p:cNvPr>
          <p:cNvSpPr>
            <a:spLocks noGrp="1"/>
          </p:cNvSpPr>
          <p:nvPr>
            <p:ph type="title"/>
          </p:nvPr>
        </p:nvSpPr>
        <p:spPr/>
        <p:txBody>
          <a:bodyPr/>
          <a:lstStyle/>
          <a:p>
            <a:r>
              <a:rPr lang="en-US" dirty="0"/>
              <a:t>How to Excel in this Course</a:t>
            </a:r>
          </a:p>
        </p:txBody>
      </p:sp>
      <p:sp>
        <p:nvSpPr>
          <p:cNvPr id="3" name="Content Placeholder 2">
            <a:extLst>
              <a:ext uri="{FF2B5EF4-FFF2-40B4-BE49-F238E27FC236}">
                <a16:creationId xmlns:a16="http://schemas.microsoft.com/office/drawing/2014/main" id="{429EFB58-5DAE-C3C2-2D49-7AE40E75910D}"/>
              </a:ext>
            </a:extLst>
          </p:cNvPr>
          <p:cNvSpPr>
            <a:spLocks noGrp="1"/>
          </p:cNvSpPr>
          <p:nvPr>
            <p:ph idx="1"/>
          </p:nvPr>
        </p:nvSpPr>
        <p:spPr>
          <a:xfrm>
            <a:off x="581191" y="2052918"/>
            <a:ext cx="11029615" cy="1681246"/>
          </a:xfrm>
        </p:spPr>
        <p:txBody>
          <a:bodyPr/>
          <a:lstStyle/>
          <a:p>
            <a:r>
              <a:rPr lang="en-US" dirty="0"/>
              <a:t>We will use slide decks throughout the course. </a:t>
            </a:r>
          </a:p>
          <a:p>
            <a:r>
              <a:rPr lang="en-US" dirty="0"/>
              <a:t>If it is on the slide deck, it is important, and you should consider writing it down. </a:t>
            </a:r>
          </a:p>
          <a:p>
            <a:r>
              <a:rPr lang="en-US" dirty="0"/>
              <a:t>Sometimes, you may see a definition, like this:</a:t>
            </a:r>
          </a:p>
          <a:p>
            <a:endParaRPr lang="en-US" dirty="0"/>
          </a:p>
        </p:txBody>
      </p:sp>
      <p:sp>
        <p:nvSpPr>
          <p:cNvPr id="4" name="TextBox 3">
            <a:extLst>
              <a:ext uri="{FF2B5EF4-FFF2-40B4-BE49-F238E27FC236}">
                <a16:creationId xmlns:a16="http://schemas.microsoft.com/office/drawing/2014/main" id="{0352E508-0D10-9772-84C7-FCC523BB1A8A}"/>
              </a:ext>
            </a:extLst>
          </p:cNvPr>
          <p:cNvSpPr txBox="1"/>
          <p:nvPr/>
        </p:nvSpPr>
        <p:spPr>
          <a:xfrm>
            <a:off x="1739151" y="3429000"/>
            <a:ext cx="8713694" cy="646331"/>
          </a:xfrm>
          <a:prstGeom prst="rect">
            <a:avLst/>
          </a:prstGeom>
          <a:noFill/>
        </p:spPr>
        <p:txBody>
          <a:bodyPr wrap="square" rtlCol="0">
            <a:spAutoFit/>
          </a:bodyPr>
          <a:lstStyle/>
          <a:p>
            <a:r>
              <a:rPr lang="en-US" dirty="0"/>
              <a:t>Definition: </a:t>
            </a:r>
            <a:r>
              <a:rPr lang="en-US" dirty="0">
                <a:solidFill>
                  <a:srgbClr val="00B050"/>
                </a:solidFill>
              </a:rPr>
              <a:t>ServiceNow</a:t>
            </a:r>
            <a:r>
              <a:rPr lang="en-US" dirty="0"/>
              <a:t> – A cloud-based, ITSM platform that helps organizations manage and automate their work processes across IT, HR, Customer Service, and more. </a:t>
            </a:r>
          </a:p>
        </p:txBody>
      </p:sp>
      <p:sp>
        <p:nvSpPr>
          <p:cNvPr id="5" name="TextBox 4">
            <a:extLst>
              <a:ext uri="{FF2B5EF4-FFF2-40B4-BE49-F238E27FC236}">
                <a16:creationId xmlns:a16="http://schemas.microsoft.com/office/drawing/2014/main" id="{A54BB974-FD75-0303-8FBE-56D4DFC4209D}"/>
              </a:ext>
            </a:extLst>
          </p:cNvPr>
          <p:cNvSpPr txBox="1"/>
          <p:nvPr/>
        </p:nvSpPr>
        <p:spPr>
          <a:xfrm>
            <a:off x="581190" y="4361691"/>
            <a:ext cx="8858645" cy="1477328"/>
          </a:xfrm>
          <a:prstGeom prst="rect">
            <a:avLst/>
          </a:prstGeom>
          <a:noFill/>
        </p:spPr>
        <p:txBody>
          <a:bodyPr wrap="square" rtlCol="0">
            <a:spAutoFit/>
          </a:bodyPr>
          <a:lstStyle/>
          <a:p>
            <a:pPr marL="285750" indent="-285750">
              <a:buClr>
                <a:schemeClr val="accent2"/>
              </a:buClr>
              <a:buFont typeface="Wingdings" panose="05000000000000000000" pitchFamily="2" charset="2"/>
              <a:buChar char="§"/>
            </a:pPr>
            <a:r>
              <a:rPr lang="en-US" dirty="0"/>
              <a:t>If you see a definition:</a:t>
            </a:r>
          </a:p>
          <a:p>
            <a:pPr marL="742950" lvl="1" indent="-285750">
              <a:buClr>
                <a:schemeClr val="accent2"/>
              </a:buClr>
              <a:buFont typeface="Wingdings" panose="05000000000000000000" pitchFamily="2" charset="2"/>
              <a:buChar char="§"/>
            </a:pPr>
            <a:r>
              <a:rPr lang="en-US" dirty="0"/>
              <a:t>Write it down</a:t>
            </a:r>
          </a:p>
          <a:p>
            <a:pPr marL="742950" lvl="1" indent="-285750">
              <a:buClr>
                <a:schemeClr val="accent2"/>
              </a:buClr>
              <a:buFont typeface="Wingdings" panose="05000000000000000000" pitchFamily="2" charset="2"/>
              <a:buChar char="§"/>
            </a:pPr>
            <a:r>
              <a:rPr lang="en-US" dirty="0"/>
              <a:t>Write down what its context is in the larger scope</a:t>
            </a:r>
          </a:p>
          <a:p>
            <a:pPr marL="742950" lvl="1" indent="-285750">
              <a:buClr>
                <a:schemeClr val="accent2"/>
              </a:buClr>
              <a:buFont typeface="Wingdings" panose="05000000000000000000" pitchFamily="2" charset="2"/>
              <a:buChar char="§"/>
            </a:pPr>
            <a:r>
              <a:rPr lang="en-US" dirty="0"/>
              <a:t>E.G. ServiceNow is often just one piece in an enterprise system.  An organization may have many off-the-shelf software products that may integrate with ServiceNow.</a:t>
            </a:r>
          </a:p>
        </p:txBody>
      </p:sp>
    </p:spTree>
    <p:extLst>
      <p:ext uri="{BB962C8B-B14F-4D97-AF65-F5344CB8AC3E}">
        <p14:creationId xmlns:p14="http://schemas.microsoft.com/office/powerpoint/2010/main" val="387037044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83D92F2-BD3F-5502-960E-3CFF357784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D234C-D59D-E997-1AA0-D508BFFD3CB6}"/>
              </a:ext>
            </a:extLst>
          </p:cNvPr>
          <p:cNvSpPr>
            <a:spLocks noGrp="1"/>
          </p:cNvSpPr>
          <p:nvPr>
            <p:ph type="title"/>
          </p:nvPr>
        </p:nvSpPr>
        <p:spPr/>
        <p:txBody>
          <a:bodyPr/>
          <a:lstStyle/>
          <a:p>
            <a:r>
              <a:rPr lang="en-US" dirty="0"/>
              <a:t>Challenge Demo – How to Excel in this course</a:t>
            </a:r>
          </a:p>
        </p:txBody>
      </p:sp>
      <p:sp>
        <p:nvSpPr>
          <p:cNvPr id="3" name="Content Placeholder 2">
            <a:extLst>
              <a:ext uri="{FF2B5EF4-FFF2-40B4-BE49-F238E27FC236}">
                <a16:creationId xmlns:a16="http://schemas.microsoft.com/office/drawing/2014/main" id="{23F8E57B-9E41-4816-C2F2-1105A90F87A9}"/>
              </a:ext>
            </a:extLst>
          </p:cNvPr>
          <p:cNvSpPr>
            <a:spLocks noGrp="1"/>
          </p:cNvSpPr>
          <p:nvPr>
            <p:ph idx="1"/>
          </p:nvPr>
        </p:nvSpPr>
        <p:spPr>
          <a:xfrm>
            <a:off x="581192" y="2475925"/>
            <a:ext cx="5317584" cy="1681246"/>
          </a:xfrm>
        </p:spPr>
        <p:txBody>
          <a:bodyPr/>
          <a:lstStyle/>
          <a:p>
            <a:r>
              <a:rPr lang="en-US" dirty="0"/>
              <a:t>Complete a hands-on challenge</a:t>
            </a:r>
          </a:p>
        </p:txBody>
      </p:sp>
      <p:sp>
        <p:nvSpPr>
          <p:cNvPr id="6" name="TextBox 5">
            <a:extLst>
              <a:ext uri="{FF2B5EF4-FFF2-40B4-BE49-F238E27FC236}">
                <a16:creationId xmlns:a16="http://schemas.microsoft.com/office/drawing/2014/main" id="{2DE50FF0-C783-F3C0-044D-2F094F317804}"/>
              </a:ext>
            </a:extLst>
          </p:cNvPr>
          <p:cNvSpPr txBox="1"/>
          <p:nvPr/>
        </p:nvSpPr>
        <p:spPr>
          <a:xfrm>
            <a:off x="1228165" y="2402747"/>
            <a:ext cx="756938" cy="369332"/>
          </a:xfrm>
          <a:prstGeom prst="rect">
            <a:avLst/>
          </a:prstGeom>
          <a:noFill/>
        </p:spPr>
        <p:txBody>
          <a:bodyPr wrap="none" rtlCol="0">
            <a:spAutoFit/>
          </a:bodyPr>
          <a:lstStyle/>
          <a:p>
            <a:r>
              <a:rPr lang="en-US" b="1" dirty="0"/>
              <a:t>Goal:</a:t>
            </a:r>
          </a:p>
        </p:txBody>
      </p:sp>
      <p:sp>
        <p:nvSpPr>
          <p:cNvPr id="7" name="TextBox 6">
            <a:extLst>
              <a:ext uri="{FF2B5EF4-FFF2-40B4-BE49-F238E27FC236}">
                <a16:creationId xmlns:a16="http://schemas.microsoft.com/office/drawing/2014/main" id="{405306AE-2095-D0AE-E069-321DBC55370F}"/>
              </a:ext>
            </a:extLst>
          </p:cNvPr>
          <p:cNvSpPr txBox="1"/>
          <p:nvPr/>
        </p:nvSpPr>
        <p:spPr>
          <a:xfrm>
            <a:off x="6949165" y="2402747"/>
            <a:ext cx="4661643" cy="369332"/>
          </a:xfrm>
          <a:prstGeom prst="rect">
            <a:avLst/>
          </a:prstGeom>
          <a:noFill/>
        </p:spPr>
        <p:txBody>
          <a:bodyPr wrap="square" rtlCol="0">
            <a:spAutoFit/>
          </a:bodyPr>
          <a:lstStyle/>
          <a:p>
            <a:r>
              <a:rPr lang="en-US" b="1" dirty="0"/>
              <a:t>Scenario:  			   5 min</a:t>
            </a:r>
          </a:p>
        </p:txBody>
      </p:sp>
      <p:sp>
        <p:nvSpPr>
          <p:cNvPr id="8" name="Content Placeholder 2">
            <a:extLst>
              <a:ext uri="{FF2B5EF4-FFF2-40B4-BE49-F238E27FC236}">
                <a16:creationId xmlns:a16="http://schemas.microsoft.com/office/drawing/2014/main" id="{61B443B1-E14C-64AB-9E9D-75FFCF923C2B}"/>
              </a:ext>
            </a:extLst>
          </p:cNvPr>
          <p:cNvSpPr txBox="1">
            <a:spLocks/>
          </p:cNvSpPr>
          <p:nvPr/>
        </p:nvSpPr>
        <p:spPr>
          <a:xfrm>
            <a:off x="6545749" y="2772079"/>
            <a:ext cx="4661642" cy="1681246"/>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dirty="0"/>
              <a:t>Your organization needs to relay technical concepts to you. Clients often need to do the same. Take a few moments to get some pen and paper ready to take notes. </a:t>
            </a:r>
          </a:p>
        </p:txBody>
      </p:sp>
    </p:spTree>
    <p:extLst>
      <p:ext uri="{BB962C8B-B14F-4D97-AF65-F5344CB8AC3E}">
        <p14:creationId xmlns:p14="http://schemas.microsoft.com/office/powerpoint/2010/main" val="3587871389"/>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366658"/>
      </a:accent1>
      <a:accent2>
        <a:srgbClr val="8CB64A"/>
      </a:accent2>
      <a:accent3>
        <a:srgbClr val="88D5A9"/>
      </a:accent3>
      <a:accent4>
        <a:srgbClr val="969FA7"/>
      </a:accent4>
      <a:accent5>
        <a:srgbClr val="E8A844"/>
      </a:accent5>
      <a:accent6>
        <a:srgbClr val="A1561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docMetadata/LabelInfo.xml><?xml version="1.0" encoding="utf-8"?>
<clbl:labelList xmlns:clbl="http://schemas.microsoft.com/office/2020/mipLabelMetadata">
  <clbl:label id="{6b63e28a-a8f9-47b5-aa40-97e231215164}" enabled="0" method="" siteId="{6b63e28a-a8f9-47b5-aa40-97e231215164}" removed="1"/>
</clbl:labelList>
</file>

<file path=docProps/app.xml><?xml version="1.0" encoding="utf-8"?>
<Properties xmlns="http://schemas.openxmlformats.org/officeDocument/2006/extended-properties" xmlns:vt="http://schemas.openxmlformats.org/officeDocument/2006/docPropsVTypes">
  <Template>office theme</Template>
  <TotalTime>10300</TotalTime>
  <Words>2542</Words>
  <Application>Microsoft Office PowerPoint</Application>
  <PresentationFormat>Widescreen</PresentationFormat>
  <Paragraphs>251</Paragraphs>
  <Slides>75</Slides>
  <Notes>0</Notes>
  <HiddenSlides>5</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75</vt:i4>
      </vt:variant>
    </vt:vector>
  </HeadingPairs>
  <TitlesOfParts>
    <vt:vector size="80" baseType="lpstr">
      <vt:lpstr>Gill Sans MT</vt:lpstr>
      <vt:lpstr>Udemy Sans</vt:lpstr>
      <vt:lpstr>Wingdings</vt:lpstr>
      <vt:lpstr>Wingdings 2</vt:lpstr>
      <vt:lpstr>Dividend</vt:lpstr>
      <vt:lpstr>Snowflake</vt:lpstr>
      <vt:lpstr>COF-co3</vt:lpstr>
      <vt:lpstr>Exam Weights</vt:lpstr>
      <vt:lpstr>Exam details</vt:lpstr>
      <vt:lpstr>Cert exam tips (for any technical cert exam)</vt:lpstr>
      <vt:lpstr>Section 1</vt:lpstr>
      <vt:lpstr>Trial Signup</vt:lpstr>
      <vt:lpstr>Take note of your account number &amp; Account Identifier</vt:lpstr>
      <vt:lpstr>UI - Workspaces</vt:lpstr>
      <vt:lpstr>Data Warehouse vs Data lake</vt:lpstr>
      <vt:lpstr>What is snowflake?</vt:lpstr>
      <vt:lpstr>Distributed Architectures</vt:lpstr>
      <vt:lpstr>Multi-cluster shared data architecture</vt:lpstr>
      <vt:lpstr>Storage Layer</vt:lpstr>
      <vt:lpstr>Query Processing layer</vt:lpstr>
      <vt:lpstr>Query Processing layer</vt:lpstr>
      <vt:lpstr>Services Layer</vt:lpstr>
      <vt:lpstr>Snowflake Editions</vt:lpstr>
      <vt:lpstr>Snowflake Object Model</vt:lpstr>
      <vt:lpstr>Snowflake Object Model – security high-level overview</vt:lpstr>
      <vt:lpstr>Account Overview</vt:lpstr>
      <vt:lpstr>Organization Overview</vt:lpstr>
      <vt:lpstr>Organization Overview</vt:lpstr>
      <vt:lpstr>Organization Account</vt:lpstr>
      <vt:lpstr>Organization Account Features</vt:lpstr>
      <vt:lpstr>Account URLs</vt:lpstr>
      <vt:lpstr>Databases &amp; schemas</vt:lpstr>
      <vt:lpstr>Databases &amp; Schemas</vt:lpstr>
      <vt:lpstr>Table Types</vt:lpstr>
      <vt:lpstr>Table Types</vt:lpstr>
      <vt:lpstr>View Types</vt:lpstr>
      <vt:lpstr>Workspaces - databases/Schemas &amp; Role/Warehouse selection</vt:lpstr>
      <vt:lpstr>Walkthrough</vt:lpstr>
      <vt:lpstr>Open table formats – The problem they solve</vt:lpstr>
      <vt:lpstr>Open table formats – Apache Iceberg is what we will use</vt:lpstr>
      <vt:lpstr>Open table formats – Apache iceberg in snowflake</vt:lpstr>
      <vt:lpstr>Creating external volume to connect to s3</vt:lpstr>
      <vt:lpstr>External vs internal managed catalogs</vt:lpstr>
      <vt:lpstr>External Catalog – Catalog Integration Object</vt:lpstr>
      <vt:lpstr>What we can do with iceberg tables</vt:lpstr>
      <vt:lpstr>Walkthrough – external catalog AWS GLUE</vt:lpstr>
      <vt:lpstr>Walkthrough – external catalog Aws glue</vt:lpstr>
      <vt:lpstr>Parameters</vt:lpstr>
      <vt:lpstr>Object Properties vs Object parameters</vt:lpstr>
      <vt:lpstr>Parameter precedence</vt:lpstr>
      <vt:lpstr>Walkthrough</vt:lpstr>
      <vt:lpstr>UDF &amp; udft</vt:lpstr>
      <vt:lpstr>JavaScript UDF</vt:lpstr>
      <vt:lpstr>Java UDF</vt:lpstr>
      <vt:lpstr>External Functions</vt:lpstr>
      <vt:lpstr>External function call lifecycle</vt:lpstr>
      <vt:lpstr>External Function Limitations</vt:lpstr>
      <vt:lpstr>Stored Procedures – the why</vt:lpstr>
      <vt:lpstr>Snowflake stored procedures</vt:lpstr>
      <vt:lpstr>JavaScript Stored Procedures</vt:lpstr>
      <vt:lpstr>Compare and contrast: UDF vs Stored Procedure</vt:lpstr>
      <vt:lpstr>Walkthrough </vt:lpstr>
      <vt:lpstr>Sequences</vt:lpstr>
      <vt:lpstr>Sequences</vt:lpstr>
      <vt:lpstr>Sequences – Common use case</vt:lpstr>
      <vt:lpstr>Sequences – common use case</vt:lpstr>
      <vt:lpstr>Tasks</vt:lpstr>
      <vt:lpstr>Streams</vt:lpstr>
      <vt:lpstr>Streams</vt:lpstr>
      <vt:lpstr>Dynamic Tables</vt:lpstr>
      <vt:lpstr>Dynamic Tables</vt:lpstr>
      <vt:lpstr>Snowsql</vt:lpstr>
      <vt:lpstr>Snowsql</vt:lpstr>
      <vt:lpstr>Walkthrough</vt:lpstr>
      <vt:lpstr>PowerPoint Presentation</vt:lpstr>
      <vt:lpstr>Overview</vt:lpstr>
      <vt:lpstr>Introductions</vt:lpstr>
      <vt:lpstr>What to Expect</vt:lpstr>
      <vt:lpstr>How to Excel in this Course</vt:lpstr>
      <vt:lpstr>Challenge Demo – How to Excel in this course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Ethan Wilson</dc:creator>
  <cp:lastModifiedBy>Ethan Wilson</cp:lastModifiedBy>
  <cp:revision>632</cp:revision>
  <dcterms:created xsi:type="dcterms:W3CDTF">2025-02-12T19:53:45Z</dcterms:created>
  <dcterms:modified xsi:type="dcterms:W3CDTF">2026-07-14T23:31:24Z</dcterms:modified>
</cp:coreProperties>
</file>